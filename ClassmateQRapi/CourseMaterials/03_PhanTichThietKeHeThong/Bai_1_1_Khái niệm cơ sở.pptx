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</p:sldIdLst>
  <p:sldSz cy="6858000" cx="9144000"/>
  <p:notesSz cx="9867900" cy="6759575"/>
  <p:embeddedFontLst>
    <p:embeddedFont>
      <p:font typeface="Arial Narrow"/>
      <p:regular r:id="rId16"/>
      <p:bold r:id="rId17"/>
      <p:italic r:id="rId18"/>
      <p:boldItalic r:id="rId19"/>
    </p:embeddedFon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uToTuo6OQDiJp9VmamrXto9eI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notesMaster" Target="notesMasters/notesMaster1.xml"/><Relationship Id="rId22" Type="http://customschemas.google.com/relationships/presentationmetadata" Target="metadata"/><Relationship Id="rId10" Type="http://schemas.openxmlformats.org/officeDocument/2006/relationships/slideMaster" Target="slideMasters/slideMaster7.xml"/><Relationship Id="rId21" Type="http://schemas.openxmlformats.org/officeDocument/2006/relationships/font" Target="fonts/Tahoma-bold.fntdata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font" Target="fonts/ArialNarrow-bold.fntdata"/><Relationship Id="rId16" Type="http://schemas.openxmlformats.org/officeDocument/2006/relationships/font" Target="fonts/ArialNarrow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ArialNarrow-bold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ArialNarrow-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751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592762" y="0"/>
            <a:ext cx="42751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44850" y="506412"/>
            <a:ext cx="3379787" cy="2535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16037" y="3211512"/>
            <a:ext cx="7235825" cy="304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421437"/>
            <a:ext cx="42751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592762" y="6421437"/>
            <a:ext cx="42751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1316037" y="3211512"/>
            <a:ext cx="7235825" cy="3041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244850" y="506412"/>
            <a:ext cx="3379787" cy="2535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1316037" y="3211512"/>
            <a:ext cx="7235825" cy="3041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3244850" y="506412"/>
            <a:ext cx="3379787" cy="2535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1316037" y="3211512"/>
            <a:ext cx="7235825" cy="3041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3244850" y="506412"/>
            <a:ext cx="3379787" cy="2535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c65dbdfbf_1_1:notes"/>
          <p:cNvSpPr/>
          <p:nvPr>
            <p:ph idx="2" type="sldImg"/>
          </p:nvPr>
        </p:nvSpPr>
        <p:spPr>
          <a:xfrm>
            <a:off x="3244850" y="506412"/>
            <a:ext cx="3379800" cy="253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c65dbdfbf_1_1:notes"/>
          <p:cNvSpPr txBox="1"/>
          <p:nvPr>
            <p:ph idx="1" type="body"/>
          </p:nvPr>
        </p:nvSpPr>
        <p:spPr>
          <a:xfrm>
            <a:off x="1316037" y="3211512"/>
            <a:ext cx="7235700" cy="304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ec65dbdfbf_1_1:notes"/>
          <p:cNvSpPr txBox="1"/>
          <p:nvPr>
            <p:ph idx="12" type="sldNum"/>
          </p:nvPr>
        </p:nvSpPr>
        <p:spPr>
          <a:xfrm>
            <a:off x="5592762" y="6421437"/>
            <a:ext cx="4275000" cy="338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 Narrow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 rot="5400000">
            <a:off x="2582863" y="85724"/>
            <a:ext cx="4022725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9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349250" y="6459537"/>
            <a:ext cx="1963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600450" y="6459537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8" name="Google Shape;118;p19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0" name="Google Shape;120;p19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"/>
          <p:cNvSpPr/>
          <p:nvPr/>
        </p:nvSpPr>
        <p:spPr>
          <a:xfrm>
            <a:off x="0" y="6334125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6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6"/>
          <p:cNvCxnSpPr/>
          <p:nvPr/>
        </p:nvCxnSpPr>
        <p:spPr>
          <a:xfrm>
            <a:off x="895350" y="1738312"/>
            <a:ext cx="747553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2"/>
          <p:cNvSpPr/>
          <p:nvPr/>
        </p:nvSpPr>
        <p:spPr>
          <a:xfrm>
            <a:off x="0" y="6334125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2"/>
          <p:cNvCxnSpPr/>
          <p:nvPr/>
        </p:nvCxnSpPr>
        <p:spPr>
          <a:xfrm>
            <a:off x="906462" y="4343400"/>
            <a:ext cx="740568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" name="Google Shape;67;p12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0" y="6334125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14"/>
          <p:cNvCxnSpPr/>
          <p:nvPr/>
        </p:nvCxnSpPr>
        <p:spPr>
          <a:xfrm>
            <a:off x="906462" y="4343400"/>
            <a:ext cx="7405687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" name="Google Shape;82;p14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0"/>
            <a:ext cx="30384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030537" y="0"/>
            <a:ext cx="476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10" type="dt"/>
          </p:nvPr>
        </p:nvSpPr>
        <p:spPr>
          <a:xfrm>
            <a:off x="349250" y="6459537"/>
            <a:ext cx="1963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3600450" y="6459537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  <a:defRPr b="0" i="0" sz="1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0" y="4953000"/>
            <a:ext cx="914241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0" y="4914900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3175" y="6400800"/>
            <a:ext cx="9140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0" y="6334125"/>
            <a:ext cx="9142412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822325" y="287337"/>
            <a:ext cx="75438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822325" y="1846262"/>
            <a:ext cx="75438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10" type="dt"/>
          </p:nvPr>
        </p:nvSpPr>
        <p:spPr>
          <a:xfrm>
            <a:off x="822325" y="6459537"/>
            <a:ext cx="185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11" type="ftr"/>
          </p:nvPr>
        </p:nvSpPr>
        <p:spPr>
          <a:xfrm>
            <a:off x="2765425" y="6459537"/>
            <a:ext cx="36163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/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2" name="Google Shape;142;p1"/>
          <p:cNvSpPr txBox="1"/>
          <p:nvPr/>
        </p:nvSpPr>
        <p:spPr>
          <a:xfrm>
            <a:off x="609600" y="506412"/>
            <a:ext cx="8001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Phân tích, thiết kế HT thông tin</a:t>
            </a:r>
            <a:endParaRPr/>
          </a:p>
        </p:txBody>
      </p:sp>
      <p:cxnSp>
        <p:nvCxnSpPr>
          <p:cNvPr id="143" name="Google Shape;143;p1"/>
          <p:cNvCxnSpPr/>
          <p:nvPr/>
        </p:nvCxnSpPr>
        <p:spPr>
          <a:xfrm>
            <a:off x="533400" y="1317625"/>
            <a:ext cx="8153400" cy="0"/>
          </a:xfrm>
          <a:prstGeom prst="straightConnector1">
            <a:avLst/>
          </a:prstGeom>
          <a:noFill/>
          <a:ln cap="flat" cmpd="sng" w="38100">
            <a:solidFill>
              <a:srgbClr val="FFCC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4" name="Google Shape;144;p1"/>
          <p:cNvSpPr txBox="1"/>
          <p:nvPr/>
        </p:nvSpPr>
        <p:spPr>
          <a:xfrm>
            <a:off x="528637" y="1828800"/>
            <a:ext cx="8153400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Phân tích, thiết kế HTTT là quá trình xây dựng hệ thống thông tin tin học hóa cho một tổ chức.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Quá trình phân tích, thiết kế HTTT:</a:t>
            </a:r>
            <a:endParaRPr/>
          </a:p>
          <a:p>
            <a:pPr indent="-177800" lvl="1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Phức tạp, nhiều thách thức.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Có tính tổ chức, có kế hoạch.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Được thực hiện bởi một nhóm người.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Liên quan đến nhiều người trong tổ chức.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457200" y="609600"/>
            <a:ext cx="8382000" cy="504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Việc phân tích, thiết kế HTTT được thực hiện dựa trên:</a:t>
            </a:r>
            <a:endParaRPr/>
          </a:p>
          <a:p>
            <a:pPr indent="-177800" lvl="1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Sự hiểu biết về mục tiêu, cấu trúc và các qui trình xử lý công việc của tổ chức.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Kiến thức về cách thức khai thác, ứng dụng công nghệ thông tin.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Việc xây dựng HTTT được thực hiện bởi một nhóm người và thường làm việc theo kiểu dự án. 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tích viên hệ thống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</a:t>
            </a:r>
            <a:r>
              <a:rPr b="0" i="0" lang="en-US" sz="28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nhà quản trị dự án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hai người có vai trò quan trọng trong nhóm thực hiện dự án xây dựng HTTT.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7424737" y="6459537"/>
            <a:ext cx="984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457200" y="685800"/>
            <a:ext cx="8382000" cy="4832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Về mặt thực hành, việc phân tích và thiết kế HTTT còn được xem là phát triển HTTT cho một tổ chức.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Các cách tiếp cận phát triển HTTT:</a:t>
            </a:r>
            <a:endParaRPr/>
          </a:p>
          <a:p>
            <a:pPr indent="-177800" lvl="1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Tiếp cận hướng vào qui trình xử lý: HT có những qui trình xử lý dữ liệu nào, các qui trình này làm việc ra sao?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 cận hướng vào dữ liệu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HT có những dữ liệu gì, quan hệ giữa chúng như thế nào?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 cận hướng vào đối tượng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HT có những đối tượng gì, chúng liên kết với nhau ra sao?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c65dbdfbf_1_1"/>
          <p:cNvSpPr txBox="1"/>
          <p:nvPr>
            <p:ph idx="12" type="sldNum"/>
          </p:nvPr>
        </p:nvSpPr>
        <p:spPr>
          <a:xfrm>
            <a:off x="7424737" y="6459537"/>
            <a:ext cx="984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3" name="Google Shape;163;g2ec65dbdfbf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5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6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2006-01-15T05:21:35Z</dcterms:created>
  <dc:creator>HTTT</dc:creator>
</cp:coreProperties>
</file>