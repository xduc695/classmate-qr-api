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Libre Franklin"/>
      <p:regular r:id="rId13"/>
      <p:bold r:id="rId14"/>
      <p:italic r:id="rId15"/>
      <p:boldItalic r:id="rId16"/>
    </p:embeddedFont>
    <p:embeddedFont>
      <p:font typeface="Libre Baskerville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pimfP9XI3Pskx59SRB6E984tX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ibreFranklin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breFranklin-italic.fntdata"/><Relationship Id="rId14" Type="http://schemas.openxmlformats.org/officeDocument/2006/relationships/font" Target="fonts/LibreFranklin-bold.fntdata"/><Relationship Id="rId17" Type="http://schemas.openxmlformats.org/officeDocument/2006/relationships/font" Target="fonts/LibreBaskerville-regular.fntdata"/><Relationship Id="rId16" Type="http://schemas.openxmlformats.org/officeDocument/2006/relationships/font" Target="fonts/LibreFranklin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Baskerville-italic.fntdata"/><Relationship Id="rId6" Type="http://schemas.openxmlformats.org/officeDocument/2006/relationships/slide" Target="slides/slide1.xml"/><Relationship Id="rId18" Type="http://schemas.openxmlformats.org/officeDocument/2006/relationships/font" Target="fonts/LibreBaskervill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Tiến Trung - CNTT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Văn Như Bích B</a:t>
            </a:r>
            <a:endParaRPr/>
          </a:p>
        </p:txBody>
      </p:sp>
      <p:sp>
        <p:nvSpPr>
          <p:cNvPr id="130" name="Google Shape;13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Văn Như Bích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Văn Như Bích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Văn Như Bích B</a:t>
            </a:r>
            <a:endParaRPr/>
          </a:p>
        </p:txBody>
      </p:sp>
      <p:sp>
        <p:nvSpPr>
          <p:cNvPr id="221" name="Google Shape;22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c557a45d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c557a45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ec557a45d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" name="Google Shape;19;p8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" name="Google Shape;20;p8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8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" name="Google Shape;25;p8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7" name="Google Shape;27;p8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" name="Google Shape;43;p11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4" name="Google Shape;44;p11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9" name="Google Shape;49;p11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1" name="Google Shape;51;p11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2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5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6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8" name="Google Shape;88;p16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" name="Google Shape;11;p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6" name="Google Shape;16;p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</a:pPr>
            <a:r>
              <a:rPr lang="en-US"/>
              <a:t> Mô hình ERD-RD mở rộng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381000" y="152400"/>
            <a:ext cx="853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Mô hình Thực Thể Kết Hợp(ERD) mở rộng.</a:t>
            </a:r>
            <a:endParaRPr/>
          </a:p>
        </p:txBody>
      </p:sp>
      <p:sp>
        <p:nvSpPr>
          <p:cNvPr id="113" name="Google Shape;113;p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457200" y="914400"/>
            <a:ext cx="8077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 Loại Mối kết hợp đệ qui: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- Là loại mối kết hợp giữa hai thực thể trùng nhau.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Ví dụ: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- Mối kết hợp đệ qui là mối kết hợp giữa 2 thực thể của cùng một loại thực thể.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Vi dụ: 1 Thực thể -&gt; LA, Long An,…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Quan hệ ngữ nghĩa  Langgieng  với 1 thực thể -&gt; HCM, Hồ Chí Minh,… tạo thành MKH Langgieng. Giá trị của MKH láng giềng là: LA, HCM. </a:t>
            </a:r>
            <a:endParaRPr/>
          </a:p>
        </p:txBody>
      </p:sp>
      <p:sp>
        <p:nvSpPr>
          <p:cNvPr id="115" name="Google Shape;115;p2"/>
          <p:cNvSpPr txBox="1"/>
          <p:nvPr>
            <p:ph idx="2" type="body"/>
          </p:nvPr>
        </p:nvSpPr>
        <p:spPr>
          <a:xfrm>
            <a:off x="876300" y="4800599"/>
            <a:ext cx="7146471" cy="1219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165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Ví dụ :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Xác định ngữ nghĩa của các loại MKH đệ quy giữa các loại thực thể sau: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	MônHọc, NhanVien.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457200" y="2133600"/>
            <a:ext cx="3884613" cy="974725"/>
            <a:chOff x="384" y="1642"/>
            <a:chExt cx="2447" cy="614"/>
          </a:xfrm>
        </p:grpSpPr>
        <p:cxnSp>
          <p:nvCxnSpPr>
            <p:cNvPr id="117" name="Google Shape;117;p2"/>
            <p:cNvCxnSpPr/>
            <p:nvPr/>
          </p:nvCxnSpPr>
          <p:spPr>
            <a:xfrm rot="5400000">
              <a:off x="649" y="1984"/>
              <a:ext cx="431" cy="1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8" name="Google Shape;118;p2"/>
            <p:cNvGrpSpPr/>
            <p:nvPr/>
          </p:nvGrpSpPr>
          <p:grpSpPr>
            <a:xfrm>
              <a:off x="384" y="1642"/>
              <a:ext cx="2447" cy="614"/>
              <a:chOff x="385" y="1896"/>
              <a:chExt cx="2447" cy="614"/>
            </a:xfrm>
          </p:grpSpPr>
          <p:sp>
            <p:nvSpPr>
              <p:cNvPr id="119" name="Google Shape;119;p2"/>
              <p:cNvSpPr/>
              <p:nvPr/>
            </p:nvSpPr>
            <p:spPr>
              <a:xfrm>
                <a:off x="865" y="2088"/>
                <a:ext cx="672" cy="288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Tinh_Tp</a:t>
                </a: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1921" y="2087"/>
                <a:ext cx="720" cy="288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Langgieng</a:t>
                </a:r>
                <a:endParaRPr/>
              </a:p>
            </p:txBody>
          </p:sp>
          <p:cxnSp>
            <p:nvCxnSpPr>
              <p:cNvPr id="121" name="Google Shape;121;p2"/>
              <p:cNvCxnSpPr/>
              <p:nvPr/>
            </p:nvCxnSpPr>
            <p:spPr>
              <a:xfrm>
                <a:off x="1537" y="2088"/>
                <a:ext cx="72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E350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2"/>
              <p:cNvCxnSpPr/>
              <p:nvPr/>
            </p:nvCxnSpPr>
            <p:spPr>
              <a:xfrm>
                <a:off x="1537" y="2375"/>
                <a:ext cx="715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AE350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3" name="Google Shape;123;p2"/>
              <p:cNvSpPr txBox="1"/>
              <p:nvPr/>
            </p:nvSpPr>
            <p:spPr>
              <a:xfrm>
                <a:off x="385" y="1992"/>
                <a:ext cx="528" cy="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n-US" sz="1200" u="sng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Ma_T_tp</a:t>
                </a:r>
                <a:r>
                  <a:rPr b="0" i="0" lang="en-US" sz="12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Ten_Tp-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Dt-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Ds-</a:t>
                </a:r>
                <a:endParaRPr/>
              </a:p>
            </p:txBody>
          </p:sp>
          <p:sp>
            <p:nvSpPr>
              <p:cNvPr id="124" name="Google Shape;124;p2"/>
              <p:cNvSpPr txBox="1"/>
              <p:nvPr/>
            </p:nvSpPr>
            <p:spPr>
              <a:xfrm>
                <a:off x="1537" y="1896"/>
                <a:ext cx="43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(1,n)</a:t>
                </a:r>
                <a:endParaRPr/>
              </a:p>
            </p:txBody>
          </p:sp>
          <p:sp>
            <p:nvSpPr>
              <p:cNvPr id="125" name="Google Shape;125;p2"/>
              <p:cNvSpPr txBox="1"/>
              <p:nvPr/>
            </p:nvSpPr>
            <p:spPr>
              <a:xfrm>
                <a:off x="2592" y="2016"/>
                <a:ext cx="240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-?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-?</a:t>
                </a:r>
                <a:endParaRPr/>
              </a:p>
            </p:txBody>
          </p:sp>
          <p:cxnSp>
            <p:nvCxnSpPr>
              <p:cNvPr id="126" name="Google Shape;126;p2"/>
              <p:cNvCxnSpPr/>
              <p:nvPr/>
            </p:nvCxnSpPr>
            <p:spPr>
              <a:xfrm rot="5400000">
                <a:off x="2497" y="2230"/>
                <a:ext cx="288" cy="2"/>
              </a:xfrm>
              <a:prstGeom prst="straightConnector1">
                <a:avLst/>
              </a:prstGeom>
              <a:noFill/>
              <a:ln cap="flat" cmpd="sng" w="9525">
                <a:solidFill>
                  <a:srgbClr val="AE350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2238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Mô hình Thực thể kết hợp mở rộng.</a:t>
            </a:r>
            <a:endParaRPr/>
          </a:p>
        </p:txBody>
      </p:sp>
      <p:sp>
        <p:nvSpPr>
          <p:cNvPr id="133" name="Google Shape;133;p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"/>
          <p:cNvSpPr txBox="1"/>
          <p:nvPr>
            <p:ph idx="1" type="body"/>
          </p:nvPr>
        </p:nvSpPr>
        <p:spPr>
          <a:xfrm>
            <a:off x="304800" y="914400"/>
            <a:ext cx="8077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/>
              <a:t>2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Loại m</a:t>
            </a:r>
            <a:r>
              <a:rPr lang="en-US" sz="1800"/>
              <a:t>ối kết hợp định nghĩ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/>
              <a:t> trên một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loại MKH</a:t>
            </a:r>
            <a:r>
              <a:rPr lang="en-US" sz="1800"/>
              <a:t> khác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Loại MKH bậc 1: Loại MKH giữa các loại thực thể.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* Loại MKH bậc 1, 2 ngôi: Loại MKH giữa các 2 loại thực thể.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* Loại MKH bậc 1, 3 ngôi: Loại MKH giữa các 3 loại thực thể.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Loại MKH bậc 2: Loại MKH giữa loại MKH bậc 1 với các loại thực thể.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Cặp bản số của loại MKH bậc 1 tham gia vào MKH  bậc 2 giống như loại thực thể tham gia vào MKH bậc 1.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Biểu diễn:</a:t>
            </a:r>
            <a:endParaRPr/>
          </a:p>
        </p:txBody>
      </p:sp>
      <p:sp>
        <p:nvSpPr>
          <p:cNvPr id="135" name="Google Shape;135;p3"/>
          <p:cNvSpPr txBox="1"/>
          <p:nvPr>
            <p:ph idx="2" type="body"/>
          </p:nvPr>
        </p:nvSpPr>
        <p:spPr>
          <a:xfrm>
            <a:off x="4813300" y="3352800"/>
            <a:ext cx="4038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60"/>
              <a:buChar char="⚫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Mối  kết hợp bậc n?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360"/>
              <a:buChar char="⚫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Vd1: MKh bậc 1, 3 ngôi giữa các loại thực thể: GV, Mon, Lop?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360"/>
              <a:buChar char="⚫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Vd2: MKh bậc 2  giữa các loại thực thể: GV, Mon, Lop?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360"/>
              <a:buChar char="⚫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Nhận xét vd1, vd2?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360"/>
              <a:buChar char="⚫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Vd3: MKh bậc 2  giữa các loại thực thể: Phong, Lop, GV, Thu, Ca, Mon?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360"/>
              <a:buChar char="⚫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Vd4: MKh bậc 2  giữa các loại thực thể: Tran, CauThu, Phut?</a:t>
            </a:r>
            <a:endParaRPr/>
          </a:p>
        </p:txBody>
      </p:sp>
      <p:grpSp>
        <p:nvGrpSpPr>
          <p:cNvPr id="136" name="Google Shape;136;p3"/>
          <p:cNvGrpSpPr/>
          <p:nvPr/>
        </p:nvGrpSpPr>
        <p:grpSpPr>
          <a:xfrm>
            <a:off x="1498600" y="3536950"/>
            <a:ext cx="2971800" cy="1174750"/>
            <a:chOff x="864" y="2416"/>
            <a:chExt cx="1872" cy="740"/>
          </a:xfrm>
        </p:grpSpPr>
        <p:sp>
          <p:nvSpPr>
            <p:cNvPr id="137" name="Google Shape;137;p3"/>
            <p:cNvSpPr/>
            <p:nvPr/>
          </p:nvSpPr>
          <p:spPr>
            <a:xfrm>
              <a:off x="864" y="2592"/>
              <a:ext cx="384" cy="14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304" y="2592"/>
              <a:ext cx="432" cy="14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488" y="2532"/>
              <a:ext cx="528" cy="288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ABC</a:t>
              </a:r>
              <a:endParaRPr/>
            </a:p>
          </p:txBody>
        </p:sp>
        <p:cxnSp>
          <p:nvCxnSpPr>
            <p:cNvPr id="140" name="Google Shape;140;p3"/>
            <p:cNvCxnSpPr/>
            <p:nvPr/>
          </p:nvCxnSpPr>
          <p:spPr>
            <a:xfrm>
              <a:off x="2016" y="2664"/>
              <a:ext cx="288" cy="8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" name="Google Shape;141;p3"/>
            <p:cNvSpPr/>
            <p:nvPr/>
          </p:nvSpPr>
          <p:spPr>
            <a:xfrm>
              <a:off x="2208" y="3012"/>
              <a:ext cx="384" cy="14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cxnSp>
          <p:nvCxnSpPr>
            <p:cNvPr id="142" name="Google Shape;142;p3"/>
            <p:cNvCxnSpPr/>
            <p:nvPr/>
          </p:nvCxnSpPr>
          <p:spPr>
            <a:xfrm>
              <a:off x="1776" y="2820"/>
              <a:ext cx="432" cy="264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3"/>
            <p:cNvSpPr txBox="1"/>
            <p:nvPr/>
          </p:nvSpPr>
          <p:spPr>
            <a:xfrm>
              <a:off x="1952" y="2432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1200" y="2416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1672" y="2884"/>
              <a:ext cx="43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cxnSp>
          <p:nvCxnSpPr>
            <p:cNvPr id="146" name="Google Shape;146;p3"/>
            <p:cNvCxnSpPr/>
            <p:nvPr/>
          </p:nvCxnSpPr>
          <p:spPr>
            <a:xfrm>
              <a:off x="1248" y="2672"/>
              <a:ext cx="240" cy="1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7" name="Google Shape;147;p3"/>
          <p:cNvSpPr txBox="1"/>
          <p:nvPr/>
        </p:nvSpPr>
        <p:spPr>
          <a:xfrm>
            <a:off x="2984500" y="5138055"/>
            <a:ext cx="685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(?,?)</a:t>
            </a:r>
            <a:endParaRPr/>
          </a:p>
        </p:txBody>
      </p:sp>
      <p:grpSp>
        <p:nvGrpSpPr>
          <p:cNvPr id="148" name="Google Shape;148;p3"/>
          <p:cNvGrpSpPr/>
          <p:nvPr/>
        </p:nvGrpSpPr>
        <p:grpSpPr>
          <a:xfrm>
            <a:off x="1094014" y="5358606"/>
            <a:ext cx="3581400" cy="1093788"/>
            <a:chOff x="432" y="3336"/>
            <a:chExt cx="2256" cy="689"/>
          </a:xfrm>
        </p:grpSpPr>
        <p:sp>
          <p:nvSpPr>
            <p:cNvPr id="149" name="Google Shape;149;p3"/>
            <p:cNvSpPr/>
            <p:nvPr/>
          </p:nvSpPr>
          <p:spPr>
            <a:xfrm>
              <a:off x="432" y="3336"/>
              <a:ext cx="528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 flipH="1">
              <a:off x="1296" y="3336"/>
              <a:ext cx="480" cy="24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AB</a:t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 flipH="1">
              <a:off x="1248" y="3804"/>
              <a:ext cx="528" cy="221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ABC</a:t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2160" y="3336"/>
              <a:ext cx="528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2112" y="3816"/>
              <a:ext cx="528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cxnSp>
          <p:nvCxnSpPr>
            <p:cNvPr id="154" name="Google Shape;154;p3"/>
            <p:cNvCxnSpPr>
              <a:stCxn id="149" idx="3"/>
            </p:cNvCxnSpPr>
            <p:nvPr/>
          </p:nvCxnSpPr>
          <p:spPr>
            <a:xfrm>
              <a:off x="960" y="3432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3"/>
            <p:cNvCxnSpPr/>
            <p:nvPr/>
          </p:nvCxnSpPr>
          <p:spPr>
            <a:xfrm>
              <a:off x="1776" y="3456"/>
              <a:ext cx="384" cy="1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3"/>
            <p:cNvCxnSpPr/>
            <p:nvPr/>
          </p:nvCxnSpPr>
          <p:spPr>
            <a:xfrm rot="5400000">
              <a:off x="1441" y="3671"/>
              <a:ext cx="192" cy="1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3"/>
            <p:cNvCxnSpPr>
              <a:endCxn id="153" idx="1"/>
            </p:cNvCxnSpPr>
            <p:nvPr/>
          </p:nvCxnSpPr>
          <p:spPr>
            <a:xfrm>
              <a:off x="1812" y="3912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8" name="Google Shape;158;p3"/>
            <p:cNvSpPr/>
            <p:nvPr/>
          </p:nvSpPr>
          <p:spPr>
            <a:xfrm rot="-1090526">
              <a:off x="1280" y="3696"/>
              <a:ext cx="384" cy="192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159" name="Google Shape;159;p3"/>
            <p:cNvSpPr txBox="1"/>
            <p:nvPr/>
          </p:nvSpPr>
          <p:spPr>
            <a:xfrm>
              <a:off x="1728" y="3720"/>
              <a:ext cx="43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sp>
          <p:nvSpPr>
            <p:cNvPr id="160" name="Google Shape;160;p3"/>
            <p:cNvSpPr txBox="1"/>
            <p:nvPr/>
          </p:nvSpPr>
          <p:spPr>
            <a:xfrm>
              <a:off x="1120" y="3600"/>
              <a:ext cx="43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</p:grpSp>
      <p:sp>
        <p:nvSpPr>
          <p:cNvPr id="161" name="Google Shape;161;p3"/>
          <p:cNvSpPr txBox="1"/>
          <p:nvPr/>
        </p:nvSpPr>
        <p:spPr>
          <a:xfrm>
            <a:off x="1652814" y="5145881"/>
            <a:ext cx="685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(?,?)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32657" y="3246437"/>
            <a:ext cx="1524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MKH bậc 1, 3 ngôi: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190500" y="4838700"/>
            <a:ext cx="1524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MKH bậc 2: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457200" y="22860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Mô hình Thực thể kết hợp mở rộng.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4"/>
          <p:cNvSpPr txBox="1"/>
          <p:nvPr>
            <p:ph idx="1" type="body"/>
          </p:nvPr>
        </p:nvSpPr>
        <p:spPr>
          <a:xfrm>
            <a:off x="457200" y="1066800"/>
            <a:ext cx="40386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  Bản số của một  loại MKH.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Loại MKH thông thường có bản số là: [1,1..1]. Nghĩa là mỗi biểu hiện của 1 loại MKH là từng biểu hiện của các loại thực thể tham gia.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Loại MKH mở rộng có bản số là: &lt;&gt;[1,1..1]. Nghĩa là 1 thể hiện của MKH có thể có nhiều giá trị  ở một thuộc tính của 1 thực thể nào đó.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Ví dụ:</a:t>
            </a:r>
            <a:endParaRPr/>
          </a:p>
          <a:p>
            <a:pPr indent="-274320" lvl="0" marL="274320" rtl="0" algn="just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Bản số MKH:</a:t>
            </a:r>
            <a:endParaRPr/>
          </a:p>
        </p:txBody>
      </p:sp>
      <p:sp>
        <p:nvSpPr>
          <p:cNvPr id="172" name="Google Shape;172;p4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Loại MKH khi chuyển thành lđ quan hệ (hay loại quan hệ) thì bị vi phạm DC1? Tìm cách khắc mô hình này?</a:t>
            </a:r>
            <a:endParaRPr/>
          </a:p>
          <a:p>
            <a:pPr indent="-228599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870"/>
              <a:buFont typeface="Noto Sans Symbols"/>
              <a:buChar char="⇒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Lđ quan hệ xe vi phạm DC1? </a:t>
            </a:r>
            <a:endParaRPr/>
          </a:p>
          <a:p>
            <a:pPr indent="-228599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870"/>
              <a:buFont typeface="Noto Sans Symbols"/>
              <a:buChar char="⇒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Khắc phục? Vẫn giữ 3 loại thực th</a:t>
            </a:r>
            <a:r>
              <a:rPr lang="en-US"/>
              <a:t>ể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trên hãy điều chỉnh loại MKH để có bản số[1,1..1].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4"/>
          <p:cNvGrpSpPr/>
          <p:nvPr/>
        </p:nvGrpSpPr>
        <p:grpSpPr>
          <a:xfrm>
            <a:off x="1032555" y="4343400"/>
            <a:ext cx="3048000" cy="1981200"/>
            <a:chOff x="576" y="2784"/>
            <a:chExt cx="1728" cy="864"/>
          </a:xfrm>
        </p:grpSpPr>
        <p:sp>
          <p:nvSpPr>
            <p:cNvPr id="174" name="Google Shape;174;p4"/>
            <p:cNvSpPr/>
            <p:nvPr/>
          </p:nvSpPr>
          <p:spPr>
            <a:xfrm>
              <a:off x="576" y="2784"/>
              <a:ext cx="480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Sườn</a:t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1872" y="2784"/>
              <a:ext cx="432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Máy</a:t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1248" y="3456"/>
              <a:ext cx="432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Bánh</a:t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1296" y="3120"/>
              <a:ext cx="384" cy="192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Xe</a:t>
              </a:r>
              <a:endParaRPr/>
            </a:p>
          </p:txBody>
        </p:sp>
        <p:cxnSp>
          <p:nvCxnSpPr>
            <p:cNvPr id="178" name="Google Shape;178;p4"/>
            <p:cNvCxnSpPr>
              <a:stCxn id="179" idx="1"/>
              <a:endCxn id="177" idx="1"/>
            </p:cNvCxnSpPr>
            <p:nvPr/>
          </p:nvCxnSpPr>
          <p:spPr>
            <a:xfrm>
              <a:off x="1056" y="295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4"/>
            <p:cNvCxnSpPr>
              <a:stCxn id="181" idx="3"/>
              <a:endCxn id="177" idx="7"/>
            </p:cNvCxnSpPr>
            <p:nvPr/>
          </p:nvCxnSpPr>
          <p:spPr>
            <a:xfrm flipH="1">
              <a:off x="1572" y="295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4"/>
            <p:cNvCxnSpPr>
              <a:stCxn id="177" idx="4"/>
              <a:endCxn id="176" idx="0"/>
            </p:cNvCxnSpPr>
            <p:nvPr/>
          </p:nvCxnSpPr>
          <p:spPr>
            <a:xfrm>
              <a:off x="1488" y="331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9" name="Google Shape;179;p4"/>
            <p:cNvSpPr txBox="1"/>
            <p:nvPr/>
          </p:nvSpPr>
          <p:spPr>
            <a:xfrm>
              <a:off x="1056" y="2880"/>
              <a:ext cx="336" cy="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(0,1)</a:t>
              </a:r>
              <a:endParaRPr/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1536" y="2880"/>
              <a:ext cx="336" cy="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(0,1)</a:t>
              </a:r>
              <a:endParaRPr/>
            </a:p>
          </p:txBody>
        </p:sp>
        <p:sp>
          <p:nvSpPr>
            <p:cNvPr id="183" name="Google Shape;183;p4"/>
            <p:cNvSpPr txBox="1"/>
            <p:nvPr/>
          </p:nvSpPr>
          <p:spPr>
            <a:xfrm>
              <a:off x="1440" y="3264"/>
              <a:ext cx="336" cy="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(0,1)</a:t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1248" y="2976"/>
              <a:ext cx="432" cy="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[1,1,2]</a:t>
              </a:r>
              <a:endParaRPr/>
            </a:p>
          </p:txBody>
        </p:sp>
        <p:cxnSp>
          <p:nvCxnSpPr>
            <p:cNvPr id="185" name="Google Shape;185;p4"/>
            <p:cNvCxnSpPr/>
            <p:nvPr/>
          </p:nvCxnSpPr>
          <p:spPr>
            <a:xfrm flipH="1">
              <a:off x="768" y="3120"/>
              <a:ext cx="528" cy="432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 Mô hình Thực thể kết hợp mở rộng.</a:t>
            </a:r>
            <a:endParaRPr/>
          </a:p>
        </p:txBody>
      </p:sp>
      <p:sp>
        <p:nvSpPr>
          <p:cNvPr id="192" name="Google Shape;192;p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5"/>
          <p:cNvSpPr txBox="1"/>
          <p:nvPr>
            <p:ph idx="1" type="body"/>
          </p:nvPr>
        </p:nvSpPr>
        <p:spPr>
          <a:xfrm>
            <a:off x="457200" y="1371600"/>
            <a:ext cx="4038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342900" rtl="0" algn="l">
              <a:spcBef>
                <a:spcPts val="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4  Chuyên biệt hóa và tổng quát hóa. 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Ví dụ:</a:t>
            </a:r>
            <a:endParaRPr/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>
            <p:ph idx="2" type="body"/>
          </p:nvPr>
        </p:nvSpPr>
        <p:spPr>
          <a:xfrm>
            <a:off x="4648200" y="1295400"/>
            <a:ext cx="4038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Khi cài đặt được chuyển thành lđ quan hệ?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Chuyên biệt hóa nhân viên của trường ĐH?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Chuyên biệt hóa nhân viên của nhà máy?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SV tự đưa các vd về chuyên biệt hóa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5"/>
          <p:cNvGrpSpPr/>
          <p:nvPr/>
        </p:nvGrpSpPr>
        <p:grpSpPr>
          <a:xfrm>
            <a:off x="381000" y="2514600"/>
            <a:ext cx="3581400" cy="3276600"/>
            <a:chOff x="240" y="1584"/>
            <a:chExt cx="2256" cy="2064"/>
          </a:xfrm>
        </p:grpSpPr>
        <p:sp>
          <p:nvSpPr>
            <p:cNvPr id="196" name="Google Shape;196;p5"/>
            <p:cNvSpPr/>
            <p:nvPr/>
          </p:nvSpPr>
          <p:spPr>
            <a:xfrm>
              <a:off x="912" y="1584"/>
              <a:ext cx="720" cy="2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TQH</a:t>
              </a:r>
              <a:endParaRPr/>
            </a:p>
          </p:txBody>
        </p:sp>
        <p:cxnSp>
          <p:nvCxnSpPr>
            <p:cNvPr id="197" name="Google Shape;197;p5"/>
            <p:cNvCxnSpPr/>
            <p:nvPr/>
          </p:nvCxnSpPr>
          <p:spPr>
            <a:xfrm rot="5400000">
              <a:off x="804" y="1740"/>
              <a:ext cx="336" cy="504"/>
            </a:xfrm>
            <a:prstGeom prst="straightConnector1">
              <a:avLst/>
            </a:prstGeom>
            <a:noFill/>
            <a:ln cap="flat" cmpd="dbl" w="12700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5"/>
            <p:cNvCxnSpPr>
              <a:stCxn id="196" idx="2"/>
            </p:cNvCxnSpPr>
            <p:nvPr/>
          </p:nvCxnSpPr>
          <p:spPr>
            <a:xfrm>
              <a:off x="1272" y="1824"/>
              <a:ext cx="600" cy="300"/>
            </a:xfrm>
            <a:prstGeom prst="straightConnector1">
              <a:avLst/>
            </a:prstGeom>
            <a:noFill/>
            <a:ln cap="flat" cmpd="dbl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5"/>
            <p:cNvCxnSpPr/>
            <p:nvPr/>
          </p:nvCxnSpPr>
          <p:spPr>
            <a:xfrm>
              <a:off x="864" y="1968"/>
              <a:ext cx="240" cy="48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5"/>
            <p:cNvCxnSpPr/>
            <p:nvPr/>
          </p:nvCxnSpPr>
          <p:spPr>
            <a:xfrm flipH="1">
              <a:off x="1392" y="1920"/>
              <a:ext cx="240" cy="96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5"/>
            <p:cNvCxnSpPr>
              <a:stCxn id="196" idx="2"/>
            </p:cNvCxnSpPr>
            <p:nvPr/>
          </p:nvCxnSpPr>
          <p:spPr>
            <a:xfrm flipH="1">
              <a:off x="672" y="1824"/>
              <a:ext cx="600" cy="300"/>
            </a:xfrm>
            <a:prstGeom prst="straightConnector1">
              <a:avLst/>
            </a:prstGeom>
            <a:noFill/>
            <a:ln cap="flat" cmpd="dbl" w="12700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5"/>
            <p:cNvCxnSpPr/>
            <p:nvPr/>
          </p:nvCxnSpPr>
          <p:spPr>
            <a:xfrm flipH="1" rot="-5400000">
              <a:off x="1308" y="1740"/>
              <a:ext cx="336" cy="504"/>
            </a:xfrm>
            <a:prstGeom prst="straightConnector1">
              <a:avLst/>
            </a:prstGeom>
            <a:noFill/>
            <a:ln cap="flat" cmpd="dbl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" name="Google Shape;203;p5"/>
            <p:cNvSpPr/>
            <p:nvPr/>
          </p:nvSpPr>
          <p:spPr>
            <a:xfrm>
              <a:off x="432" y="2160"/>
              <a:ext cx="624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CB1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1392" y="2160"/>
              <a:ext cx="624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CB2</a:t>
              </a: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1056" y="2880"/>
              <a:ext cx="720" cy="2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NhanVien</a:t>
              </a:r>
              <a:endParaRPr/>
            </a:p>
          </p:txBody>
        </p:sp>
        <p:cxnSp>
          <p:nvCxnSpPr>
            <p:cNvPr id="206" name="Google Shape;206;p5"/>
            <p:cNvCxnSpPr/>
            <p:nvPr/>
          </p:nvCxnSpPr>
          <p:spPr>
            <a:xfrm rot="5400000">
              <a:off x="948" y="3036"/>
              <a:ext cx="336" cy="504"/>
            </a:xfrm>
            <a:prstGeom prst="straightConnector1">
              <a:avLst/>
            </a:prstGeom>
            <a:noFill/>
            <a:ln cap="flat" cmpd="dbl" w="12700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5"/>
            <p:cNvCxnSpPr>
              <a:stCxn id="205" idx="2"/>
            </p:cNvCxnSpPr>
            <p:nvPr/>
          </p:nvCxnSpPr>
          <p:spPr>
            <a:xfrm>
              <a:off x="1416" y="3120"/>
              <a:ext cx="600" cy="300"/>
            </a:xfrm>
            <a:prstGeom prst="straightConnector1">
              <a:avLst/>
            </a:prstGeom>
            <a:noFill/>
            <a:ln cap="flat" cmpd="dbl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5"/>
            <p:cNvCxnSpPr/>
            <p:nvPr/>
          </p:nvCxnSpPr>
          <p:spPr>
            <a:xfrm>
              <a:off x="1008" y="3264"/>
              <a:ext cx="240" cy="48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5"/>
            <p:cNvCxnSpPr/>
            <p:nvPr/>
          </p:nvCxnSpPr>
          <p:spPr>
            <a:xfrm flipH="1">
              <a:off x="1536" y="3216"/>
              <a:ext cx="240" cy="96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5"/>
            <p:cNvCxnSpPr>
              <a:stCxn id="205" idx="2"/>
            </p:cNvCxnSpPr>
            <p:nvPr/>
          </p:nvCxnSpPr>
          <p:spPr>
            <a:xfrm flipH="1">
              <a:off x="816" y="3120"/>
              <a:ext cx="600" cy="300"/>
            </a:xfrm>
            <a:prstGeom prst="straightConnector1">
              <a:avLst/>
            </a:prstGeom>
            <a:noFill/>
            <a:ln cap="flat" cmpd="dbl" w="12700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" name="Google Shape;211;p5"/>
            <p:cNvCxnSpPr/>
            <p:nvPr/>
          </p:nvCxnSpPr>
          <p:spPr>
            <a:xfrm flipH="1" rot="-5400000">
              <a:off x="1452" y="3036"/>
              <a:ext cx="336" cy="504"/>
            </a:xfrm>
            <a:prstGeom prst="straightConnector1">
              <a:avLst/>
            </a:prstGeom>
            <a:noFill/>
            <a:ln cap="flat" cmpd="dbl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2" name="Google Shape;212;p5"/>
            <p:cNvSpPr/>
            <p:nvPr/>
          </p:nvSpPr>
          <p:spPr>
            <a:xfrm>
              <a:off x="576" y="3456"/>
              <a:ext cx="624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ThuKy</a:t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1584" y="3456"/>
              <a:ext cx="624" cy="19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CanBo</a:t>
              </a:r>
              <a:endParaRPr/>
            </a:p>
          </p:txBody>
        </p:sp>
        <p:sp>
          <p:nvSpPr>
            <p:cNvPr id="214" name="Google Shape;214;p5"/>
            <p:cNvSpPr txBox="1"/>
            <p:nvPr/>
          </p:nvSpPr>
          <p:spPr>
            <a:xfrm>
              <a:off x="624" y="2688"/>
              <a:ext cx="432" cy="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MSNV-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HoTen-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NgayS-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Phái-</a:t>
              </a:r>
              <a:endParaRPr/>
            </a:p>
          </p:txBody>
        </p:sp>
        <p:cxnSp>
          <p:nvCxnSpPr>
            <p:cNvPr id="215" name="Google Shape;215;p5"/>
            <p:cNvCxnSpPr/>
            <p:nvPr/>
          </p:nvCxnSpPr>
          <p:spPr>
            <a:xfrm rot="5400000">
              <a:off x="828" y="2952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" name="Google Shape;216;p5"/>
            <p:cNvSpPr txBox="1"/>
            <p:nvPr/>
          </p:nvSpPr>
          <p:spPr>
            <a:xfrm>
              <a:off x="240" y="3408"/>
              <a:ext cx="432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Tđđm-</a:t>
              </a:r>
              <a:endParaRPr/>
            </a:p>
          </p:txBody>
        </p:sp>
        <p:sp>
          <p:nvSpPr>
            <p:cNvPr id="217" name="Google Shape;217;p5"/>
            <p:cNvSpPr txBox="1"/>
            <p:nvPr/>
          </p:nvSpPr>
          <p:spPr>
            <a:xfrm>
              <a:off x="2160" y="3408"/>
              <a:ext cx="336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-TN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Mô hình Thực thể kết hợp mở rộng.</a:t>
            </a:r>
            <a:endParaRPr/>
          </a:p>
        </p:txBody>
      </p:sp>
      <p:sp>
        <p:nvSpPr>
          <p:cNvPr id="224" name="Google Shape;224;p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6"/>
          <p:cNvSpPr txBox="1"/>
          <p:nvPr>
            <p:ph idx="1" type="body"/>
          </p:nvPr>
        </p:nvSpPr>
        <p:spPr>
          <a:xfrm>
            <a:off x="457200" y="1219200"/>
            <a:ext cx="4038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342900" rtl="0" algn="just">
              <a:spcBef>
                <a:spcPts val="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4.5 Giữa hai loại thực thể có nhiều loại MKH, Mỗi loại MKH có một ngữ nghĩa duy nhất. 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>
            <p:ph idx="2" type="body"/>
          </p:nvPr>
        </p:nvSpPr>
        <p:spPr>
          <a:xfrm>
            <a:off x="4648200" y="1371600"/>
            <a:ext cx="4038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Tìm các loại MKH giữa các loại thực thể sau: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	- vd1: KhachHang-PhieuGoiHang?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	- vd 2: NhanVien-Pban?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	- vd 3: Nhanvien-Dchi?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SV đề xuất các vd?</a:t>
            </a:r>
            <a:endParaRPr/>
          </a:p>
        </p:txBody>
      </p:sp>
      <p:grpSp>
        <p:nvGrpSpPr>
          <p:cNvPr id="227" name="Google Shape;227;p6"/>
          <p:cNvGrpSpPr/>
          <p:nvPr/>
        </p:nvGrpSpPr>
        <p:grpSpPr>
          <a:xfrm>
            <a:off x="609600" y="3505200"/>
            <a:ext cx="3733800" cy="1371600"/>
            <a:chOff x="384" y="2208"/>
            <a:chExt cx="2352" cy="864"/>
          </a:xfrm>
        </p:grpSpPr>
        <p:sp>
          <p:nvSpPr>
            <p:cNvPr id="228" name="Google Shape;228;p6"/>
            <p:cNvSpPr/>
            <p:nvPr/>
          </p:nvSpPr>
          <p:spPr>
            <a:xfrm>
              <a:off x="384" y="2544"/>
              <a:ext cx="528" cy="2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2256" y="2544"/>
              <a:ext cx="480" cy="2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1296" y="2208"/>
              <a:ext cx="528" cy="24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MKH1</a:t>
              </a: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1296" y="2544"/>
              <a:ext cx="528" cy="24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MKH2</a:t>
              </a: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1296" y="2832"/>
              <a:ext cx="528" cy="24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MKH3</a:t>
              </a:r>
              <a:endParaRPr/>
            </a:p>
          </p:txBody>
        </p:sp>
        <p:cxnSp>
          <p:nvCxnSpPr>
            <p:cNvPr id="233" name="Google Shape;233;p6"/>
            <p:cNvCxnSpPr>
              <a:endCxn id="230" idx="2"/>
            </p:cNvCxnSpPr>
            <p:nvPr/>
          </p:nvCxnSpPr>
          <p:spPr>
            <a:xfrm flipH="1" rot="10800000">
              <a:off x="696" y="2328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6"/>
            <p:cNvCxnSpPr>
              <a:stCxn id="228" idx="3"/>
              <a:endCxn id="231" idx="2"/>
            </p:cNvCxnSpPr>
            <p:nvPr/>
          </p:nvCxnSpPr>
          <p:spPr>
            <a:xfrm>
              <a:off x="912" y="2664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6"/>
            <p:cNvCxnSpPr>
              <a:endCxn id="232" idx="2"/>
            </p:cNvCxnSpPr>
            <p:nvPr/>
          </p:nvCxnSpPr>
          <p:spPr>
            <a:xfrm>
              <a:off x="996" y="2652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6"/>
            <p:cNvCxnSpPr>
              <a:stCxn id="230" idx="6"/>
            </p:cNvCxnSpPr>
            <p:nvPr/>
          </p:nvCxnSpPr>
          <p:spPr>
            <a:xfrm>
              <a:off x="1824" y="2328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6"/>
            <p:cNvCxnSpPr>
              <a:stCxn id="231" idx="6"/>
              <a:endCxn id="229" idx="1"/>
            </p:cNvCxnSpPr>
            <p:nvPr/>
          </p:nvCxnSpPr>
          <p:spPr>
            <a:xfrm>
              <a:off x="1824" y="2664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6"/>
            <p:cNvCxnSpPr>
              <a:stCxn id="232" idx="6"/>
            </p:cNvCxnSpPr>
            <p:nvPr/>
          </p:nvCxnSpPr>
          <p:spPr>
            <a:xfrm flipH="1" rot="10800000">
              <a:off x="1824" y="2652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rgbClr val="AE350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9" name="Google Shape;239;p6"/>
            <p:cNvSpPr txBox="1"/>
            <p:nvPr/>
          </p:nvSpPr>
          <p:spPr>
            <a:xfrm>
              <a:off x="912" y="2256"/>
              <a:ext cx="288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912" y="2496"/>
              <a:ext cx="288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sp>
          <p:nvSpPr>
            <p:cNvPr id="241" name="Google Shape;241;p6"/>
            <p:cNvSpPr txBox="1"/>
            <p:nvPr/>
          </p:nvSpPr>
          <p:spPr>
            <a:xfrm>
              <a:off x="960" y="2736"/>
              <a:ext cx="288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1968" y="2304"/>
              <a:ext cx="288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sp>
          <p:nvSpPr>
            <p:cNvPr id="243" name="Google Shape;243;p6"/>
            <p:cNvSpPr txBox="1"/>
            <p:nvPr/>
          </p:nvSpPr>
          <p:spPr>
            <a:xfrm>
              <a:off x="1920" y="2496"/>
              <a:ext cx="288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1872" y="2784"/>
              <a:ext cx="288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(?,?)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2ec557a45d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63" y="129425"/>
            <a:ext cx="8798875" cy="65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2016-03-04T01:29:47Z</dcterms:created>
  <dc:creator>HTTT</dc:creator>
</cp:coreProperties>
</file>