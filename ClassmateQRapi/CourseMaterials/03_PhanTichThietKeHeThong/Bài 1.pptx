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19"/>
  </p:notesMasterIdLst>
  <p:handoutMasterIdLst>
    <p:handoutMasterId r:id="rId20"/>
  </p:handoutMasterIdLst>
  <p:sldIdLst>
    <p:sldId id="276" r:id="rId3"/>
    <p:sldId id="256" r:id="rId4"/>
    <p:sldId id="257" r:id="rId5"/>
    <p:sldId id="258" r:id="rId6"/>
    <p:sldId id="259" r:id="rId7"/>
    <p:sldId id="260" r:id="rId8"/>
    <p:sldId id="261" r:id="rId9"/>
    <p:sldId id="262" r:id="rId10"/>
    <p:sldId id="263" r:id="rId11"/>
    <p:sldId id="264" r:id="rId12"/>
    <p:sldId id="265" r:id="rId13"/>
    <p:sldId id="267" r:id="rId14"/>
    <p:sldId id="266" r:id="rId15"/>
    <p:sldId id="268" r:id="rId16"/>
    <p:sldId id="277" r:id="rId17"/>
    <p:sldId id="30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notesViewPr>
    <p:cSldViewPr snapToGrid="0">
      <p:cViewPr varScale="1">
        <p:scale>
          <a:sx n="63" d="100"/>
          <a:sy n="63" d="100"/>
        </p:scale>
        <p:origin x="3206"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A0727E1-1A41-9905-FA41-C0FE903DC67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THỰC HÀNH PHÂN TÍCH THIẾT KẾ HỆ THỐNG</a:t>
            </a:r>
          </a:p>
        </p:txBody>
      </p:sp>
      <p:sp>
        <p:nvSpPr>
          <p:cNvPr id="3" name="Date Placeholder 2">
            <a:extLst>
              <a:ext uri="{FF2B5EF4-FFF2-40B4-BE49-F238E27FC236}">
                <a16:creationId xmlns:a16="http://schemas.microsoft.com/office/drawing/2014/main" id="{837E2119-73D9-6240-7565-F69B283136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9525D60-10F5-4B69-B583-6E2DFC704AA0}" type="datetimeFigureOut">
              <a:rPr lang="en-US" smtClean="0"/>
              <a:t>24/07/2024</a:t>
            </a:fld>
            <a:endParaRPr lang="en-US"/>
          </a:p>
        </p:txBody>
      </p:sp>
      <p:sp>
        <p:nvSpPr>
          <p:cNvPr id="4" name="Footer Placeholder 3">
            <a:extLst>
              <a:ext uri="{FF2B5EF4-FFF2-40B4-BE49-F238E27FC236}">
                <a16:creationId xmlns:a16="http://schemas.microsoft.com/office/drawing/2014/main" id="{414B5FB4-9D7C-A137-3C95-22DB33BB69D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7436960-48C7-A8C9-8BD5-DAF2F704F4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BC2FFF-16B6-4233-8641-17D23941776F}" type="slidenum">
              <a:rPr lang="en-US" smtClean="0"/>
              <a:t>‹#›</a:t>
            </a:fld>
            <a:endParaRPr lang="en-US"/>
          </a:p>
        </p:txBody>
      </p:sp>
    </p:spTree>
    <p:extLst>
      <p:ext uri="{BB962C8B-B14F-4D97-AF65-F5344CB8AC3E}">
        <p14:creationId xmlns:p14="http://schemas.microsoft.com/office/powerpoint/2010/main" val="524109556"/>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THỰC HÀNH PHÂN TÍCH THIẾT KẾ HỆ THỐNG</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FBE122-300E-4F09-9F52-801B65A92E0C}" type="datetimeFigureOut">
              <a:rPr lang="en-US" smtClean="0"/>
              <a:t>24/07/2024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6DE7B5-A776-45BE-860C-A95DC2A79232}" type="slidenum">
              <a:rPr lang="en-US" smtClean="0"/>
              <a:t>‹#›</a:t>
            </a:fld>
            <a:endParaRPr lang="en-US"/>
          </a:p>
        </p:txBody>
      </p:sp>
    </p:spTree>
    <p:extLst>
      <p:ext uri="{BB962C8B-B14F-4D97-AF65-F5344CB8AC3E}">
        <p14:creationId xmlns:p14="http://schemas.microsoft.com/office/powerpoint/2010/main" val="1010987801"/>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107DC-7DF8-BF03-9EEF-8B12915A3E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E5E22AD-F667-5078-01D0-BA06BB37C2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a:extLst>
              <a:ext uri="{FF2B5EF4-FFF2-40B4-BE49-F238E27FC236}">
                <a16:creationId xmlns:a16="http://schemas.microsoft.com/office/drawing/2014/main" id="{B17A1640-D1E3-E844-C9E6-5CA87FE88CCB}"/>
              </a:ext>
            </a:extLst>
          </p:cNvPr>
          <p:cNvSpPr>
            <a:spLocks noGrp="1"/>
          </p:cNvSpPr>
          <p:nvPr>
            <p:ph type="sldNum" sz="quarter" idx="12"/>
          </p:nvPr>
        </p:nvSpPr>
        <p:spPr/>
        <p:txBody>
          <a:bodyPr/>
          <a:lstStyle/>
          <a:p>
            <a:fld id="{C47C1889-967C-4CCE-AB8F-72747BC45B63}" type="slidenum">
              <a:rPr lang="en-US" smtClean="0"/>
              <a:t>‹#›</a:t>
            </a:fld>
            <a:endParaRPr lang="en-US"/>
          </a:p>
        </p:txBody>
      </p:sp>
      <p:sp>
        <p:nvSpPr>
          <p:cNvPr id="4" name="TextBox 3">
            <a:extLst>
              <a:ext uri="{FF2B5EF4-FFF2-40B4-BE49-F238E27FC236}">
                <a16:creationId xmlns:a16="http://schemas.microsoft.com/office/drawing/2014/main" id="{669D87FD-08E4-A65B-538F-373181C40C6B}"/>
              </a:ext>
            </a:extLst>
          </p:cNvPr>
          <p:cNvSpPr txBox="1"/>
          <p:nvPr userDrawn="1"/>
        </p:nvSpPr>
        <p:spPr>
          <a:xfrm>
            <a:off x="2761488" y="6399807"/>
            <a:ext cx="6931152" cy="369332"/>
          </a:xfrm>
          <a:prstGeom prst="rect">
            <a:avLst/>
          </a:prstGeom>
          <a:noFill/>
        </p:spPr>
        <p:txBody>
          <a:bodyPr wrap="square" rtlCol="0">
            <a:spAutoFit/>
          </a:bodyPr>
          <a:lstStyle/>
          <a:p>
            <a:pPr algn="ctr"/>
            <a:r>
              <a:rPr lang="en-US" b="1">
                <a:solidFill>
                  <a:schemeClr val="accent1"/>
                </a:solidFill>
              </a:rPr>
              <a:t>CMP385</a:t>
            </a:r>
            <a:r>
              <a:rPr lang="en-US">
                <a:solidFill>
                  <a:schemeClr val="accent1"/>
                </a:solidFill>
              </a:rPr>
              <a:t> – THỰC HÀNH PHÂN TÍCH THIẾT KẾ HỆ THỐNG – Bài 1.</a:t>
            </a:r>
          </a:p>
        </p:txBody>
      </p:sp>
    </p:spTree>
    <p:extLst>
      <p:ext uri="{BB962C8B-B14F-4D97-AF65-F5344CB8AC3E}">
        <p14:creationId xmlns:p14="http://schemas.microsoft.com/office/powerpoint/2010/main" val="1087085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CA81F-9907-EB92-EDA6-8B13BD3E4C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BBAA02-95B7-9ED0-C77D-D9D222D870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1275A1-CE7F-2882-6C79-2E4FF4A04E73}"/>
              </a:ext>
            </a:extLst>
          </p:cNvPr>
          <p:cNvSpPr>
            <a:spLocks noGrp="1"/>
          </p:cNvSpPr>
          <p:nvPr>
            <p:ph type="dt" sz="half" idx="10"/>
          </p:nvPr>
        </p:nvSpPr>
        <p:spPr>
          <a:xfrm>
            <a:off x="838200" y="6356350"/>
            <a:ext cx="2743200" cy="365125"/>
          </a:xfrm>
          <a:prstGeom prst="rect">
            <a:avLst/>
          </a:prstGeom>
        </p:spPr>
        <p:txBody>
          <a:bodyPr/>
          <a:lstStyle/>
          <a:p>
            <a:fld id="{1CDBFF63-FBBF-4AE5-8091-536623DA85C5}" type="datetime1">
              <a:rPr lang="en-US" smtClean="0"/>
              <a:t>24/07/2024</a:t>
            </a:fld>
            <a:endParaRPr lang="en-US"/>
          </a:p>
        </p:txBody>
      </p:sp>
      <p:sp>
        <p:nvSpPr>
          <p:cNvPr id="5" name="Footer Placeholder 4">
            <a:extLst>
              <a:ext uri="{FF2B5EF4-FFF2-40B4-BE49-F238E27FC236}">
                <a16:creationId xmlns:a16="http://schemas.microsoft.com/office/drawing/2014/main" id="{62CAA184-560D-EFDA-00F8-ED7A2B5CC9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197FF0-D2CD-A614-A81A-7477D384DD89}"/>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771813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F81EF-768C-4240-4A86-376824207D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B24A2BB-4792-9984-FE0A-036E7D71F7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45CF6E-0DD9-E047-3EB9-7E61CD1C64E2}"/>
              </a:ext>
            </a:extLst>
          </p:cNvPr>
          <p:cNvSpPr>
            <a:spLocks noGrp="1"/>
          </p:cNvSpPr>
          <p:nvPr>
            <p:ph type="dt" sz="half" idx="10"/>
          </p:nvPr>
        </p:nvSpPr>
        <p:spPr>
          <a:xfrm>
            <a:off x="838200" y="6356350"/>
            <a:ext cx="2743200" cy="365125"/>
          </a:xfrm>
          <a:prstGeom prst="rect">
            <a:avLst/>
          </a:prstGeom>
        </p:spPr>
        <p:txBody>
          <a:bodyPr/>
          <a:lstStyle/>
          <a:p>
            <a:fld id="{24BAD55F-BECB-4CB3-A6CB-A51342EE555E}" type="datetime1">
              <a:rPr lang="en-US" smtClean="0"/>
              <a:t>24/07/2024</a:t>
            </a:fld>
            <a:endParaRPr lang="en-US"/>
          </a:p>
        </p:txBody>
      </p:sp>
      <p:sp>
        <p:nvSpPr>
          <p:cNvPr id="5" name="Footer Placeholder 4">
            <a:extLst>
              <a:ext uri="{FF2B5EF4-FFF2-40B4-BE49-F238E27FC236}">
                <a16:creationId xmlns:a16="http://schemas.microsoft.com/office/drawing/2014/main" id="{9E8F3E27-BDFD-5AA4-CFC9-3CB12FCA65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439B7B-2B35-4304-A85F-93DF50EC48E1}"/>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2785543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1E59A-4EDC-598E-446C-81DDF14C75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DE7660-5E9E-75EB-6584-010E6E7D9E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481E11-5094-3FAB-D1DE-ADDCF8BAF1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AABA907-166C-B25F-DCA7-A8D14116705A}"/>
              </a:ext>
            </a:extLst>
          </p:cNvPr>
          <p:cNvSpPr>
            <a:spLocks noGrp="1"/>
          </p:cNvSpPr>
          <p:nvPr>
            <p:ph type="dt" sz="half" idx="10"/>
          </p:nvPr>
        </p:nvSpPr>
        <p:spPr>
          <a:xfrm>
            <a:off x="838200" y="6356350"/>
            <a:ext cx="2743200" cy="365125"/>
          </a:xfrm>
          <a:prstGeom prst="rect">
            <a:avLst/>
          </a:prstGeom>
        </p:spPr>
        <p:txBody>
          <a:bodyPr/>
          <a:lstStyle/>
          <a:p>
            <a:fld id="{AC30D15B-9F44-49EA-B6CE-162734ECD151}" type="datetime1">
              <a:rPr lang="en-US" smtClean="0"/>
              <a:t>24/07/2024</a:t>
            </a:fld>
            <a:endParaRPr lang="en-US"/>
          </a:p>
        </p:txBody>
      </p:sp>
      <p:sp>
        <p:nvSpPr>
          <p:cNvPr id="6" name="Footer Placeholder 5">
            <a:extLst>
              <a:ext uri="{FF2B5EF4-FFF2-40B4-BE49-F238E27FC236}">
                <a16:creationId xmlns:a16="http://schemas.microsoft.com/office/drawing/2014/main" id="{4FCB9E24-5D1B-8772-44A4-2D68DF0BB6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A47C55-ADF3-5BA9-8E05-3B90FEAE3801}"/>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402434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7EC59-AC58-0F20-D4D7-80C87C91A6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DBA34C-ECAF-A9C9-E9C0-77AA3D3D02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C77B12-1225-6C5C-B3B0-24F0965755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C0CF22-247F-4720-9E37-ADC4E8D0E7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E27D5A-BCFB-E372-1507-8B0591E7F5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2887BE9-39FF-5A37-AB34-C436E3CB8033}"/>
              </a:ext>
            </a:extLst>
          </p:cNvPr>
          <p:cNvSpPr>
            <a:spLocks noGrp="1"/>
          </p:cNvSpPr>
          <p:nvPr>
            <p:ph type="dt" sz="half" idx="10"/>
          </p:nvPr>
        </p:nvSpPr>
        <p:spPr>
          <a:xfrm>
            <a:off x="838200" y="6356350"/>
            <a:ext cx="2743200" cy="365125"/>
          </a:xfrm>
          <a:prstGeom prst="rect">
            <a:avLst/>
          </a:prstGeom>
        </p:spPr>
        <p:txBody>
          <a:bodyPr/>
          <a:lstStyle/>
          <a:p>
            <a:fld id="{29E51972-147F-4264-82CA-FCAA4F2BA378}" type="datetime1">
              <a:rPr lang="en-US" smtClean="0"/>
              <a:t>24/07/2024</a:t>
            </a:fld>
            <a:endParaRPr lang="en-US"/>
          </a:p>
        </p:txBody>
      </p:sp>
      <p:sp>
        <p:nvSpPr>
          <p:cNvPr id="8" name="Footer Placeholder 7">
            <a:extLst>
              <a:ext uri="{FF2B5EF4-FFF2-40B4-BE49-F238E27FC236}">
                <a16:creationId xmlns:a16="http://schemas.microsoft.com/office/drawing/2014/main" id="{243D0ACD-A71A-D8C5-D6D4-94F71DE0297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BC92FE-0CA3-70CB-4341-7B189E7B0617}"/>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3661332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30CA5-EDC7-9A81-EE0E-735D87BAD4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E3CA5B-5932-F4DF-141D-AA93100BFB80}"/>
              </a:ext>
            </a:extLst>
          </p:cNvPr>
          <p:cNvSpPr>
            <a:spLocks noGrp="1"/>
          </p:cNvSpPr>
          <p:nvPr>
            <p:ph type="dt" sz="half" idx="10"/>
          </p:nvPr>
        </p:nvSpPr>
        <p:spPr>
          <a:xfrm>
            <a:off x="838200" y="6356350"/>
            <a:ext cx="2743200" cy="365125"/>
          </a:xfrm>
          <a:prstGeom prst="rect">
            <a:avLst/>
          </a:prstGeom>
        </p:spPr>
        <p:txBody>
          <a:bodyPr/>
          <a:lstStyle/>
          <a:p>
            <a:fld id="{25641061-276C-4E0D-AE02-1CC11EEE9DF3}" type="datetime1">
              <a:rPr lang="en-US" smtClean="0"/>
              <a:t>24/07/2024</a:t>
            </a:fld>
            <a:endParaRPr lang="en-US"/>
          </a:p>
        </p:txBody>
      </p:sp>
      <p:sp>
        <p:nvSpPr>
          <p:cNvPr id="4" name="Footer Placeholder 3">
            <a:extLst>
              <a:ext uri="{FF2B5EF4-FFF2-40B4-BE49-F238E27FC236}">
                <a16:creationId xmlns:a16="http://schemas.microsoft.com/office/drawing/2014/main" id="{4DEC59B9-188C-B1EE-BAAB-9AB4870DE0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0E2DB3-6532-8B7C-344D-2CE9DEA46637}"/>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1003598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DA411B-F1FC-AED7-F626-2E2994EE79B5}"/>
              </a:ext>
            </a:extLst>
          </p:cNvPr>
          <p:cNvSpPr>
            <a:spLocks noGrp="1"/>
          </p:cNvSpPr>
          <p:nvPr>
            <p:ph type="dt" sz="half" idx="10"/>
          </p:nvPr>
        </p:nvSpPr>
        <p:spPr>
          <a:xfrm>
            <a:off x="838200" y="6356350"/>
            <a:ext cx="2743200" cy="365125"/>
          </a:xfrm>
          <a:prstGeom prst="rect">
            <a:avLst/>
          </a:prstGeom>
        </p:spPr>
        <p:txBody>
          <a:bodyPr/>
          <a:lstStyle/>
          <a:p>
            <a:fld id="{D8663A9D-0BB5-463E-B5F9-8131C5564E3C}" type="datetime1">
              <a:rPr lang="en-US" smtClean="0"/>
              <a:t>24/07/2024</a:t>
            </a:fld>
            <a:endParaRPr lang="en-US"/>
          </a:p>
        </p:txBody>
      </p:sp>
      <p:sp>
        <p:nvSpPr>
          <p:cNvPr id="3" name="Footer Placeholder 2">
            <a:extLst>
              <a:ext uri="{FF2B5EF4-FFF2-40B4-BE49-F238E27FC236}">
                <a16:creationId xmlns:a16="http://schemas.microsoft.com/office/drawing/2014/main" id="{7A3DD5A3-5B20-2757-CC8F-AD74BC0498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487CE42-E679-2419-8CAC-676819F6A02A}"/>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954954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0CD38-2403-E377-B3AC-955302F8A4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0B227C-1631-89C8-3BE1-F8BA3CBA7F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5D34A1-8B68-CCBB-3F69-A7D4E1194C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8D3488-926F-C4A4-2F6A-E08ECE5C7B5E}"/>
              </a:ext>
            </a:extLst>
          </p:cNvPr>
          <p:cNvSpPr>
            <a:spLocks noGrp="1"/>
          </p:cNvSpPr>
          <p:nvPr>
            <p:ph type="dt" sz="half" idx="10"/>
          </p:nvPr>
        </p:nvSpPr>
        <p:spPr>
          <a:xfrm>
            <a:off x="838200" y="6356350"/>
            <a:ext cx="2743200" cy="365125"/>
          </a:xfrm>
          <a:prstGeom prst="rect">
            <a:avLst/>
          </a:prstGeom>
        </p:spPr>
        <p:txBody>
          <a:bodyPr/>
          <a:lstStyle/>
          <a:p>
            <a:fld id="{A2B8BB03-0C76-4FB2-9EDA-4422D6748861}" type="datetime1">
              <a:rPr lang="en-US" smtClean="0"/>
              <a:t>24/07/2024</a:t>
            </a:fld>
            <a:endParaRPr lang="en-US"/>
          </a:p>
        </p:txBody>
      </p:sp>
      <p:sp>
        <p:nvSpPr>
          <p:cNvPr id="6" name="Footer Placeholder 5">
            <a:extLst>
              <a:ext uri="{FF2B5EF4-FFF2-40B4-BE49-F238E27FC236}">
                <a16:creationId xmlns:a16="http://schemas.microsoft.com/office/drawing/2014/main" id="{BC2B2A3F-2870-EE7F-F9C4-DEE0B43A04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5E0785-1C32-51E3-E817-67A804491031}"/>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1818818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71768-7992-528E-9E5F-8BE2F14BE7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87DE513-7314-5A2A-311D-326AD9DE76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07B323-2320-01BE-10E5-4F4B5A844B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7AC17E-B8FF-AAD9-177F-9BD6528A1401}"/>
              </a:ext>
            </a:extLst>
          </p:cNvPr>
          <p:cNvSpPr>
            <a:spLocks noGrp="1"/>
          </p:cNvSpPr>
          <p:nvPr>
            <p:ph type="dt" sz="half" idx="10"/>
          </p:nvPr>
        </p:nvSpPr>
        <p:spPr>
          <a:xfrm>
            <a:off x="838200" y="6356350"/>
            <a:ext cx="2743200" cy="365125"/>
          </a:xfrm>
          <a:prstGeom prst="rect">
            <a:avLst/>
          </a:prstGeom>
        </p:spPr>
        <p:txBody>
          <a:bodyPr/>
          <a:lstStyle/>
          <a:p>
            <a:fld id="{9CE8621D-B9F7-4FAE-9BC9-8A58885EA8E4}" type="datetime1">
              <a:rPr lang="en-US" smtClean="0"/>
              <a:t>24/07/2024</a:t>
            </a:fld>
            <a:endParaRPr lang="en-US"/>
          </a:p>
        </p:txBody>
      </p:sp>
      <p:sp>
        <p:nvSpPr>
          <p:cNvPr id="6" name="Footer Placeholder 5">
            <a:extLst>
              <a:ext uri="{FF2B5EF4-FFF2-40B4-BE49-F238E27FC236}">
                <a16:creationId xmlns:a16="http://schemas.microsoft.com/office/drawing/2014/main" id="{ED3D7936-7B6E-0E20-6AB3-BF7B5000B0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85E08C-7EC7-A841-0BB3-5D2CA2D5D501}"/>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3844026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A50DE-F37C-3641-90B4-3BD055D1D98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94C32A-4DB1-D6CB-97B8-DED1A2BBED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DF9321-C491-BFC5-4794-FE36B1273EF4}"/>
              </a:ext>
            </a:extLst>
          </p:cNvPr>
          <p:cNvSpPr>
            <a:spLocks noGrp="1"/>
          </p:cNvSpPr>
          <p:nvPr>
            <p:ph type="dt" sz="half" idx="10"/>
          </p:nvPr>
        </p:nvSpPr>
        <p:spPr>
          <a:xfrm>
            <a:off x="838200" y="6356350"/>
            <a:ext cx="2743200" cy="365125"/>
          </a:xfrm>
          <a:prstGeom prst="rect">
            <a:avLst/>
          </a:prstGeom>
        </p:spPr>
        <p:txBody>
          <a:bodyPr/>
          <a:lstStyle/>
          <a:p>
            <a:fld id="{33689591-052B-49CD-99D4-DD11E3255684}" type="datetime1">
              <a:rPr lang="en-US" smtClean="0"/>
              <a:t>24/07/2024</a:t>
            </a:fld>
            <a:endParaRPr lang="en-US"/>
          </a:p>
        </p:txBody>
      </p:sp>
      <p:sp>
        <p:nvSpPr>
          <p:cNvPr id="5" name="Footer Placeholder 4">
            <a:extLst>
              <a:ext uri="{FF2B5EF4-FFF2-40B4-BE49-F238E27FC236}">
                <a16:creationId xmlns:a16="http://schemas.microsoft.com/office/drawing/2014/main" id="{106BEC55-4DAF-3B95-AECF-8EB293D97C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AEEFF3-7F70-B346-34F0-B6D0BAE6B222}"/>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2427628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A7C46D-BD33-A1D3-E7F0-A8E757BD1B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EA5B82F-AE53-9FB3-C1D9-2476351037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A20AAA-AD22-B58A-4E57-6C5BBC242AEE}"/>
              </a:ext>
            </a:extLst>
          </p:cNvPr>
          <p:cNvSpPr>
            <a:spLocks noGrp="1"/>
          </p:cNvSpPr>
          <p:nvPr>
            <p:ph type="dt" sz="half" idx="10"/>
          </p:nvPr>
        </p:nvSpPr>
        <p:spPr>
          <a:xfrm>
            <a:off x="838200" y="6356350"/>
            <a:ext cx="2743200" cy="365125"/>
          </a:xfrm>
          <a:prstGeom prst="rect">
            <a:avLst/>
          </a:prstGeom>
        </p:spPr>
        <p:txBody>
          <a:bodyPr/>
          <a:lstStyle/>
          <a:p>
            <a:fld id="{65F8D224-34F0-43E8-857B-E1CA3171500A}" type="datetime1">
              <a:rPr lang="en-US" smtClean="0"/>
              <a:t>24/07/2024</a:t>
            </a:fld>
            <a:endParaRPr lang="en-US"/>
          </a:p>
        </p:txBody>
      </p:sp>
      <p:sp>
        <p:nvSpPr>
          <p:cNvPr id="5" name="Footer Placeholder 4">
            <a:extLst>
              <a:ext uri="{FF2B5EF4-FFF2-40B4-BE49-F238E27FC236}">
                <a16:creationId xmlns:a16="http://schemas.microsoft.com/office/drawing/2014/main" id="{BE212145-FAA5-16EF-28DA-53CB0322E0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819072-6D17-D614-7C0F-795E6827F628}"/>
              </a:ext>
            </a:extLst>
          </p:cNvPr>
          <p:cNvSpPr>
            <a:spLocks noGrp="1"/>
          </p:cNvSpPr>
          <p:nvPr>
            <p:ph type="sldNum" sz="quarter" idx="12"/>
          </p:nvPr>
        </p:nvSpPr>
        <p:spPr/>
        <p:txBody>
          <a:bodyPr/>
          <a:lstStyle/>
          <a:p>
            <a:fld id="{C47C1889-967C-4CCE-AB8F-72747BC45B63}" type="slidenum">
              <a:rPr lang="en-US" smtClean="0"/>
              <a:t>‹#›</a:t>
            </a:fld>
            <a:endParaRPr lang="en-US"/>
          </a:p>
        </p:txBody>
      </p:sp>
    </p:spTree>
    <p:extLst>
      <p:ext uri="{BB962C8B-B14F-4D97-AF65-F5344CB8AC3E}">
        <p14:creationId xmlns:p14="http://schemas.microsoft.com/office/powerpoint/2010/main" val="1620631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0541" y="1996751"/>
            <a:ext cx="11617998" cy="804284"/>
          </a:xfrm>
        </p:spPr>
        <p:txBody>
          <a:bodyPr/>
          <a:lstStyle>
            <a:lvl1pPr algn="ctr">
              <a:defRPr baseline="0">
                <a:solidFill>
                  <a:srgbClr val="00B0F0"/>
                </a:solidFill>
              </a:defRPr>
            </a:lvl1pPr>
          </a:lstStyle>
          <a:p>
            <a:r>
              <a:rPr lang="en-US" dirty="0" err="1"/>
              <a:t>Mã</a:t>
            </a:r>
            <a:r>
              <a:rPr lang="en-US" dirty="0"/>
              <a:t> </a:t>
            </a:r>
            <a:r>
              <a:rPr lang="en-US" dirty="0" err="1"/>
              <a:t>học</a:t>
            </a:r>
            <a:r>
              <a:rPr lang="en-US" dirty="0"/>
              <a:t> </a:t>
            </a:r>
            <a:r>
              <a:rPr lang="en-US" dirty="0" err="1"/>
              <a:t>phần</a:t>
            </a:r>
            <a:r>
              <a:rPr lang="en-US" dirty="0"/>
              <a:t> – </a:t>
            </a:r>
            <a:r>
              <a:rPr lang="en-US" dirty="0" err="1"/>
              <a:t>Tên</a:t>
            </a:r>
            <a:r>
              <a:rPr lang="en-US" dirty="0"/>
              <a:t> </a:t>
            </a:r>
            <a:r>
              <a:rPr lang="en-US" dirty="0" err="1"/>
              <a:t>học</a:t>
            </a:r>
            <a:r>
              <a:rPr lang="en-US" dirty="0"/>
              <a:t> </a:t>
            </a:r>
            <a:r>
              <a:rPr lang="en-US" dirty="0" err="1"/>
              <a:t>phần</a:t>
            </a:r>
            <a:endParaRPr lang="en-US" dirty="0"/>
          </a:p>
        </p:txBody>
      </p:sp>
      <p:sp>
        <p:nvSpPr>
          <p:cNvPr id="3" name="Text Placeholder 2"/>
          <p:cNvSpPr>
            <a:spLocks noGrp="1"/>
          </p:cNvSpPr>
          <p:nvPr>
            <p:ph type="body" idx="1" hasCustomPrompt="1"/>
          </p:nvPr>
        </p:nvSpPr>
        <p:spPr>
          <a:xfrm>
            <a:off x="250541" y="4394717"/>
            <a:ext cx="11617997" cy="517655"/>
          </a:xfrm>
        </p:spPr>
        <p:txBody>
          <a:bodyPr anchor="b"/>
          <a:lstStyle>
            <a:lvl1pPr marL="0" indent="0" algn="ctr">
              <a:buNone/>
              <a:defRPr sz="2400" b="1" baseline="0">
                <a:solidFill>
                  <a:srgbClr val="00206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Tên</a:t>
            </a:r>
            <a:r>
              <a:rPr lang="en-US" dirty="0"/>
              <a:t> </a:t>
            </a:r>
            <a:r>
              <a:rPr lang="en-US" dirty="0" err="1"/>
              <a:t>giảng</a:t>
            </a:r>
            <a:r>
              <a:rPr lang="en-US" dirty="0"/>
              <a:t> </a:t>
            </a:r>
            <a:r>
              <a:rPr lang="en-US" dirty="0" err="1"/>
              <a:t>viên</a:t>
            </a:r>
            <a:endParaRPr lang="en-US" dirty="0"/>
          </a:p>
        </p:txBody>
      </p:sp>
      <p:sp>
        <p:nvSpPr>
          <p:cNvPr id="5" name="Text Placeholder 4"/>
          <p:cNvSpPr>
            <a:spLocks noGrp="1"/>
          </p:cNvSpPr>
          <p:nvPr>
            <p:ph type="body" sz="quarter" idx="3" hasCustomPrompt="1"/>
          </p:nvPr>
        </p:nvSpPr>
        <p:spPr>
          <a:xfrm>
            <a:off x="250542" y="2884812"/>
            <a:ext cx="11617998" cy="651490"/>
          </a:xfrm>
        </p:spPr>
        <p:txBody>
          <a:bodyPr anchor="b"/>
          <a:lstStyle>
            <a:lvl1pPr marL="0" indent="0" algn="ctr">
              <a:buNone/>
              <a:defRPr sz="2400" b="1" baseline="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Bài</a:t>
            </a:r>
            <a:r>
              <a:rPr lang="en-US" dirty="0"/>
              <a:t> 1: </a:t>
            </a:r>
            <a:r>
              <a:rPr lang="en-US" dirty="0" err="1"/>
              <a:t>Tên</a:t>
            </a:r>
            <a:r>
              <a:rPr lang="en-US" dirty="0"/>
              <a:t> </a:t>
            </a:r>
            <a:r>
              <a:rPr lang="en-US" dirty="0" err="1"/>
              <a:t>bài</a:t>
            </a:r>
            <a:r>
              <a:rPr lang="en-US" dirty="0"/>
              <a:t> </a:t>
            </a:r>
            <a:r>
              <a:rPr lang="en-US" dirty="0" err="1"/>
              <a:t>học</a:t>
            </a:r>
            <a:endParaRPr lang="en-US" dirty="0"/>
          </a:p>
        </p:txBody>
      </p:sp>
      <p:sp>
        <p:nvSpPr>
          <p:cNvPr id="4" name="TextBox 3">
            <a:extLst>
              <a:ext uri="{FF2B5EF4-FFF2-40B4-BE49-F238E27FC236}">
                <a16:creationId xmlns:a16="http://schemas.microsoft.com/office/drawing/2014/main" id="{6FBA2E0D-3607-4B17-9BEF-B4FB807DE1E7}"/>
              </a:ext>
            </a:extLst>
          </p:cNvPr>
          <p:cNvSpPr txBox="1"/>
          <p:nvPr userDrawn="1"/>
        </p:nvSpPr>
        <p:spPr>
          <a:xfrm>
            <a:off x="2761488" y="6399807"/>
            <a:ext cx="6931152" cy="369332"/>
          </a:xfrm>
          <a:prstGeom prst="rect">
            <a:avLst/>
          </a:prstGeom>
          <a:noFill/>
        </p:spPr>
        <p:txBody>
          <a:bodyPr wrap="square" rtlCol="0">
            <a:spAutoFit/>
          </a:bodyPr>
          <a:lstStyle/>
          <a:p>
            <a:pPr algn="ctr"/>
            <a:r>
              <a:rPr lang="en-US" b="1">
                <a:solidFill>
                  <a:schemeClr val="accent1"/>
                </a:solidFill>
              </a:rPr>
              <a:t>CMP385</a:t>
            </a:r>
            <a:r>
              <a:rPr lang="en-US">
                <a:solidFill>
                  <a:schemeClr val="accent1"/>
                </a:solidFill>
              </a:rPr>
              <a:t> – THỰC HÀNH PHÂN TÍCH THIẾT KẾ HỆ THỐNG – Bài 1.</a:t>
            </a:r>
          </a:p>
        </p:txBody>
      </p:sp>
    </p:spTree>
    <p:extLst>
      <p:ext uri="{BB962C8B-B14F-4D97-AF65-F5344CB8AC3E}">
        <p14:creationId xmlns:p14="http://schemas.microsoft.com/office/powerpoint/2010/main" val="18125983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0541" y="1996751"/>
            <a:ext cx="11617998" cy="804284"/>
          </a:xfrm>
        </p:spPr>
        <p:txBody>
          <a:bodyPr/>
          <a:lstStyle>
            <a:lvl1pPr algn="ctr">
              <a:defRPr baseline="0">
                <a:solidFill>
                  <a:srgbClr val="00B0F0"/>
                </a:solidFill>
              </a:defRPr>
            </a:lvl1pPr>
          </a:lstStyle>
          <a:p>
            <a:r>
              <a:rPr lang="en-US" dirty="0" err="1"/>
              <a:t>Mã</a:t>
            </a:r>
            <a:r>
              <a:rPr lang="en-US" dirty="0"/>
              <a:t> </a:t>
            </a:r>
            <a:r>
              <a:rPr lang="en-US" dirty="0" err="1"/>
              <a:t>học</a:t>
            </a:r>
            <a:r>
              <a:rPr lang="en-US" dirty="0"/>
              <a:t> </a:t>
            </a:r>
            <a:r>
              <a:rPr lang="en-US" dirty="0" err="1"/>
              <a:t>phần</a:t>
            </a:r>
            <a:r>
              <a:rPr lang="en-US" dirty="0"/>
              <a:t> – </a:t>
            </a:r>
            <a:r>
              <a:rPr lang="en-US" dirty="0" err="1"/>
              <a:t>Tên</a:t>
            </a:r>
            <a:r>
              <a:rPr lang="en-US" dirty="0"/>
              <a:t> </a:t>
            </a:r>
            <a:r>
              <a:rPr lang="en-US" dirty="0" err="1"/>
              <a:t>học</a:t>
            </a:r>
            <a:r>
              <a:rPr lang="en-US" dirty="0"/>
              <a:t> </a:t>
            </a:r>
            <a:r>
              <a:rPr lang="en-US" dirty="0" err="1"/>
              <a:t>phần</a:t>
            </a:r>
            <a:endParaRPr lang="en-US" dirty="0"/>
          </a:p>
        </p:txBody>
      </p:sp>
      <p:sp>
        <p:nvSpPr>
          <p:cNvPr id="3" name="Text Placeholder 2"/>
          <p:cNvSpPr>
            <a:spLocks noGrp="1"/>
          </p:cNvSpPr>
          <p:nvPr>
            <p:ph type="body" idx="1" hasCustomPrompt="1"/>
          </p:nvPr>
        </p:nvSpPr>
        <p:spPr>
          <a:xfrm>
            <a:off x="250541" y="4394717"/>
            <a:ext cx="11617997" cy="517655"/>
          </a:xfrm>
        </p:spPr>
        <p:txBody>
          <a:bodyPr anchor="b"/>
          <a:lstStyle>
            <a:lvl1pPr marL="0" indent="0" algn="ctr">
              <a:buNone/>
              <a:defRPr sz="2400" b="1" baseline="0">
                <a:solidFill>
                  <a:srgbClr val="00206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Tên</a:t>
            </a:r>
            <a:r>
              <a:rPr lang="en-US" dirty="0"/>
              <a:t> </a:t>
            </a:r>
            <a:r>
              <a:rPr lang="en-US" dirty="0" err="1"/>
              <a:t>giảng</a:t>
            </a:r>
            <a:r>
              <a:rPr lang="en-US" dirty="0"/>
              <a:t> </a:t>
            </a:r>
            <a:r>
              <a:rPr lang="en-US" dirty="0" err="1"/>
              <a:t>viên</a:t>
            </a:r>
            <a:endParaRPr lang="en-US" dirty="0"/>
          </a:p>
        </p:txBody>
      </p:sp>
      <p:sp>
        <p:nvSpPr>
          <p:cNvPr id="5" name="Text Placeholder 4"/>
          <p:cNvSpPr>
            <a:spLocks noGrp="1"/>
          </p:cNvSpPr>
          <p:nvPr>
            <p:ph type="body" sz="quarter" idx="3" hasCustomPrompt="1"/>
          </p:nvPr>
        </p:nvSpPr>
        <p:spPr>
          <a:xfrm>
            <a:off x="250542" y="2884812"/>
            <a:ext cx="11617998" cy="651490"/>
          </a:xfrm>
        </p:spPr>
        <p:txBody>
          <a:bodyPr anchor="b"/>
          <a:lstStyle>
            <a:lvl1pPr marL="0" indent="0" algn="ctr">
              <a:buNone/>
              <a:defRPr sz="2400" b="1" baseline="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err="1"/>
              <a:t>Bài</a:t>
            </a:r>
            <a:r>
              <a:rPr lang="en-US" dirty="0"/>
              <a:t> 1: </a:t>
            </a:r>
            <a:r>
              <a:rPr lang="en-US" dirty="0" err="1"/>
              <a:t>Tên</a:t>
            </a:r>
            <a:r>
              <a:rPr lang="en-US" dirty="0"/>
              <a:t> </a:t>
            </a:r>
            <a:r>
              <a:rPr lang="en-US" dirty="0" err="1"/>
              <a:t>bài</a:t>
            </a:r>
            <a:r>
              <a:rPr lang="en-US" dirty="0"/>
              <a:t> </a:t>
            </a:r>
            <a:r>
              <a:rPr lang="en-US" dirty="0" err="1"/>
              <a:t>học</a:t>
            </a:r>
            <a:endParaRPr lang="en-US" dirty="0"/>
          </a:p>
        </p:txBody>
      </p:sp>
      <p:pic>
        <p:nvPicPr>
          <p:cNvPr id="10" name="Picture 9"/>
          <p:cNvPicPr>
            <a:picLocks noChangeAspect="1"/>
          </p:cNvPicPr>
          <p:nvPr userDrawn="1"/>
        </p:nvPicPr>
        <p:blipFill rotWithShape="1">
          <a:blip r:embed="rId2"/>
          <a:srcRect l="11918" t="12821" r="10245" b="57225"/>
          <a:stretch/>
        </p:blipFill>
        <p:spPr>
          <a:xfrm>
            <a:off x="250541" y="6393673"/>
            <a:ext cx="1499531" cy="381601"/>
          </a:xfrm>
          <a:prstGeom prst="rect">
            <a:avLst/>
          </a:prstGeom>
        </p:spPr>
      </p:pic>
      <p:cxnSp>
        <p:nvCxnSpPr>
          <p:cNvPr id="11" name="Straight Connector 10"/>
          <p:cNvCxnSpPr/>
          <p:nvPr userDrawn="1"/>
        </p:nvCxnSpPr>
        <p:spPr>
          <a:xfrm>
            <a:off x="0" y="6298266"/>
            <a:ext cx="12192000" cy="0"/>
          </a:xfrm>
          <a:prstGeom prst="line">
            <a:avLst/>
          </a:prstGeom>
          <a:ln w="19050" cmpd="dbl">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77085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50541" y="3585838"/>
            <a:ext cx="11655319" cy="538291"/>
          </a:xfrm>
        </p:spPr>
        <p:txBody>
          <a:bodyPr anchor="b">
            <a:noAutofit/>
          </a:bodyPr>
          <a:lstStyle>
            <a:lvl1pPr algn="ctr">
              <a:defRPr sz="2400" baseline="0">
                <a:solidFill>
                  <a:srgbClr val="002060"/>
                </a:solidFill>
                <a:latin typeface="Arial" panose="020B0604020202020204" pitchFamily="34" charset="0"/>
                <a:cs typeface="Arial" panose="020B0604020202020204" pitchFamily="34" charset="0"/>
              </a:defRPr>
            </a:lvl1pPr>
          </a:lstStyle>
          <a:p>
            <a:r>
              <a:rPr lang="en-US"/>
              <a:t>Nguyễn Văn A</a:t>
            </a:r>
          </a:p>
        </p:txBody>
      </p:sp>
      <p:sp>
        <p:nvSpPr>
          <p:cNvPr id="3" name="Subtitle 2"/>
          <p:cNvSpPr>
            <a:spLocks noGrp="1"/>
          </p:cNvSpPr>
          <p:nvPr>
            <p:ph type="subTitle" idx="1" hasCustomPrompt="1"/>
          </p:nvPr>
        </p:nvSpPr>
        <p:spPr>
          <a:xfrm>
            <a:off x="250541" y="2099388"/>
            <a:ext cx="11655320" cy="1418250"/>
          </a:xfrm>
        </p:spPr>
        <p:txBody>
          <a:bodyP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4000" baseline="0">
                <a:solidFill>
                  <a:srgbClr val="00B0F0"/>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TÊN BÀI HỌC</a:t>
            </a:r>
          </a:p>
        </p:txBody>
      </p:sp>
      <p:pic>
        <p:nvPicPr>
          <p:cNvPr id="7" name="Picture 6"/>
          <p:cNvPicPr>
            <a:picLocks noChangeAspect="1"/>
          </p:cNvPicPr>
          <p:nvPr userDrawn="1"/>
        </p:nvPicPr>
        <p:blipFill rotWithShape="1">
          <a:blip r:embed="rId2"/>
          <a:srcRect l="11918" t="12821" r="10245" b="57225"/>
          <a:stretch/>
        </p:blipFill>
        <p:spPr>
          <a:xfrm>
            <a:off x="250541" y="6393673"/>
            <a:ext cx="1499531" cy="381601"/>
          </a:xfrm>
          <a:prstGeom prst="rect">
            <a:avLst/>
          </a:prstGeom>
        </p:spPr>
      </p:pic>
      <p:cxnSp>
        <p:nvCxnSpPr>
          <p:cNvPr id="8" name="Straight Connector 7"/>
          <p:cNvCxnSpPr/>
          <p:nvPr userDrawn="1"/>
        </p:nvCxnSpPr>
        <p:spPr>
          <a:xfrm>
            <a:off x="0" y="6298266"/>
            <a:ext cx="12192000" cy="0"/>
          </a:xfrm>
          <a:prstGeom prst="line">
            <a:avLst/>
          </a:prstGeom>
          <a:ln w="19050" cmpd="dbl">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85812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85192" y="178506"/>
            <a:ext cx="11243388" cy="1249078"/>
          </a:xfrm>
        </p:spPr>
        <p:txBody>
          <a:bodyPr/>
          <a:lstStyle>
            <a:lvl1pPr>
              <a:defRPr>
                <a:solidFill>
                  <a:srgbClr val="00B0F0"/>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hasCustomPrompt="1"/>
          </p:nvPr>
        </p:nvSpPr>
        <p:spPr>
          <a:xfrm>
            <a:off x="485192" y="1660849"/>
            <a:ext cx="11243388" cy="4516114"/>
          </a:xfrm>
        </p:spPr>
        <p:txBody>
          <a:bodyPr/>
          <a:lstStyle>
            <a:lvl1pPr marL="228600" marR="0" indent="-228600" algn="l" defTabSz="914400" rtl="0" eaLnBrk="1" fontAlgn="auto" latinLnBrk="0" hangingPunct="1">
              <a:lnSpc>
                <a:spcPct val="100000"/>
              </a:lnSpc>
              <a:spcBef>
                <a:spcPts val="1200"/>
              </a:spcBef>
              <a:spcAft>
                <a:spcPts val="1200"/>
              </a:spcAft>
              <a:buClr>
                <a:srgbClr val="FF0000"/>
              </a:buClr>
              <a:buSzPct val="100000"/>
              <a:buFont typeface="Wingdings" panose="05000000000000000000" pitchFamily="2" charset="2"/>
              <a:buChar char="q"/>
              <a:tabLst/>
              <a:defRPr sz="2400" baseline="0">
                <a:solidFill>
                  <a:srgbClr val="0070C0"/>
                </a:solidFill>
                <a:latin typeface="Arial" panose="020B0604020202020204" pitchFamily="34" charset="0"/>
                <a:cs typeface="Arial" panose="020B0604020202020204" pitchFamily="34" charset="0"/>
              </a:defRPr>
            </a:lvl1pPr>
            <a:lvl2pPr marL="457200" indent="0">
              <a:spcBef>
                <a:spcPts val="600"/>
              </a:spcBef>
              <a:spcAft>
                <a:spcPts val="600"/>
              </a:spcAft>
              <a:buFont typeface="Wingdings" panose="05000000000000000000" pitchFamily="2" charset="2"/>
              <a:buNone/>
              <a:defRPr sz="2200">
                <a:latin typeface="Arial" panose="020B0604020202020204" pitchFamily="34" charset="0"/>
                <a:cs typeface="Arial" panose="020B0604020202020204" pitchFamily="34" charset="0"/>
              </a:defRPr>
            </a:lvl2pPr>
            <a:lvl3pPr marL="1143000" indent="-228600">
              <a:spcBef>
                <a:spcPts val="600"/>
              </a:spcBef>
              <a:spcAft>
                <a:spcPts val="600"/>
              </a:spcAft>
              <a:buFont typeface="Wingdings" panose="05000000000000000000" pitchFamily="2" charset="2"/>
              <a:buChar char="ü"/>
              <a:defRPr>
                <a:latin typeface="Arial" panose="020B0604020202020204" pitchFamily="34" charset="0"/>
                <a:cs typeface="Arial" panose="020B0604020202020204" pitchFamily="34" charset="0"/>
              </a:defRPr>
            </a:lvl3pPr>
            <a:lvl4pPr>
              <a:spcBef>
                <a:spcPts val="600"/>
              </a:spcBef>
              <a:spcAft>
                <a:spcPts val="600"/>
              </a:spcAft>
              <a:defRPr>
                <a:latin typeface="Arial" panose="020B0604020202020204" pitchFamily="34" charset="0"/>
                <a:cs typeface="Arial" panose="020B0604020202020204" pitchFamily="34" charset="0"/>
              </a:defRPr>
            </a:lvl4pPr>
            <a:lvl5pPr>
              <a:spcBef>
                <a:spcPts val="600"/>
              </a:spcBef>
              <a:spcAft>
                <a:spcPts val="600"/>
              </a:spcAft>
              <a:defRPr>
                <a:latin typeface="Arial" panose="020B0604020202020204" pitchFamily="34" charset="0"/>
                <a:cs typeface="Arial" panose="020B0604020202020204" pitchFamily="34" charset="0"/>
              </a:defRPr>
            </a:lvl5pPr>
          </a:lstStyle>
          <a:p>
            <a:pPr lvl="0"/>
            <a:r>
              <a:rPr lang="en-US"/>
              <a:t> Edit Master text styles</a:t>
            </a:r>
          </a:p>
          <a:p>
            <a:pPr lvl="0"/>
            <a:r>
              <a:rPr lang="en-US"/>
              <a:t> Edit Master text styles</a:t>
            </a:r>
          </a:p>
        </p:txBody>
      </p:sp>
      <p:pic>
        <p:nvPicPr>
          <p:cNvPr id="9" name="Picture 8"/>
          <p:cNvPicPr>
            <a:picLocks noChangeAspect="1"/>
          </p:cNvPicPr>
          <p:nvPr userDrawn="1"/>
        </p:nvPicPr>
        <p:blipFill rotWithShape="1">
          <a:blip r:embed="rId2"/>
          <a:srcRect l="11918" t="12821" r="10245" b="57225"/>
          <a:stretch/>
        </p:blipFill>
        <p:spPr>
          <a:xfrm>
            <a:off x="250541" y="6393673"/>
            <a:ext cx="1499531" cy="381601"/>
          </a:xfrm>
          <a:prstGeom prst="rect">
            <a:avLst/>
          </a:prstGeom>
        </p:spPr>
      </p:pic>
      <p:cxnSp>
        <p:nvCxnSpPr>
          <p:cNvPr id="12" name="Straight Connector 11"/>
          <p:cNvCxnSpPr/>
          <p:nvPr userDrawn="1"/>
        </p:nvCxnSpPr>
        <p:spPr>
          <a:xfrm>
            <a:off x="0" y="6298266"/>
            <a:ext cx="12192000" cy="0"/>
          </a:xfrm>
          <a:prstGeom prst="line">
            <a:avLst/>
          </a:prstGeom>
          <a:ln w="19050" cmpd="dbl">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54623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85192" y="223935"/>
            <a:ext cx="11243388" cy="597159"/>
          </a:xfrm>
        </p:spPr>
        <p:txBody>
          <a:bodyPr>
            <a:normAutofit/>
          </a:bodyPr>
          <a:lstStyle>
            <a:lvl1pPr>
              <a:defRPr sz="3200">
                <a:solidFill>
                  <a:srgbClr val="00B0F0"/>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hasCustomPrompt="1"/>
          </p:nvPr>
        </p:nvSpPr>
        <p:spPr>
          <a:xfrm>
            <a:off x="485192" y="1464906"/>
            <a:ext cx="11243388" cy="4712056"/>
          </a:xfrm>
        </p:spPr>
        <p:txBody>
          <a:bodyPr/>
          <a:lstStyle>
            <a:lvl1pPr marL="228600" indent="-228600">
              <a:spcBef>
                <a:spcPts val="600"/>
              </a:spcBef>
              <a:spcAft>
                <a:spcPts val="600"/>
              </a:spcAft>
              <a:buClr>
                <a:srgbClr val="FF0000"/>
              </a:buClr>
              <a:buFont typeface="Wingdings" panose="05000000000000000000" pitchFamily="2" charset="2"/>
              <a:buChar char="q"/>
              <a:defRPr sz="2400">
                <a:latin typeface="Arial" panose="020B0604020202020204" pitchFamily="34" charset="0"/>
                <a:cs typeface="Arial" panose="020B0604020202020204" pitchFamily="34" charset="0"/>
              </a:defRPr>
            </a:lvl1pPr>
            <a:lvl2pPr marL="685800" indent="-228600">
              <a:spcBef>
                <a:spcPts val="600"/>
              </a:spcBef>
              <a:spcAft>
                <a:spcPts val="600"/>
              </a:spcAft>
              <a:buFont typeface="Wingdings" panose="05000000000000000000" pitchFamily="2" charset="2"/>
              <a:buChar char="v"/>
              <a:defRPr sz="2200">
                <a:latin typeface="Arial" panose="020B0604020202020204" pitchFamily="34" charset="0"/>
                <a:cs typeface="Arial" panose="020B0604020202020204" pitchFamily="34" charset="0"/>
              </a:defRPr>
            </a:lvl2pPr>
            <a:lvl3pPr marL="1143000" indent="-228600">
              <a:spcBef>
                <a:spcPts val="600"/>
              </a:spcBef>
              <a:spcAft>
                <a:spcPts val="600"/>
              </a:spcAft>
              <a:buFont typeface="Wingdings" panose="05000000000000000000" pitchFamily="2" charset="2"/>
              <a:buChar char="ü"/>
              <a:defRPr>
                <a:latin typeface="Arial" panose="020B0604020202020204" pitchFamily="34" charset="0"/>
                <a:cs typeface="Arial" panose="020B0604020202020204" pitchFamily="34" charset="0"/>
              </a:defRPr>
            </a:lvl3pPr>
            <a:lvl4pPr>
              <a:spcBef>
                <a:spcPts val="600"/>
              </a:spcBef>
              <a:spcAft>
                <a:spcPts val="600"/>
              </a:spcAft>
              <a:defRPr>
                <a:latin typeface="Arial" panose="020B0604020202020204" pitchFamily="34" charset="0"/>
                <a:cs typeface="Arial" panose="020B0604020202020204" pitchFamily="34" charset="0"/>
              </a:defRPr>
            </a:lvl4pPr>
            <a:lvl5pPr>
              <a:spcBef>
                <a:spcPts val="600"/>
              </a:spcBef>
              <a:spcAft>
                <a:spcPts val="600"/>
              </a:spcAft>
              <a:defRPr>
                <a:latin typeface="Arial" panose="020B0604020202020204" pitchFamily="34" charset="0"/>
                <a:cs typeface="Arial" panose="020B0604020202020204" pitchFamily="34" charset="0"/>
              </a:defRPr>
            </a:lvl5pPr>
          </a:lstStyle>
          <a:p>
            <a:pPr lvl="0"/>
            <a:r>
              <a:rPr lang="en-US"/>
              <a:t> Edit Master text styles</a:t>
            </a:r>
          </a:p>
          <a:p>
            <a:pPr lvl="1"/>
            <a:r>
              <a:rPr lang="en-US"/>
              <a:t> Second level</a:t>
            </a:r>
          </a:p>
          <a:p>
            <a:pPr lvl="2"/>
            <a:r>
              <a:rPr lang="en-US"/>
              <a:t>Third level</a:t>
            </a:r>
          </a:p>
          <a:p>
            <a:pPr lvl="3"/>
            <a:r>
              <a:rPr lang="en-US"/>
              <a:t>Fourth level</a:t>
            </a:r>
          </a:p>
          <a:p>
            <a:pPr lvl="4"/>
            <a:r>
              <a:rPr lang="en-US"/>
              <a:t>Fifth level</a:t>
            </a:r>
          </a:p>
        </p:txBody>
      </p:sp>
      <p:pic>
        <p:nvPicPr>
          <p:cNvPr id="9" name="Picture 8"/>
          <p:cNvPicPr>
            <a:picLocks noChangeAspect="1"/>
          </p:cNvPicPr>
          <p:nvPr userDrawn="1"/>
        </p:nvPicPr>
        <p:blipFill rotWithShape="1">
          <a:blip r:embed="rId2"/>
          <a:srcRect l="11918" t="12821" r="10245" b="57225"/>
          <a:stretch/>
        </p:blipFill>
        <p:spPr>
          <a:xfrm>
            <a:off x="250541" y="6393673"/>
            <a:ext cx="1499531" cy="381601"/>
          </a:xfrm>
          <a:prstGeom prst="rect">
            <a:avLst/>
          </a:prstGeom>
        </p:spPr>
      </p:pic>
      <p:cxnSp>
        <p:nvCxnSpPr>
          <p:cNvPr id="12" name="Straight Connector 11"/>
          <p:cNvCxnSpPr/>
          <p:nvPr userDrawn="1"/>
        </p:nvCxnSpPr>
        <p:spPr>
          <a:xfrm>
            <a:off x="0" y="6298266"/>
            <a:ext cx="12192000" cy="0"/>
          </a:xfrm>
          <a:prstGeom prst="line">
            <a:avLst/>
          </a:prstGeom>
          <a:ln w="19050" cmpd="dbl">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78662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a:srcRect l="11918" t="12821" r="10245" b="57225"/>
          <a:stretch/>
        </p:blipFill>
        <p:spPr>
          <a:xfrm>
            <a:off x="250541" y="6393673"/>
            <a:ext cx="1499531" cy="381601"/>
          </a:xfrm>
          <a:prstGeom prst="rect">
            <a:avLst/>
          </a:prstGeom>
        </p:spPr>
      </p:pic>
      <p:cxnSp>
        <p:nvCxnSpPr>
          <p:cNvPr id="7" name="Straight Connector 6"/>
          <p:cNvCxnSpPr/>
          <p:nvPr userDrawn="1"/>
        </p:nvCxnSpPr>
        <p:spPr>
          <a:xfrm>
            <a:off x="0" y="6298266"/>
            <a:ext cx="12192000" cy="0"/>
          </a:xfrm>
          <a:prstGeom prst="line">
            <a:avLst/>
          </a:prstGeom>
          <a:ln w="19050" cmpd="dbl">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userDrawn="1"/>
        </p:nvSpPr>
        <p:spPr>
          <a:xfrm>
            <a:off x="11187404" y="6445973"/>
            <a:ext cx="541176" cy="276999"/>
          </a:xfrm>
          <a:prstGeom prst="rect">
            <a:avLst/>
          </a:prstGeom>
          <a:noFill/>
        </p:spPr>
        <p:txBody>
          <a:bodyPr wrap="square" rtlCol="0">
            <a:spAutoFit/>
          </a:bodyPr>
          <a:lstStyle/>
          <a:p>
            <a:pPr algn="r"/>
            <a:fld id="{CEBBE0A2-D4E9-4BBD-9678-915192CD1413}" type="slidenum">
              <a:rPr lang="en-US" sz="1200" smtClean="0">
                <a:solidFill>
                  <a:srgbClr val="002060"/>
                </a:solidFill>
                <a:latin typeface="Arial" panose="020B0604020202020204" pitchFamily="34" charset="0"/>
                <a:cs typeface="Arial" panose="020B0604020202020204" pitchFamily="34" charset="0"/>
              </a:rPr>
              <a:pPr algn="r"/>
              <a:t>‹#›</a:t>
            </a:fld>
            <a:endParaRPr lang="en-US" sz="1200">
              <a:solidFill>
                <a:srgbClr val="002060"/>
              </a:solidFill>
              <a:latin typeface="Arial" panose="020B0604020202020204" pitchFamily="34" charset="0"/>
              <a:cs typeface="Arial" panose="020B0604020202020204" pitchFamily="34" charset="0"/>
            </a:endParaRPr>
          </a:p>
        </p:txBody>
      </p:sp>
      <p:sp>
        <p:nvSpPr>
          <p:cNvPr id="10" name="Title 1"/>
          <p:cNvSpPr>
            <a:spLocks noGrp="1"/>
          </p:cNvSpPr>
          <p:nvPr>
            <p:ph type="title"/>
          </p:nvPr>
        </p:nvSpPr>
        <p:spPr>
          <a:xfrm>
            <a:off x="485192" y="223935"/>
            <a:ext cx="11243388" cy="597159"/>
          </a:xfrm>
        </p:spPr>
        <p:txBody>
          <a:bodyPr>
            <a:normAutofit/>
          </a:bodyPr>
          <a:lstStyle>
            <a:lvl1pPr>
              <a:defRPr sz="3200">
                <a:solidFill>
                  <a:srgbClr val="00B0F0"/>
                </a:solidFill>
                <a:latin typeface="Arial" panose="020B0604020202020204" pitchFamily="34" charset="0"/>
                <a:cs typeface="Arial" panose="020B0604020202020204" pitchFamily="34" charset="0"/>
              </a:defRPr>
            </a:lvl1pPr>
          </a:lstStyle>
          <a:p>
            <a:r>
              <a:rPr lang="en-US"/>
              <a:t>Click to edit Master title style</a:t>
            </a:r>
          </a:p>
        </p:txBody>
      </p:sp>
      <p:sp>
        <p:nvSpPr>
          <p:cNvPr id="11" name="Content Placeholder 2"/>
          <p:cNvSpPr>
            <a:spLocks noGrp="1"/>
          </p:cNvSpPr>
          <p:nvPr>
            <p:ph idx="1"/>
          </p:nvPr>
        </p:nvSpPr>
        <p:spPr>
          <a:xfrm>
            <a:off x="485192" y="1660849"/>
            <a:ext cx="11243388" cy="4516114"/>
          </a:xfrm>
        </p:spPr>
        <p:txBody>
          <a:bodyPr/>
          <a:lstStyle>
            <a:lvl1pPr marL="0" marR="0" indent="0" algn="l" defTabSz="914400" rtl="0" eaLnBrk="1" fontAlgn="auto" latinLnBrk="0" hangingPunct="1">
              <a:lnSpc>
                <a:spcPct val="100000"/>
              </a:lnSpc>
              <a:spcBef>
                <a:spcPts val="1200"/>
              </a:spcBef>
              <a:spcAft>
                <a:spcPts val="1200"/>
              </a:spcAft>
              <a:buClr>
                <a:srgbClr val="FF0000"/>
              </a:buClr>
              <a:buSzPct val="100000"/>
              <a:buFont typeface="Wingdings" panose="05000000000000000000" pitchFamily="2" charset="2"/>
              <a:buNone/>
              <a:tabLst/>
              <a:defRPr sz="2000" baseline="0">
                <a:solidFill>
                  <a:srgbClr val="0070C0"/>
                </a:solidFill>
                <a:latin typeface="Arial" panose="020B0604020202020204" pitchFamily="34" charset="0"/>
                <a:cs typeface="Arial" panose="020B0604020202020204" pitchFamily="34" charset="0"/>
              </a:defRPr>
            </a:lvl1pPr>
            <a:lvl2pPr marL="457200" indent="0">
              <a:spcBef>
                <a:spcPts val="600"/>
              </a:spcBef>
              <a:spcAft>
                <a:spcPts val="600"/>
              </a:spcAft>
              <a:buFont typeface="Wingdings" panose="05000000000000000000" pitchFamily="2" charset="2"/>
              <a:buNone/>
              <a:defRPr sz="2200">
                <a:latin typeface="Arial" panose="020B0604020202020204" pitchFamily="34" charset="0"/>
                <a:cs typeface="Arial" panose="020B0604020202020204" pitchFamily="34" charset="0"/>
              </a:defRPr>
            </a:lvl2pPr>
            <a:lvl3pPr marL="1143000" indent="-228600">
              <a:spcBef>
                <a:spcPts val="600"/>
              </a:spcBef>
              <a:spcAft>
                <a:spcPts val="600"/>
              </a:spcAft>
              <a:buFont typeface="Wingdings" panose="05000000000000000000" pitchFamily="2" charset="2"/>
              <a:buChar char="ü"/>
              <a:defRPr>
                <a:latin typeface="Arial" panose="020B0604020202020204" pitchFamily="34" charset="0"/>
                <a:cs typeface="Arial" panose="020B0604020202020204" pitchFamily="34" charset="0"/>
              </a:defRPr>
            </a:lvl3pPr>
            <a:lvl4pPr>
              <a:spcBef>
                <a:spcPts val="600"/>
              </a:spcBef>
              <a:spcAft>
                <a:spcPts val="600"/>
              </a:spcAft>
              <a:defRPr>
                <a:latin typeface="Arial" panose="020B0604020202020204" pitchFamily="34" charset="0"/>
                <a:cs typeface="Arial" panose="020B0604020202020204" pitchFamily="34" charset="0"/>
              </a:defRPr>
            </a:lvl4pPr>
            <a:lvl5pPr>
              <a:spcBef>
                <a:spcPts val="600"/>
              </a:spcBef>
              <a:spcAft>
                <a:spcPts val="600"/>
              </a:spcAft>
              <a:defRPr>
                <a:latin typeface="Arial" panose="020B0604020202020204" pitchFamily="34" charset="0"/>
                <a:cs typeface="Arial" panose="020B0604020202020204" pitchFamily="34" charset="0"/>
              </a:defRPr>
            </a:lvl5pPr>
          </a:lstStyle>
          <a:p>
            <a:pPr lvl="0"/>
            <a:r>
              <a:rPr lang="en-US"/>
              <a:t>Edit Master text styles</a:t>
            </a:r>
          </a:p>
          <a:p>
            <a:pPr lvl="0"/>
            <a:endParaRPr lang="en-US"/>
          </a:p>
        </p:txBody>
      </p:sp>
    </p:spTree>
    <p:extLst>
      <p:ext uri="{BB962C8B-B14F-4D97-AF65-F5344CB8AC3E}">
        <p14:creationId xmlns:p14="http://schemas.microsoft.com/office/powerpoint/2010/main" val="4360711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
        <p:nvSpPr>
          <p:cNvPr id="6" name="Slide Number Placeholder 5"/>
          <p:cNvSpPr>
            <a:spLocks noGrp="1"/>
          </p:cNvSpPr>
          <p:nvPr>
            <p:ph type="sldNum" sz="quarter" idx="12"/>
          </p:nvPr>
        </p:nvSpPr>
        <p:spPr>
          <a:xfrm>
            <a:off x="8319053" y="6409358"/>
            <a:ext cx="3515137" cy="365125"/>
          </a:xfrm>
          <a:prstGeom prst="rect">
            <a:avLst/>
          </a:prstGeom>
        </p:spPr>
        <p:txBody>
          <a:bodyPr/>
          <a:lstStyle>
            <a:lvl1pPr>
              <a:defRPr>
                <a:latin typeface="Arial" panose="020B0604020202020204" pitchFamily="34" charset="0"/>
              </a:defRPr>
            </a:lvl1pPr>
          </a:lstStyle>
          <a:p>
            <a:fld id="{58CBAF2F-43C8-47BF-82BE-A07F1E2AC552}" type="slidenum">
              <a:rPr lang="en-US" smtClean="0"/>
              <a:pPr/>
              <a:t>‹#›</a:t>
            </a:fld>
            <a:endParaRPr lang="en-US"/>
          </a:p>
        </p:txBody>
      </p:sp>
    </p:spTree>
    <p:extLst>
      <p:ext uri="{BB962C8B-B14F-4D97-AF65-F5344CB8AC3E}">
        <p14:creationId xmlns:p14="http://schemas.microsoft.com/office/powerpoint/2010/main" val="42080828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
        <p:nvSpPr>
          <p:cNvPr id="7" name="Slide Number Placeholder 6"/>
          <p:cNvSpPr>
            <a:spLocks noGrp="1"/>
          </p:cNvSpPr>
          <p:nvPr>
            <p:ph type="sldNum" sz="quarter" idx="12"/>
          </p:nvPr>
        </p:nvSpPr>
        <p:spPr>
          <a:xfrm>
            <a:off x="8319053" y="6409358"/>
            <a:ext cx="3515137" cy="365125"/>
          </a:xfrm>
          <a:prstGeom prst="rect">
            <a:avLst/>
          </a:prstGeom>
        </p:spPr>
        <p:txBody>
          <a:bodyPr/>
          <a:lstStyle>
            <a:lvl1pPr>
              <a:defRPr>
                <a:latin typeface="Arial" panose="020B0604020202020204" pitchFamily="34" charset="0"/>
              </a:defRPr>
            </a:lvl1pPr>
          </a:lstStyle>
          <a:p>
            <a:fld id="{58CBAF2F-43C8-47BF-82BE-A07F1E2AC552}" type="slidenum">
              <a:rPr lang="en-US" smtClean="0"/>
              <a:pPr/>
              <a:t>‹#›</a:t>
            </a:fld>
            <a:endParaRPr lang="en-US"/>
          </a:p>
        </p:txBody>
      </p:sp>
    </p:spTree>
    <p:extLst>
      <p:ext uri="{BB962C8B-B14F-4D97-AF65-F5344CB8AC3E}">
        <p14:creationId xmlns:p14="http://schemas.microsoft.com/office/powerpoint/2010/main" val="40883353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
        <p:nvSpPr>
          <p:cNvPr id="9" name="Slide Number Placeholder 8"/>
          <p:cNvSpPr>
            <a:spLocks noGrp="1"/>
          </p:cNvSpPr>
          <p:nvPr>
            <p:ph type="sldNum" sz="quarter" idx="12"/>
          </p:nvPr>
        </p:nvSpPr>
        <p:spPr>
          <a:xfrm>
            <a:off x="8319053" y="6409358"/>
            <a:ext cx="3515137" cy="365125"/>
          </a:xfrm>
          <a:prstGeom prst="rect">
            <a:avLst/>
          </a:prstGeom>
        </p:spPr>
        <p:txBody>
          <a:bodyPr/>
          <a:lstStyle>
            <a:lvl1pPr>
              <a:defRPr>
                <a:latin typeface="Arial" panose="020B0604020202020204" pitchFamily="34" charset="0"/>
              </a:defRPr>
            </a:lvl1pPr>
          </a:lstStyle>
          <a:p>
            <a:fld id="{58CBAF2F-43C8-47BF-82BE-A07F1E2AC552}" type="slidenum">
              <a:rPr lang="en-US" smtClean="0"/>
              <a:pPr/>
              <a:t>‹#›</a:t>
            </a:fld>
            <a:endParaRPr lang="en-US"/>
          </a:p>
        </p:txBody>
      </p:sp>
    </p:spTree>
    <p:extLst>
      <p:ext uri="{BB962C8B-B14F-4D97-AF65-F5344CB8AC3E}">
        <p14:creationId xmlns:p14="http://schemas.microsoft.com/office/powerpoint/2010/main" val="31287846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Tree>
    <p:extLst>
      <p:ext uri="{BB962C8B-B14F-4D97-AF65-F5344CB8AC3E}">
        <p14:creationId xmlns:p14="http://schemas.microsoft.com/office/powerpoint/2010/main" val="27895978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Tree>
    <p:extLst>
      <p:ext uri="{BB962C8B-B14F-4D97-AF65-F5344CB8AC3E}">
        <p14:creationId xmlns:p14="http://schemas.microsoft.com/office/powerpoint/2010/main" val="2149795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Tree>
    <p:extLst>
      <p:ext uri="{BB962C8B-B14F-4D97-AF65-F5344CB8AC3E}">
        <p14:creationId xmlns:p14="http://schemas.microsoft.com/office/powerpoint/2010/main" val="40240930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Tree>
    <p:extLst>
      <p:ext uri="{BB962C8B-B14F-4D97-AF65-F5344CB8AC3E}">
        <p14:creationId xmlns:p14="http://schemas.microsoft.com/office/powerpoint/2010/main" val="28293678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Tree>
    <p:extLst>
      <p:ext uri="{BB962C8B-B14F-4D97-AF65-F5344CB8AC3E}">
        <p14:creationId xmlns:p14="http://schemas.microsoft.com/office/powerpoint/2010/main" val="28367431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953000" y="4698623"/>
            <a:ext cx="4114800" cy="365125"/>
          </a:xfrm>
          <a:prstGeom prst="rect">
            <a:avLst/>
          </a:prstGeom>
        </p:spPr>
        <p:txBody>
          <a:bodyPr/>
          <a:lstStyle/>
          <a:p>
            <a:r>
              <a:rPr lang="vi-VN"/>
              <a:t>COS135 NHẬP MÔN SƠ SỞ DỮ LIỆU | BÀI 1: Tổng quan về cơ sở dữ liệu </a:t>
            </a:r>
            <a:endParaRPr lang="en-US">
              <a:latin typeface="Arial" panose="020B0604020202020204" pitchFamily="34" charset="0"/>
            </a:endParaRPr>
          </a:p>
        </p:txBody>
      </p:sp>
    </p:spTree>
    <p:extLst>
      <p:ext uri="{BB962C8B-B14F-4D97-AF65-F5344CB8AC3E}">
        <p14:creationId xmlns:p14="http://schemas.microsoft.com/office/powerpoint/2010/main" val="3646468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1.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D6E355-02A3-9658-D3FA-CA0DEA8F93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AA1DD5-2FC4-28E8-E5C7-73562D8E2A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26440185-04E8-CE21-09C9-623A89E9EC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EC5F240-75B3-36DA-5B4B-B9214E138C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47C1889-967C-4CCE-AB8F-72747BC45B63}" type="slidenum">
              <a:rPr lang="en-US" smtClean="0"/>
              <a:t>‹#›</a:t>
            </a:fld>
            <a:endParaRPr lang="en-US"/>
          </a:p>
        </p:txBody>
      </p:sp>
      <p:cxnSp>
        <p:nvCxnSpPr>
          <p:cNvPr id="8" name="Straight Connector 7">
            <a:extLst>
              <a:ext uri="{FF2B5EF4-FFF2-40B4-BE49-F238E27FC236}">
                <a16:creationId xmlns:a16="http://schemas.microsoft.com/office/drawing/2014/main" id="{CF8641CF-B514-C68C-5411-BB0F3BA56E99}"/>
              </a:ext>
            </a:extLst>
          </p:cNvPr>
          <p:cNvCxnSpPr/>
          <p:nvPr userDrawn="1"/>
        </p:nvCxnSpPr>
        <p:spPr>
          <a:xfrm flipV="1">
            <a:off x="0" y="6291072"/>
            <a:ext cx="12192000" cy="6527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9" name="Picture 8">
            <a:extLst>
              <a:ext uri="{FF2B5EF4-FFF2-40B4-BE49-F238E27FC236}">
                <a16:creationId xmlns:a16="http://schemas.microsoft.com/office/drawing/2014/main" id="{C449F41A-5B99-1F1D-016C-5F4E9167282C}"/>
              </a:ext>
            </a:extLst>
          </p:cNvPr>
          <p:cNvPicPr>
            <a:picLocks noChangeAspect="1"/>
          </p:cNvPicPr>
          <p:nvPr userDrawn="1"/>
        </p:nvPicPr>
        <p:blipFill rotWithShape="1">
          <a:blip r:embed="rId14"/>
          <a:srcRect l="11918" t="12821" r="10245" b="57225"/>
          <a:stretch/>
        </p:blipFill>
        <p:spPr>
          <a:xfrm>
            <a:off x="88434" y="6424739"/>
            <a:ext cx="1499531" cy="381601"/>
          </a:xfrm>
          <a:prstGeom prst="rect">
            <a:avLst/>
          </a:prstGeom>
        </p:spPr>
      </p:pic>
    </p:spTree>
    <p:extLst>
      <p:ext uri="{BB962C8B-B14F-4D97-AF65-F5344CB8AC3E}">
        <p14:creationId xmlns:p14="http://schemas.microsoft.com/office/powerpoint/2010/main" val="24004526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a:extLst>
              <a:ext uri="{FF2B5EF4-FFF2-40B4-BE49-F238E27FC236}">
                <a16:creationId xmlns:a16="http://schemas.microsoft.com/office/drawing/2014/main" id="{5816B7F9-E585-4FD2-CB0D-F1877F54117B}"/>
              </a:ext>
            </a:extLst>
          </p:cNvPr>
          <p:cNvPicPr>
            <a:picLocks noChangeAspect="1"/>
          </p:cNvPicPr>
          <p:nvPr userDrawn="1"/>
        </p:nvPicPr>
        <p:blipFill rotWithShape="1">
          <a:blip r:embed="rId16"/>
          <a:srcRect l="11918" t="12821" r="10245" b="57225"/>
          <a:stretch/>
        </p:blipFill>
        <p:spPr>
          <a:xfrm>
            <a:off x="250541" y="6393673"/>
            <a:ext cx="1499531" cy="381601"/>
          </a:xfrm>
          <a:prstGeom prst="rect">
            <a:avLst/>
          </a:prstGeom>
        </p:spPr>
      </p:pic>
      <p:cxnSp>
        <p:nvCxnSpPr>
          <p:cNvPr id="8" name="Straight Connector 7">
            <a:extLst>
              <a:ext uri="{FF2B5EF4-FFF2-40B4-BE49-F238E27FC236}">
                <a16:creationId xmlns:a16="http://schemas.microsoft.com/office/drawing/2014/main" id="{80988E7E-B398-4A71-F421-06F1CDBD454F}"/>
              </a:ext>
            </a:extLst>
          </p:cNvPr>
          <p:cNvCxnSpPr/>
          <p:nvPr userDrawn="1"/>
        </p:nvCxnSpPr>
        <p:spPr>
          <a:xfrm>
            <a:off x="0" y="6298266"/>
            <a:ext cx="12192000" cy="0"/>
          </a:xfrm>
          <a:prstGeom prst="line">
            <a:avLst/>
          </a:prstGeom>
          <a:ln w="19050" cmpd="dbl">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A4F937E-0BAD-CACE-6605-D30C19AF8576}"/>
              </a:ext>
            </a:extLst>
          </p:cNvPr>
          <p:cNvSpPr txBox="1"/>
          <p:nvPr userDrawn="1"/>
        </p:nvSpPr>
        <p:spPr>
          <a:xfrm>
            <a:off x="2761488" y="6399807"/>
            <a:ext cx="6931152" cy="369332"/>
          </a:xfrm>
          <a:prstGeom prst="rect">
            <a:avLst/>
          </a:prstGeom>
          <a:noFill/>
        </p:spPr>
        <p:txBody>
          <a:bodyPr wrap="square" rtlCol="0">
            <a:spAutoFit/>
          </a:bodyPr>
          <a:lstStyle/>
          <a:p>
            <a:pPr algn="ctr"/>
            <a:r>
              <a:rPr lang="en-US" b="1">
                <a:solidFill>
                  <a:schemeClr val="accent1"/>
                </a:solidFill>
              </a:rPr>
              <a:t>CMP385</a:t>
            </a:r>
            <a:r>
              <a:rPr lang="en-US">
                <a:solidFill>
                  <a:schemeClr val="accent1"/>
                </a:solidFill>
              </a:rPr>
              <a:t> – THỰC HÀNH PHÂN TÍCH THIẾT KẾ HỆ THỐNG – Bài 1.</a:t>
            </a:r>
          </a:p>
        </p:txBody>
      </p:sp>
    </p:spTree>
    <p:extLst>
      <p:ext uri="{BB962C8B-B14F-4D97-AF65-F5344CB8AC3E}">
        <p14:creationId xmlns:p14="http://schemas.microsoft.com/office/powerpoint/2010/main" val="341997478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Lst>
  <p:hf sldNum="0" hd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708" y="186361"/>
            <a:ext cx="12009938" cy="1833145"/>
          </a:xfrm>
        </p:spPr>
        <p:txBody>
          <a:bodyPr>
            <a:normAutofit/>
          </a:bodyPr>
          <a:lstStyle/>
          <a:p>
            <a:r>
              <a:rPr lang="en-US" b="1">
                <a:solidFill>
                  <a:schemeClr val="accent6">
                    <a:lumMod val="50000"/>
                  </a:schemeClr>
                </a:solidFill>
              </a:rPr>
              <a:t>CMP385</a:t>
            </a:r>
            <a:br>
              <a:rPr lang="en-US" sz="4000" b="1" dirty="0">
                <a:solidFill>
                  <a:srgbClr val="0000FF"/>
                </a:solidFill>
                <a:latin typeface="Arial" panose="020B0604020202020204" pitchFamily="34" charset="0"/>
                <a:cs typeface="Arial" panose="020B0604020202020204" pitchFamily="34" charset="0"/>
              </a:rPr>
            </a:br>
            <a:r>
              <a:rPr lang="en-US" sz="3200" b="1" dirty="0">
                <a:solidFill>
                  <a:srgbClr val="0000FF"/>
                </a:solidFill>
              </a:rPr>
              <a:t>THỰC HÀNH PHÂN TÍCH THIẾT </a:t>
            </a:r>
            <a:r>
              <a:rPr lang="en-US" sz="3200" b="1">
                <a:solidFill>
                  <a:srgbClr val="0000FF"/>
                </a:solidFill>
              </a:rPr>
              <a:t>KẾ HỆ THỐNG</a:t>
            </a:r>
            <a:br>
              <a:rPr lang="en-US" sz="3200" b="1" dirty="0">
                <a:solidFill>
                  <a:srgbClr val="0000FF"/>
                </a:solidFill>
              </a:rPr>
            </a:br>
            <a:r>
              <a:rPr lang="en-US" sz="3200" b="1" dirty="0">
                <a:solidFill>
                  <a:schemeClr val="accent1">
                    <a:lumMod val="75000"/>
                  </a:schemeClr>
                </a:solidFill>
              </a:rPr>
              <a:t>PRACTICE</a:t>
            </a:r>
            <a:r>
              <a:rPr lang="en-US" sz="3200" b="1">
                <a:solidFill>
                  <a:schemeClr val="accent1">
                    <a:lumMod val="75000"/>
                  </a:schemeClr>
                </a:solidFill>
              </a:rPr>
              <a:t>: SYSTEM </a:t>
            </a:r>
            <a:r>
              <a:rPr lang="en-US" sz="3200" b="1" dirty="0">
                <a:solidFill>
                  <a:schemeClr val="accent1">
                    <a:lumMod val="75000"/>
                  </a:schemeClr>
                </a:solidFill>
              </a:rPr>
              <a:t>ANALYSIS AND DESIGN</a:t>
            </a:r>
          </a:p>
        </p:txBody>
      </p:sp>
      <p:sp>
        <p:nvSpPr>
          <p:cNvPr id="4" name="Text Placeholder 3"/>
          <p:cNvSpPr>
            <a:spLocks noGrp="1"/>
          </p:cNvSpPr>
          <p:nvPr>
            <p:ph type="body" sz="quarter" idx="3"/>
          </p:nvPr>
        </p:nvSpPr>
        <p:spPr>
          <a:xfrm>
            <a:off x="256678" y="1957675"/>
            <a:ext cx="11617998" cy="1569660"/>
          </a:xfrm>
        </p:spPr>
        <p:txBody>
          <a:bodyPr>
            <a:normAutofit/>
          </a:bodyPr>
          <a:lstStyle/>
          <a:p>
            <a:pPr algn="l"/>
            <a:r>
              <a:rPr lang="en-US" sz="3200" dirty="0">
                <a:latin typeface="Arial" panose="020B0604020202020204" pitchFamily="34" charset="0"/>
                <a:cs typeface="Arial" panose="020B0604020202020204" pitchFamily="34" charset="0"/>
              </a:rPr>
              <a:t>BÀI 1: </a:t>
            </a:r>
          </a:p>
          <a:p>
            <a:pPr marL="914400" lvl="1" indent="-457200">
              <a:buFont typeface="Arial" panose="020B0604020202020204" pitchFamily="34" charset="0"/>
              <a:buChar char="•"/>
            </a:pPr>
            <a:r>
              <a:rPr lang="en-US" sz="2800" dirty="0">
                <a:solidFill>
                  <a:schemeClr val="accent1">
                    <a:lumMod val="75000"/>
                  </a:schemeClr>
                </a:solidFill>
                <a:latin typeface="Arial" panose="020B0604020202020204" pitchFamily="34" charset="0"/>
                <a:cs typeface="Arial" panose="020B0604020202020204" pitchFamily="34" charset="0"/>
              </a:rPr>
              <a:t>HƯỚNG DẪN SỬ DỤNG PHẦN MỀM</a:t>
            </a:r>
          </a:p>
          <a:p>
            <a:pPr marL="914400" lvl="1" indent="-457200">
              <a:buFont typeface="Arial" panose="020B0604020202020204" pitchFamily="34" charset="0"/>
              <a:buChar char="•"/>
            </a:pPr>
            <a:r>
              <a:rPr lang="en-US" sz="2800" dirty="0">
                <a:solidFill>
                  <a:schemeClr val="accent1">
                    <a:lumMod val="75000"/>
                  </a:schemeClr>
                </a:solidFill>
                <a:cs typeface="Arial" panose="020B0604020202020204" pitchFamily="34" charset="0"/>
              </a:rPr>
              <a:t>HỆ THỐNG QUẢN LÝ THƯ VIỆN</a:t>
            </a:r>
          </a:p>
        </p:txBody>
      </p:sp>
      <p:sp>
        <p:nvSpPr>
          <p:cNvPr id="3" name="Rectangle 2"/>
          <p:cNvSpPr/>
          <p:nvPr/>
        </p:nvSpPr>
        <p:spPr>
          <a:xfrm>
            <a:off x="256678" y="4403374"/>
            <a:ext cx="7519763" cy="1569660"/>
          </a:xfrm>
          <a:prstGeom prst="rect">
            <a:avLst/>
          </a:prstGeom>
        </p:spPr>
        <p:txBody>
          <a:bodyPr wrap="square">
            <a:spAutoFit/>
          </a:bodyPr>
          <a:lstStyle/>
          <a:p>
            <a:r>
              <a:rPr lang="en-US" altLang="en-US" sz="2400" dirty="0" err="1">
                <a:latin typeface="Arial" panose="020B0604020202020204" pitchFamily="34" charset="0"/>
                <a:cs typeface="Arial" panose="020B0604020202020204" pitchFamily="34" charset="0"/>
              </a:rPr>
              <a:t>Thông</a:t>
            </a:r>
            <a:r>
              <a:rPr lang="en-US" altLang="en-US" sz="2400" dirty="0">
                <a:latin typeface="Arial" panose="020B0604020202020204" pitchFamily="34" charset="0"/>
                <a:cs typeface="Arial" panose="020B0604020202020204" pitchFamily="34" charset="0"/>
              </a:rPr>
              <a:t> tin GV: </a:t>
            </a:r>
            <a:r>
              <a:rPr lang="vi-VN" altLang="en-US" sz="2400">
                <a:latin typeface="Arial" panose="020B0604020202020204" pitchFamily="34" charset="0"/>
                <a:cs typeface="Arial" panose="020B0604020202020204" pitchFamily="34" charset="0"/>
              </a:rPr>
              <a:t>	</a:t>
            </a:r>
            <a:r>
              <a:rPr lang="en-US" altLang="en-US" sz="2400">
                <a:latin typeface="Arial" panose="020B0604020202020204" pitchFamily="34" charset="0"/>
                <a:cs typeface="Arial" panose="020B0604020202020204" pitchFamily="34" charset="0"/>
              </a:rPr>
              <a:t>KVH0160676</a:t>
            </a:r>
            <a:endParaRPr lang="vi-VN" altLang="en-US" sz="2400" dirty="0">
              <a:latin typeface="Arial" panose="020B0604020202020204" pitchFamily="34" charset="0"/>
              <a:cs typeface="Arial" panose="020B0604020202020204" pitchFamily="34" charset="0"/>
            </a:endParaRPr>
          </a:p>
          <a:p>
            <a:r>
              <a:rPr lang="vi-VN" altLang="en-US" sz="2400" dirty="0">
                <a:latin typeface="Arial" panose="020B0604020202020204" pitchFamily="34" charset="0"/>
                <a:cs typeface="Arial" panose="020B0604020202020204" pitchFamily="34" charset="0"/>
              </a:rPr>
              <a:t>		</a:t>
            </a:r>
            <a:r>
              <a:rPr lang="vi-VN" altLang="en-US" sz="2400">
                <a:latin typeface="Arial" panose="020B0604020202020204" pitchFamily="34" charset="0"/>
                <a:cs typeface="Arial" panose="020B0604020202020204" pitchFamily="34" charset="0"/>
              </a:rPr>
              <a:t>	</a:t>
            </a:r>
            <a:r>
              <a:rPr lang="en-US" altLang="en-US" sz="2400">
                <a:latin typeface="Arial" panose="020B0604020202020204" pitchFamily="34" charset="0"/>
                <a:cs typeface="Arial" panose="020B0604020202020204" pitchFamily="34" charset="0"/>
              </a:rPr>
              <a:t>Võ Hoàng Khang</a:t>
            </a:r>
            <a:endParaRPr lang="en-US" altLang="en-US" sz="2400" dirty="0">
              <a:latin typeface="Arial" panose="020B0604020202020204" pitchFamily="34" charset="0"/>
              <a:cs typeface="Arial" panose="020B0604020202020204" pitchFamily="34" charset="0"/>
            </a:endParaRPr>
          </a:p>
          <a:p>
            <a:r>
              <a:rPr lang="en-US" altLang="en-US" sz="2400" dirty="0">
                <a:latin typeface="Arial" panose="020B0604020202020204" pitchFamily="34" charset="0"/>
                <a:cs typeface="Arial" panose="020B0604020202020204" pitchFamily="34" charset="0"/>
              </a:rPr>
              <a:t>          </a:t>
            </a:r>
            <a:r>
              <a:rPr lang="vi-VN" altLang="en-US" sz="2400" dirty="0">
                <a:latin typeface="Arial" panose="020B0604020202020204" pitchFamily="34" charset="0"/>
                <a:cs typeface="Arial" panose="020B0604020202020204" pitchFamily="34" charset="0"/>
              </a:rPr>
              <a:t>		</a:t>
            </a:r>
            <a:r>
              <a:rPr lang="vi-VN" altLang="en-US" sz="2400">
                <a:latin typeface="Arial" panose="020B0604020202020204" pitchFamily="34" charset="0"/>
                <a:cs typeface="Arial" panose="020B0604020202020204" pitchFamily="34" charset="0"/>
              </a:rPr>
              <a:t>	</a:t>
            </a:r>
            <a:r>
              <a:rPr lang="en-US" altLang="en-US" sz="2400">
                <a:latin typeface="Arial" panose="020B0604020202020204" pitchFamily="34" charset="0"/>
                <a:cs typeface="Arial" panose="020B0604020202020204" pitchFamily="34" charset="0"/>
              </a:rPr>
              <a:t>vh.khang@</a:t>
            </a:r>
            <a:r>
              <a:rPr lang="en-US" altLang="en-US" sz="2400" dirty="0">
                <a:latin typeface="Arial" panose="020B0604020202020204" pitchFamily="34" charset="0"/>
                <a:cs typeface="Arial" panose="020B0604020202020204" pitchFamily="34" charset="0"/>
              </a:rPr>
              <a:t>hutech.edu.vn</a:t>
            </a:r>
          </a:p>
          <a:p>
            <a:r>
              <a:rPr lang="en-US" altLang="en-US" sz="2400" dirty="0">
                <a:latin typeface="Arial" panose="020B0604020202020204" pitchFamily="34" charset="0"/>
                <a:cs typeface="Arial" panose="020B0604020202020204" pitchFamily="34" charset="0"/>
              </a:rPr>
              <a:t>          </a:t>
            </a:r>
            <a:r>
              <a:rPr lang="vi-VN" altLang="en-US" sz="2400" dirty="0">
                <a:latin typeface="Arial" panose="020B0604020202020204" pitchFamily="34" charset="0"/>
                <a:cs typeface="Arial" panose="020B0604020202020204" pitchFamily="34" charset="0"/>
              </a:rPr>
              <a:t>		</a:t>
            </a:r>
            <a:r>
              <a:rPr lang="vi-VN" altLang="en-US" sz="2400">
                <a:latin typeface="Arial" panose="020B0604020202020204" pitchFamily="34" charset="0"/>
                <a:cs typeface="Arial" panose="020B0604020202020204" pitchFamily="34" charset="0"/>
              </a:rPr>
              <a:t>	</a:t>
            </a:r>
            <a:r>
              <a:rPr lang="en-US" altLang="en-US" sz="2400">
                <a:latin typeface="Times New Roman" panose="02020603050405020304" pitchFamily="18" charset="0"/>
                <a:cs typeface="Times New Roman" panose="02020603050405020304" pitchFamily="18" charset="0"/>
              </a:rPr>
              <a:t>0918551966</a:t>
            </a: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6034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CF232E-4F9D-16AF-CAF8-F435F0F68DE9}"/>
              </a:ext>
            </a:extLst>
          </p:cNvPr>
          <p:cNvSpPr>
            <a:spLocks noGrp="1"/>
          </p:cNvSpPr>
          <p:nvPr>
            <p:ph type="sldNum" sz="quarter" idx="12"/>
          </p:nvPr>
        </p:nvSpPr>
        <p:spPr/>
        <p:txBody>
          <a:bodyPr/>
          <a:lstStyle/>
          <a:p>
            <a:fld id="{C47C1889-967C-4CCE-AB8F-72747BC45B63}" type="slidenum">
              <a:rPr lang="en-US" smtClean="0"/>
              <a:t>2</a:t>
            </a:fld>
            <a:endParaRPr lang="en-US"/>
          </a:p>
        </p:txBody>
      </p:sp>
      <p:sp>
        <p:nvSpPr>
          <p:cNvPr id="8" name="TextBox 7">
            <a:extLst>
              <a:ext uri="{FF2B5EF4-FFF2-40B4-BE49-F238E27FC236}">
                <a16:creationId xmlns:a16="http://schemas.microsoft.com/office/drawing/2014/main" id="{D1FFEDFB-8BF8-95F4-6831-6E8075150039}"/>
              </a:ext>
            </a:extLst>
          </p:cNvPr>
          <p:cNvSpPr txBox="1"/>
          <p:nvPr/>
        </p:nvSpPr>
        <p:spPr>
          <a:xfrm>
            <a:off x="513944" y="136525"/>
            <a:ext cx="10839856" cy="369332"/>
          </a:xfrm>
          <a:prstGeom prst="rect">
            <a:avLst/>
          </a:prstGeom>
          <a:noFill/>
        </p:spPr>
        <p:txBody>
          <a:bodyPr wrap="square" rtlCol="0">
            <a:spAutoFit/>
          </a:bodyPr>
          <a:lstStyle/>
          <a:p>
            <a:pPr algn="ctr"/>
            <a:r>
              <a:rPr lang="en-US" b="1">
                <a:solidFill>
                  <a:srgbClr val="FF0000"/>
                </a:solidFill>
                <a:latin typeface="Arial" panose="020B0604020202020204" pitchFamily="34" charset="0"/>
                <a:cs typeface="Arial" panose="020B0604020202020204" pitchFamily="34" charset="0"/>
              </a:rPr>
              <a:t>BÀI 1: HƯỚNG DẪN SỬ DỤNG PHẦN MỀM CASE STUDIO 2.25 + HỆ THỐNG QUẢN LÝ THƯ VIỆN</a:t>
            </a:r>
          </a:p>
        </p:txBody>
      </p:sp>
      <p:pic>
        <p:nvPicPr>
          <p:cNvPr id="9" name="Picture 8" descr="A screenshot of a computer program&#10;&#10;Description automatically generated">
            <a:extLst>
              <a:ext uri="{FF2B5EF4-FFF2-40B4-BE49-F238E27FC236}">
                <a16:creationId xmlns:a16="http://schemas.microsoft.com/office/drawing/2014/main" id="{09BB8D34-DCD6-7B3A-B105-C4AC04501E68}"/>
              </a:ext>
            </a:extLst>
          </p:cNvPr>
          <p:cNvPicPr>
            <a:picLocks noChangeAspect="1"/>
          </p:cNvPicPr>
          <p:nvPr/>
        </p:nvPicPr>
        <p:blipFill>
          <a:blip r:embed="rId2"/>
          <a:stretch>
            <a:fillRect/>
          </a:stretch>
        </p:blipFill>
        <p:spPr>
          <a:xfrm>
            <a:off x="233130" y="612862"/>
            <a:ext cx="4504240" cy="3098799"/>
          </a:xfrm>
          <a:prstGeom prst="rect">
            <a:avLst/>
          </a:prstGeom>
        </p:spPr>
      </p:pic>
      <p:sp>
        <p:nvSpPr>
          <p:cNvPr id="10" name="TextBox 9">
            <a:extLst>
              <a:ext uri="{FF2B5EF4-FFF2-40B4-BE49-F238E27FC236}">
                <a16:creationId xmlns:a16="http://schemas.microsoft.com/office/drawing/2014/main" id="{5EA0B46F-E041-2CE3-99CE-A47B5ED8D198}"/>
              </a:ext>
            </a:extLst>
          </p:cNvPr>
          <p:cNvSpPr txBox="1"/>
          <p:nvPr/>
        </p:nvSpPr>
        <p:spPr>
          <a:xfrm>
            <a:off x="4857678" y="855049"/>
            <a:ext cx="7101192" cy="1638013"/>
          </a:xfrm>
          <a:prstGeom prst="rect">
            <a:avLst/>
          </a:prstGeom>
          <a:noFill/>
        </p:spPr>
        <p:txBody>
          <a:bodyPr wrap="square" rtlCol="0">
            <a:spAutoFit/>
          </a:bodyPr>
          <a:lstStyle/>
          <a:p>
            <a:pPr algn="just">
              <a:lnSpc>
                <a:spcPct val="107000"/>
              </a:lnSpc>
              <a:spcAft>
                <a:spcPts val="800"/>
              </a:spcAft>
            </a:pPr>
            <a:r>
              <a:rPr lang="it-IT" sz="1800" kern="100">
                <a:effectLst/>
                <a:latin typeface="Arial" panose="020B0604020202020204" pitchFamily="34" charset="0"/>
                <a:ea typeface="Aptos" panose="020B0004020202020204" pitchFamily="34" charset="0"/>
                <a:cs typeface="Arial" panose="020B0604020202020204" pitchFamily="34" charset="0"/>
              </a:rPr>
              <a:t>SV có thể download phiên bản sau của Case Studio là Toad Data Modeler đễ hỗ trợ tốt cho các phiên bản mới nhất của các database như: SQL Server, Oracle, DB2, PostgreeSQL...</a:t>
            </a:r>
            <a:endParaRPr lang="en-US" sz="1800" kern="100">
              <a:effectLst/>
              <a:latin typeface="Arial" panose="020B0604020202020204" pitchFamily="34" charset="0"/>
              <a:ea typeface="Aptos" panose="020B0004020202020204" pitchFamily="34" charset="0"/>
              <a:cs typeface="Arial" panose="020B0604020202020204" pitchFamily="34" charset="0"/>
            </a:endParaRPr>
          </a:p>
          <a:p>
            <a:pPr algn="just"/>
            <a:r>
              <a:rPr lang="it-IT" sz="1800">
                <a:effectLst/>
                <a:latin typeface="Arial" panose="020B0604020202020204" pitchFamily="34" charset="0"/>
                <a:ea typeface="Aptos" panose="020B0004020202020204" pitchFamily="34" charset="0"/>
                <a:cs typeface="Arial" panose="020B0604020202020204" pitchFamily="34" charset="0"/>
              </a:rPr>
              <a:t>Với các phần mềm tương tự khác, GV giảng dạy sẽ giới thiệu trong giờ học lý thuyết.</a:t>
            </a:r>
            <a:endParaRPr lang="en-US">
              <a:latin typeface="Arial" panose="020B0604020202020204" pitchFamily="34" charset="0"/>
              <a:cs typeface="Arial" panose="020B0604020202020204" pitchFamily="34" charset="0"/>
            </a:endParaRPr>
          </a:p>
        </p:txBody>
      </p:sp>
      <p:pic>
        <p:nvPicPr>
          <p:cNvPr id="11" name="Picture 10" descr="A screenshot of a computer&#10;&#10;Description automatically generated">
            <a:extLst>
              <a:ext uri="{FF2B5EF4-FFF2-40B4-BE49-F238E27FC236}">
                <a16:creationId xmlns:a16="http://schemas.microsoft.com/office/drawing/2014/main" id="{D301EF72-150C-5DDC-6301-2EDB818F1A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2529214"/>
            <a:ext cx="4862902" cy="3628673"/>
          </a:xfrm>
          <a:prstGeom prst="rect">
            <a:avLst/>
          </a:prstGeom>
        </p:spPr>
      </p:pic>
    </p:spTree>
    <p:extLst>
      <p:ext uri="{BB962C8B-B14F-4D97-AF65-F5344CB8AC3E}">
        <p14:creationId xmlns:p14="http://schemas.microsoft.com/office/powerpoint/2010/main" val="2029587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CF232E-4F9D-16AF-CAF8-F435F0F68DE9}"/>
              </a:ext>
            </a:extLst>
          </p:cNvPr>
          <p:cNvSpPr>
            <a:spLocks noGrp="1"/>
          </p:cNvSpPr>
          <p:nvPr>
            <p:ph type="sldNum" sz="quarter" idx="12"/>
          </p:nvPr>
        </p:nvSpPr>
        <p:spPr/>
        <p:txBody>
          <a:bodyPr/>
          <a:lstStyle/>
          <a:p>
            <a:fld id="{C47C1889-967C-4CCE-AB8F-72747BC45B63}" type="slidenum">
              <a:rPr lang="en-US" smtClean="0"/>
              <a:t>3</a:t>
            </a:fld>
            <a:endParaRPr lang="en-US"/>
          </a:p>
        </p:txBody>
      </p:sp>
      <p:sp>
        <p:nvSpPr>
          <p:cNvPr id="8" name="TextBox 7">
            <a:extLst>
              <a:ext uri="{FF2B5EF4-FFF2-40B4-BE49-F238E27FC236}">
                <a16:creationId xmlns:a16="http://schemas.microsoft.com/office/drawing/2014/main" id="{D1FFEDFB-8BF8-95F4-6831-6E8075150039}"/>
              </a:ext>
            </a:extLst>
          </p:cNvPr>
          <p:cNvSpPr txBox="1"/>
          <p:nvPr/>
        </p:nvSpPr>
        <p:spPr>
          <a:xfrm>
            <a:off x="416667" y="136525"/>
            <a:ext cx="10839856" cy="400110"/>
          </a:xfrm>
          <a:prstGeom prst="rect">
            <a:avLst/>
          </a:prstGeom>
          <a:noFill/>
        </p:spPr>
        <p:txBody>
          <a:bodyPr wrap="square" rtlCol="0">
            <a:spAutoFit/>
          </a:bodyPr>
          <a:lstStyle/>
          <a:p>
            <a:pPr algn="ctr"/>
            <a:r>
              <a:rPr lang="en-US" sz="2000" b="1">
                <a:solidFill>
                  <a:srgbClr val="FF0000"/>
                </a:solidFill>
                <a:latin typeface="Arial" panose="020B0604020202020204" pitchFamily="34" charset="0"/>
                <a:cs typeface="Arial" panose="020B0604020202020204" pitchFamily="34" charset="0"/>
              </a:rPr>
              <a:t>BÀI 1: HƯỚNG DẪN SỬ DỤNG PHẦN MỀM CASE STUDIO 2.25</a:t>
            </a:r>
          </a:p>
        </p:txBody>
      </p:sp>
      <p:sp>
        <p:nvSpPr>
          <p:cNvPr id="10" name="TextBox 9">
            <a:extLst>
              <a:ext uri="{FF2B5EF4-FFF2-40B4-BE49-F238E27FC236}">
                <a16:creationId xmlns:a16="http://schemas.microsoft.com/office/drawing/2014/main" id="{5EA0B46F-E041-2CE3-99CE-A47B5ED8D198}"/>
              </a:ext>
            </a:extLst>
          </p:cNvPr>
          <p:cNvSpPr txBox="1"/>
          <p:nvPr/>
        </p:nvSpPr>
        <p:spPr>
          <a:xfrm>
            <a:off x="145914" y="590382"/>
            <a:ext cx="11644009" cy="5016758"/>
          </a:xfrm>
          <a:prstGeom prst="rect">
            <a:avLst/>
          </a:prstGeom>
          <a:noFill/>
        </p:spPr>
        <p:txBody>
          <a:bodyPr wrap="square" rtlCol="0">
            <a:spAutoFit/>
          </a:bodyPr>
          <a:lstStyle/>
          <a:p>
            <a:pPr marL="342900" lvl="0" indent="-342900">
              <a:lnSpc>
                <a:spcPct val="150000"/>
              </a:lnSpc>
              <a:spcAft>
                <a:spcPts val="800"/>
              </a:spcAft>
              <a:buFont typeface="+mj-lt"/>
              <a:buAutoNum type="romanUcParenR"/>
              <a:tabLst>
                <a:tab pos="342900" algn="l"/>
              </a:tabLst>
            </a:pPr>
            <a:r>
              <a:rPr lang="en-US" kern="100">
                <a:effectLst/>
                <a:latin typeface="Arial" panose="020B0604020202020204" pitchFamily="34" charset="0"/>
                <a:ea typeface="Aptos" panose="020B0004020202020204" pitchFamily="34" charset="0"/>
                <a:cs typeface="Arial" panose="020B0604020202020204" pitchFamily="34" charset="0"/>
              </a:rPr>
              <a:t>Giới thiệu:</a:t>
            </a:r>
          </a:p>
          <a:p>
            <a:pPr lvl="1" algn="just">
              <a:lnSpc>
                <a:spcPct val="150000"/>
              </a:lnSpc>
              <a:spcAft>
                <a:spcPts val="800"/>
              </a:spcAft>
              <a:tabLst>
                <a:tab pos="571500" algn="l"/>
              </a:tabLst>
            </a:pPr>
            <a:r>
              <a:rPr lang="en-US" kern="100">
                <a:effectLst/>
                <a:latin typeface="Arial" panose="020B0604020202020204" pitchFamily="34" charset="0"/>
                <a:ea typeface="Aptos" panose="020B0004020202020204" pitchFamily="34" charset="0"/>
                <a:cs typeface="Arial" panose="020B0604020202020204" pitchFamily="34" charset="0"/>
              </a:rPr>
              <a:t>- Case Studio là phần mềm hỗ trợ việc phân tích và thiết kế hệ thống thông tin.</a:t>
            </a:r>
          </a:p>
          <a:p>
            <a:pPr lvl="1">
              <a:lnSpc>
                <a:spcPct val="150000"/>
              </a:lnSpc>
              <a:spcAft>
                <a:spcPts val="800"/>
              </a:spcAft>
              <a:tabLst>
                <a:tab pos="571500" algn="l"/>
              </a:tabLst>
            </a:pPr>
            <a:r>
              <a:rPr lang="en-US" kern="100">
                <a:effectLst/>
                <a:latin typeface="Arial" panose="020B0604020202020204" pitchFamily="34" charset="0"/>
                <a:ea typeface="Aptos" panose="020B0004020202020204" pitchFamily="34" charset="0"/>
                <a:cs typeface="Arial" panose="020B0604020202020204" pitchFamily="34" charset="0"/>
              </a:rPr>
              <a:t>- Nhà sản xuất: Quest Software.</a:t>
            </a:r>
          </a:p>
          <a:p>
            <a:pPr lvl="1">
              <a:lnSpc>
                <a:spcPct val="150000"/>
              </a:lnSpc>
              <a:spcAft>
                <a:spcPts val="800"/>
              </a:spcAft>
              <a:tabLst>
                <a:tab pos="571500" algn="l"/>
              </a:tabLst>
            </a:pPr>
            <a:r>
              <a:rPr lang="en-US" kern="100">
                <a:effectLst/>
                <a:latin typeface="Arial" panose="020B0604020202020204" pitchFamily="34" charset="0"/>
                <a:ea typeface="Aptos" panose="020B0004020202020204" pitchFamily="34" charset="0"/>
                <a:cs typeface="Arial" panose="020B0604020202020204" pitchFamily="34" charset="0"/>
              </a:rPr>
              <a:t>- Cài đặt: Xem trong file hướng dẫn.</a:t>
            </a:r>
          </a:p>
          <a:p>
            <a:pPr marL="342900" lvl="0" indent="-342900">
              <a:lnSpc>
                <a:spcPct val="150000"/>
              </a:lnSpc>
              <a:spcAft>
                <a:spcPts val="800"/>
              </a:spcAft>
              <a:buFont typeface="+mj-lt"/>
              <a:buAutoNum type="romanUcParenR"/>
              <a:tabLst>
                <a:tab pos="342900" algn="l"/>
              </a:tabLst>
            </a:pPr>
            <a:r>
              <a:rPr lang="en-US" kern="100">
                <a:effectLst/>
                <a:latin typeface="Arial" panose="020B0604020202020204" pitchFamily="34" charset="0"/>
                <a:ea typeface="Aptos" panose="020B0004020202020204" pitchFamily="34" charset="0"/>
                <a:cs typeface="Arial" panose="020B0604020202020204" pitchFamily="34" charset="0"/>
              </a:rPr>
              <a:t>Sử dụng:</a:t>
            </a:r>
          </a:p>
          <a:p>
            <a:pPr marL="742950" lvl="1" indent="-285750">
              <a:lnSpc>
                <a:spcPct val="150000"/>
              </a:lnSpc>
              <a:spcAft>
                <a:spcPts val="800"/>
              </a:spcAft>
              <a:buFont typeface="+mj-lt"/>
              <a:buAutoNum type="arabicParenR"/>
              <a:tabLst>
                <a:tab pos="571500" algn="l"/>
              </a:tabLst>
            </a:pPr>
            <a:r>
              <a:rPr lang="en-US" kern="100">
                <a:effectLst/>
                <a:latin typeface="Arial" panose="020B0604020202020204" pitchFamily="34" charset="0"/>
                <a:ea typeface="Aptos" panose="020B0004020202020204" pitchFamily="34" charset="0"/>
                <a:cs typeface="Arial" panose="020B0604020202020204" pitchFamily="34" charset="0"/>
              </a:rPr>
              <a:t>Tạo mới mô hình ERD:</a:t>
            </a:r>
          </a:p>
          <a:p>
            <a:pPr lvl="1">
              <a:lnSpc>
                <a:spcPct val="150000"/>
              </a:lnSpc>
              <a:spcAft>
                <a:spcPts val="800"/>
              </a:spcAft>
              <a:tabLst>
                <a:tab pos="571500" algn="l"/>
              </a:tabLst>
            </a:pPr>
            <a:r>
              <a:rPr lang="en-US" kern="100">
                <a:effectLst/>
                <a:latin typeface="Arial" panose="020B0604020202020204" pitchFamily="34" charset="0"/>
                <a:ea typeface="Aptos" panose="020B0004020202020204" pitchFamily="34" charset="0"/>
                <a:cs typeface="Arial" panose="020B0604020202020204" pitchFamily="34" charset="0"/>
              </a:rPr>
              <a:t>- Vào menu File, chọn New Model (Ctrl + N), hoặc </a:t>
            </a:r>
            <a:br>
              <a:rPr lang="en-US" kern="100">
                <a:effectLst/>
                <a:latin typeface="Arial" panose="020B0604020202020204" pitchFamily="34" charset="0"/>
                <a:ea typeface="Aptos" panose="020B0004020202020204" pitchFamily="34" charset="0"/>
                <a:cs typeface="Arial" panose="020B0604020202020204" pitchFamily="34" charset="0"/>
              </a:rPr>
            </a:br>
            <a:r>
              <a:rPr lang="en-US" kern="100">
                <a:effectLst/>
                <a:latin typeface="Arial" panose="020B0604020202020204" pitchFamily="34" charset="0"/>
                <a:ea typeface="Aptos" panose="020B0004020202020204" pitchFamily="34" charset="0"/>
                <a:cs typeface="Arial" panose="020B0604020202020204" pitchFamily="34" charset="0"/>
              </a:rPr>
              <a:t>click vào biểu tượng </a:t>
            </a:r>
            <a:r>
              <a:rPr lang="en-US" b="1" kern="100">
                <a:effectLst/>
                <a:latin typeface="Arial" panose="020B0604020202020204" pitchFamily="34" charset="0"/>
                <a:ea typeface="Aptos" panose="020B0004020202020204" pitchFamily="34" charset="0"/>
                <a:cs typeface="Arial" panose="020B0604020202020204" pitchFamily="34" charset="0"/>
                <a:sym typeface="Wingdings 2" panose="05020102010507070707" pitchFamily="18" charset="2"/>
              </a:rPr>
              <a:t></a:t>
            </a:r>
            <a:r>
              <a:rPr lang="en-US" kern="100">
                <a:effectLst/>
                <a:latin typeface="Arial" panose="020B0604020202020204" pitchFamily="34" charset="0"/>
                <a:ea typeface="Aptos" panose="020B0004020202020204" pitchFamily="34" charset="0"/>
                <a:cs typeface="Arial" panose="020B0604020202020204" pitchFamily="34" charset="0"/>
              </a:rPr>
              <a:t> trên thanh công cụ File.</a:t>
            </a:r>
          </a:p>
          <a:p>
            <a:pPr lvl="1">
              <a:lnSpc>
                <a:spcPct val="150000"/>
              </a:lnSpc>
              <a:spcAft>
                <a:spcPts val="800"/>
              </a:spcAft>
              <a:tabLst>
                <a:tab pos="571500" algn="l"/>
              </a:tabLst>
            </a:pPr>
            <a:r>
              <a:rPr lang="en-US" kern="100">
                <a:effectLst/>
                <a:latin typeface="Arial" panose="020B0604020202020204" pitchFamily="34" charset="0"/>
                <a:ea typeface="Aptos" panose="020B0004020202020204" pitchFamily="34" charset="0"/>
                <a:cs typeface="Arial" panose="020B0604020202020204" pitchFamily="34" charset="0"/>
              </a:rPr>
              <a:t>- Chọn Database tương ứng của mô hình:</a:t>
            </a:r>
          </a:p>
          <a:p>
            <a:pPr marL="1200150" lvl="2" indent="-285750">
              <a:lnSpc>
                <a:spcPct val="150000"/>
              </a:lnSpc>
              <a:spcAft>
                <a:spcPts val="800"/>
              </a:spcAft>
              <a:buFont typeface="+mj-lt"/>
              <a:buAutoNum type="arabicParenR"/>
              <a:tabLst>
                <a:tab pos="571500" algn="l"/>
              </a:tabLst>
            </a:pPr>
            <a:endParaRPr lang="en-US" kern="100">
              <a:effectLst/>
              <a:latin typeface="Arial" panose="020B0604020202020204" pitchFamily="34" charset="0"/>
              <a:ea typeface="Aptos" panose="020B0004020202020204" pitchFamily="34" charset="0"/>
              <a:cs typeface="Arial" panose="020B0604020202020204" pitchFamily="34" charset="0"/>
            </a:endParaRPr>
          </a:p>
        </p:txBody>
      </p:sp>
      <p:pic>
        <p:nvPicPr>
          <p:cNvPr id="2" name="Picture 1" descr="A screenshot of a computer&#10;&#10;Description automatically generated">
            <a:extLst>
              <a:ext uri="{FF2B5EF4-FFF2-40B4-BE49-F238E27FC236}">
                <a16:creationId xmlns:a16="http://schemas.microsoft.com/office/drawing/2014/main" id="{948EB249-59E1-0ABB-843C-8C61D05C81E2}"/>
              </a:ext>
            </a:extLst>
          </p:cNvPr>
          <p:cNvPicPr>
            <a:picLocks noChangeAspect="1"/>
          </p:cNvPicPr>
          <p:nvPr/>
        </p:nvPicPr>
        <p:blipFill>
          <a:blip r:embed="rId2">
            <a:extLst>
              <a:ext uri="{28A0092B-C50C-407E-A947-70E740481C1C}">
                <a14:useLocalDpi xmlns:a14="http://schemas.microsoft.com/office/drawing/2010/main" val="0"/>
              </a:ext>
            </a:extLst>
          </a:blip>
          <a:srcRect l="35446" t="32170" r="35382"/>
          <a:stretch>
            <a:fillRect/>
          </a:stretch>
        </p:blipFill>
        <p:spPr bwMode="auto">
          <a:xfrm>
            <a:off x="6503197" y="1552009"/>
            <a:ext cx="3516292" cy="4587224"/>
          </a:xfrm>
          <a:prstGeom prst="rect">
            <a:avLst/>
          </a:prstGeom>
          <a:noFill/>
          <a:ln>
            <a:noFill/>
          </a:ln>
        </p:spPr>
      </p:pic>
    </p:spTree>
    <p:extLst>
      <p:ext uri="{BB962C8B-B14F-4D97-AF65-F5344CB8AC3E}">
        <p14:creationId xmlns:p14="http://schemas.microsoft.com/office/powerpoint/2010/main" val="3254718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CF232E-4F9D-16AF-CAF8-F435F0F68DE9}"/>
              </a:ext>
            </a:extLst>
          </p:cNvPr>
          <p:cNvSpPr>
            <a:spLocks noGrp="1"/>
          </p:cNvSpPr>
          <p:nvPr>
            <p:ph type="sldNum" sz="quarter" idx="12"/>
          </p:nvPr>
        </p:nvSpPr>
        <p:spPr/>
        <p:txBody>
          <a:bodyPr/>
          <a:lstStyle/>
          <a:p>
            <a:fld id="{C47C1889-967C-4CCE-AB8F-72747BC45B63}" type="slidenum">
              <a:rPr lang="en-US" smtClean="0"/>
              <a:t>4</a:t>
            </a:fld>
            <a:endParaRPr lang="en-US"/>
          </a:p>
        </p:txBody>
      </p:sp>
      <p:sp>
        <p:nvSpPr>
          <p:cNvPr id="8" name="TextBox 7">
            <a:extLst>
              <a:ext uri="{FF2B5EF4-FFF2-40B4-BE49-F238E27FC236}">
                <a16:creationId xmlns:a16="http://schemas.microsoft.com/office/drawing/2014/main" id="{D1FFEDFB-8BF8-95F4-6831-6E8075150039}"/>
              </a:ext>
            </a:extLst>
          </p:cNvPr>
          <p:cNvSpPr txBox="1"/>
          <p:nvPr/>
        </p:nvSpPr>
        <p:spPr>
          <a:xfrm>
            <a:off x="513944" y="136525"/>
            <a:ext cx="10839856" cy="400110"/>
          </a:xfrm>
          <a:prstGeom prst="rect">
            <a:avLst/>
          </a:prstGeom>
          <a:noFill/>
        </p:spPr>
        <p:txBody>
          <a:bodyPr wrap="square" rtlCol="0">
            <a:spAutoFit/>
          </a:bodyPr>
          <a:lstStyle/>
          <a:p>
            <a:pPr algn="ctr"/>
            <a:r>
              <a:rPr lang="en-US" sz="2000" b="1">
                <a:solidFill>
                  <a:srgbClr val="FF0000"/>
                </a:solidFill>
                <a:latin typeface="Arial" panose="020B0604020202020204" pitchFamily="34" charset="0"/>
                <a:cs typeface="Arial" panose="020B0604020202020204" pitchFamily="34" charset="0"/>
              </a:rPr>
              <a:t>BÀI 1: HƯỚNG DẪN SỬ DỤNG PHẦN MỀM CASE STUDIO 2.25</a:t>
            </a:r>
          </a:p>
        </p:txBody>
      </p:sp>
      <p:sp>
        <p:nvSpPr>
          <p:cNvPr id="10" name="TextBox 9">
            <a:extLst>
              <a:ext uri="{FF2B5EF4-FFF2-40B4-BE49-F238E27FC236}">
                <a16:creationId xmlns:a16="http://schemas.microsoft.com/office/drawing/2014/main" id="{5EA0B46F-E041-2CE3-99CE-A47B5ED8D198}"/>
              </a:ext>
            </a:extLst>
          </p:cNvPr>
          <p:cNvSpPr txBox="1"/>
          <p:nvPr/>
        </p:nvSpPr>
        <p:spPr>
          <a:xfrm>
            <a:off x="111867" y="604946"/>
            <a:ext cx="11644009" cy="456535"/>
          </a:xfrm>
          <a:prstGeom prst="rect">
            <a:avLst/>
          </a:prstGeom>
          <a:noFill/>
        </p:spPr>
        <p:txBody>
          <a:bodyPr wrap="square" rtlCol="0">
            <a:spAutoFit/>
          </a:bodyPr>
          <a:lstStyle/>
          <a:p>
            <a:pPr>
              <a:lnSpc>
                <a:spcPct val="150000"/>
              </a:lnSpc>
              <a:spcAft>
                <a:spcPts val="800"/>
              </a:spcAft>
              <a:tabLst>
                <a:tab pos="571500" algn="l"/>
              </a:tabLst>
            </a:pPr>
            <a:r>
              <a:rPr lang="en-US" sz="1800" kern="100">
                <a:effectLst/>
                <a:latin typeface="Arial" panose="020B0604020202020204" pitchFamily="34" charset="0"/>
                <a:ea typeface="Aptos" panose="020B0004020202020204" pitchFamily="34" charset="0"/>
                <a:cs typeface="Arial" panose="020B0604020202020204" pitchFamily="34" charset="0"/>
              </a:rPr>
              <a:t>- Click vào nút OK. Giao diện chính của mô hình:</a:t>
            </a:r>
          </a:p>
        </p:txBody>
      </p:sp>
      <p:pic>
        <p:nvPicPr>
          <p:cNvPr id="3" name="Picture 2" descr="A screenshot of a computer&#10;&#10;Description automatically generated">
            <a:extLst>
              <a:ext uri="{FF2B5EF4-FFF2-40B4-BE49-F238E27FC236}">
                <a16:creationId xmlns:a16="http://schemas.microsoft.com/office/drawing/2014/main" id="{1B6EA929-2C33-2064-2BBA-3A212B1696CC}"/>
              </a:ext>
            </a:extLst>
          </p:cNvPr>
          <p:cNvPicPr>
            <a:picLocks noChangeAspect="1"/>
          </p:cNvPicPr>
          <p:nvPr/>
        </p:nvPicPr>
        <p:blipFill>
          <a:blip r:embed="rId2">
            <a:extLst>
              <a:ext uri="{28A0092B-C50C-407E-A947-70E740481C1C}">
                <a14:useLocalDpi xmlns:a14="http://schemas.microsoft.com/office/drawing/2010/main" val="0"/>
              </a:ext>
            </a:extLst>
          </a:blip>
          <a:srcRect r="6050" b="6093"/>
          <a:stretch>
            <a:fillRect/>
          </a:stretch>
        </p:blipFill>
        <p:spPr bwMode="auto">
          <a:xfrm>
            <a:off x="259047" y="1207120"/>
            <a:ext cx="9249049" cy="4921305"/>
          </a:xfrm>
          <a:prstGeom prst="rect">
            <a:avLst/>
          </a:prstGeom>
          <a:noFill/>
          <a:ln>
            <a:noFill/>
          </a:ln>
        </p:spPr>
      </p:pic>
    </p:spTree>
    <p:extLst>
      <p:ext uri="{BB962C8B-B14F-4D97-AF65-F5344CB8AC3E}">
        <p14:creationId xmlns:p14="http://schemas.microsoft.com/office/powerpoint/2010/main" val="3605771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CF232E-4F9D-16AF-CAF8-F435F0F68DE9}"/>
              </a:ext>
            </a:extLst>
          </p:cNvPr>
          <p:cNvSpPr>
            <a:spLocks noGrp="1"/>
          </p:cNvSpPr>
          <p:nvPr>
            <p:ph type="sldNum" sz="quarter" idx="12"/>
          </p:nvPr>
        </p:nvSpPr>
        <p:spPr>
          <a:xfrm>
            <a:off x="8610600" y="5908878"/>
            <a:ext cx="2743200" cy="365125"/>
          </a:xfrm>
        </p:spPr>
        <p:txBody>
          <a:bodyPr/>
          <a:lstStyle/>
          <a:p>
            <a:fld id="{C47C1889-967C-4CCE-AB8F-72747BC45B63}" type="slidenum">
              <a:rPr lang="en-US" smtClean="0"/>
              <a:t>5</a:t>
            </a:fld>
            <a:endParaRPr lang="en-US"/>
          </a:p>
        </p:txBody>
      </p:sp>
      <p:sp>
        <p:nvSpPr>
          <p:cNvPr id="10" name="TextBox 9">
            <a:extLst>
              <a:ext uri="{FF2B5EF4-FFF2-40B4-BE49-F238E27FC236}">
                <a16:creationId xmlns:a16="http://schemas.microsoft.com/office/drawing/2014/main" id="{5EA0B46F-E041-2CE3-99CE-A47B5ED8D198}"/>
              </a:ext>
            </a:extLst>
          </p:cNvPr>
          <p:cNvSpPr txBox="1"/>
          <p:nvPr/>
        </p:nvSpPr>
        <p:spPr>
          <a:xfrm>
            <a:off x="291829" y="294957"/>
            <a:ext cx="3200401" cy="467885"/>
          </a:xfrm>
          <a:prstGeom prst="rect">
            <a:avLst/>
          </a:prstGeom>
          <a:noFill/>
        </p:spPr>
        <p:txBody>
          <a:bodyPr wrap="square" rtlCol="0">
            <a:spAutoFit/>
          </a:bodyPr>
          <a:lstStyle/>
          <a:p>
            <a:pPr>
              <a:lnSpc>
                <a:spcPct val="150000"/>
              </a:lnSpc>
              <a:spcAft>
                <a:spcPts val="800"/>
              </a:spcAft>
              <a:tabLst>
                <a:tab pos="571500" algn="l"/>
              </a:tabLst>
            </a:pPr>
            <a:r>
              <a:rPr lang="en-US" sz="1800" kern="100">
                <a:effectLst/>
                <a:latin typeface="Arial" panose="020B0604020202020204" pitchFamily="34" charset="0"/>
                <a:ea typeface="Aptos" panose="020B0004020202020204" pitchFamily="34" charset="0"/>
                <a:cs typeface="Arial" panose="020B0604020202020204" pitchFamily="34" charset="0"/>
              </a:rPr>
              <a:t>- </a:t>
            </a:r>
            <a:r>
              <a:rPr lang="en-US" sz="1800">
                <a:effectLst/>
                <a:latin typeface="Arial" panose="020B0604020202020204" pitchFamily="34" charset="0"/>
                <a:ea typeface="Aptos" panose="020B0004020202020204" pitchFamily="34" charset="0"/>
                <a:cs typeface="Arial" panose="020B0604020202020204" pitchFamily="34" charset="0"/>
              </a:rPr>
              <a:t>Một số thành phần:</a:t>
            </a:r>
            <a:endParaRPr lang="en-US" sz="1800" kern="100">
              <a:effectLst/>
              <a:latin typeface="Arial" panose="020B0604020202020204" pitchFamily="34" charset="0"/>
              <a:ea typeface="Aptos" panose="020B00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4C264295-B317-CE71-3922-E6D37DF7F4E7}"/>
              </a:ext>
            </a:extLst>
          </p:cNvPr>
          <p:cNvGrpSpPr/>
          <p:nvPr/>
        </p:nvGrpSpPr>
        <p:grpSpPr>
          <a:xfrm>
            <a:off x="5516184" y="185521"/>
            <a:ext cx="6241415" cy="5901055"/>
            <a:chOff x="2519045" y="303375"/>
            <a:chExt cx="6241415" cy="5901055"/>
          </a:xfrm>
        </p:grpSpPr>
        <p:pic>
          <p:nvPicPr>
            <p:cNvPr id="2" name="Picture 1" descr="A screenshot of a computer&#10;&#10;Description automatically generated">
              <a:extLst>
                <a:ext uri="{FF2B5EF4-FFF2-40B4-BE49-F238E27FC236}">
                  <a16:creationId xmlns:a16="http://schemas.microsoft.com/office/drawing/2014/main" id="{BE8F28D5-B388-B4D0-C9B3-35A49C89926B}"/>
                </a:ext>
              </a:extLst>
            </p:cNvPr>
            <p:cNvPicPr>
              <a:picLocks noChangeAspect="1"/>
            </p:cNvPicPr>
            <p:nvPr/>
          </p:nvPicPr>
          <p:blipFill>
            <a:blip r:embed="rId2">
              <a:extLst>
                <a:ext uri="{28A0092B-C50C-407E-A947-70E740481C1C}">
                  <a14:useLocalDpi xmlns:a14="http://schemas.microsoft.com/office/drawing/2010/main" val="0"/>
                </a:ext>
              </a:extLst>
            </a:blip>
            <a:srcRect r="66652" b="73593"/>
            <a:stretch>
              <a:fillRect/>
            </a:stretch>
          </p:blipFill>
          <p:spPr bwMode="auto">
            <a:xfrm>
              <a:off x="2713355" y="1516860"/>
              <a:ext cx="4801870" cy="2037080"/>
            </a:xfrm>
            <a:prstGeom prst="rect">
              <a:avLst/>
            </a:prstGeom>
            <a:noFill/>
            <a:ln>
              <a:noFill/>
            </a:ln>
          </p:spPr>
        </p:pic>
        <p:grpSp>
          <p:nvGrpSpPr>
            <p:cNvPr id="6" name="Group 5">
              <a:extLst>
                <a:ext uri="{FF2B5EF4-FFF2-40B4-BE49-F238E27FC236}">
                  <a16:creationId xmlns:a16="http://schemas.microsoft.com/office/drawing/2014/main" id="{23F6242B-F640-E6CE-1FE7-D10933A5E814}"/>
                </a:ext>
              </a:extLst>
            </p:cNvPr>
            <p:cNvGrpSpPr>
              <a:grpSpLocks/>
            </p:cNvGrpSpPr>
            <p:nvPr/>
          </p:nvGrpSpPr>
          <p:grpSpPr bwMode="auto">
            <a:xfrm>
              <a:off x="2519045" y="303375"/>
              <a:ext cx="6241415" cy="5901055"/>
              <a:chOff x="1562" y="2245"/>
              <a:chExt cx="9829" cy="9293"/>
            </a:xfrm>
          </p:grpSpPr>
          <p:sp>
            <p:nvSpPr>
              <p:cNvPr id="9" name="AutoShape 6">
                <a:extLst>
                  <a:ext uri="{FF2B5EF4-FFF2-40B4-BE49-F238E27FC236}">
                    <a16:creationId xmlns:a16="http://schemas.microsoft.com/office/drawing/2014/main" id="{BCC7B05D-FB2C-CB61-BBA5-640199719813}"/>
                  </a:ext>
                </a:extLst>
              </p:cNvPr>
              <p:cNvSpPr>
                <a:spLocks noChangeArrowheads="1"/>
              </p:cNvSpPr>
              <p:nvPr/>
            </p:nvSpPr>
            <p:spPr bwMode="auto">
              <a:xfrm>
                <a:off x="1562" y="2245"/>
                <a:ext cx="3973" cy="1606"/>
              </a:xfrm>
              <a:prstGeom prst="wedgeRectCallout">
                <a:avLst>
                  <a:gd name="adj1" fmla="val 12127"/>
                  <a:gd name="adj2" fmla="val 143039"/>
                </a:avLst>
              </a:prstGeom>
              <a:solidFill>
                <a:srgbClr val="FFFFFF"/>
              </a:solidFill>
              <a:ln w="9525" cap="rnd">
                <a:solidFill>
                  <a:srgbClr val="000000"/>
                </a:solidFill>
                <a:prstDash val="sysDot"/>
                <a:miter lim="800000"/>
                <a:headEnd/>
                <a:tailEnd/>
              </a:ln>
            </p:spPr>
            <p:txBody>
              <a:bodyPr rot="0" vert="horz" wrap="square" lIns="91440" tIns="45720" rIns="91440" bIns="45720" anchor="t" anchorCtr="0" upright="1">
                <a:noAutofit/>
              </a:bodyPr>
              <a:lstStyle/>
              <a:p>
                <a:pPr>
                  <a:lnSpc>
                    <a:spcPct val="107000"/>
                  </a:lnSpc>
                  <a:spcAft>
                    <a:spcPts val="800"/>
                  </a:spcAft>
                </a:pPr>
                <a:r>
                  <a:rPr lang="en-US" sz="1400" kern="100">
                    <a:effectLst/>
                    <a:latin typeface="Arial" panose="020B0604020202020204" pitchFamily="34" charset="0"/>
                    <a:ea typeface="Aptos" panose="020B0004020202020204" pitchFamily="34" charset="0"/>
                    <a:cs typeface="Arial" panose="020B0604020202020204" pitchFamily="34" charset="0"/>
                  </a:rPr>
                  <a:t>Loại mối kết hợp n-n (mối kết hợp nhiều-nhiều – many to many relationship)</a:t>
                </a:r>
              </a:p>
            </p:txBody>
          </p:sp>
          <p:sp>
            <p:nvSpPr>
              <p:cNvPr id="11" name="AutoShape 7">
                <a:extLst>
                  <a:ext uri="{FF2B5EF4-FFF2-40B4-BE49-F238E27FC236}">
                    <a16:creationId xmlns:a16="http://schemas.microsoft.com/office/drawing/2014/main" id="{6262D8A8-378F-ECB1-62ED-E4B077438C6C}"/>
                  </a:ext>
                </a:extLst>
              </p:cNvPr>
              <p:cNvSpPr>
                <a:spLocks noChangeArrowheads="1"/>
              </p:cNvSpPr>
              <p:nvPr/>
            </p:nvSpPr>
            <p:spPr bwMode="auto">
              <a:xfrm>
                <a:off x="5971" y="2279"/>
                <a:ext cx="4464" cy="1631"/>
              </a:xfrm>
              <a:prstGeom prst="wedgeRectCallout">
                <a:avLst>
                  <a:gd name="adj1" fmla="val -73657"/>
                  <a:gd name="adj2" fmla="val 141758"/>
                </a:avLst>
              </a:prstGeom>
              <a:solidFill>
                <a:srgbClr val="FFFFFF"/>
              </a:solidFill>
              <a:ln w="9525" cap="rnd">
                <a:solidFill>
                  <a:srgbClr val="000000"/>
                </a:solidFill>
                <a:prstDash val="sysDot"/>
                <a:miter lim="800000"/>
                <a:headEnd/>
                <a:tailEnd/>
              </a:ln>
            </p:spPr>
            <p:txBody>
              <a:bodyPr rot="0" vert="horz" wrap="square" lIns="91440" tIns="45720" rIns="91440" bIns="45720" anchor="t" anchorCtr="0" upright="1">
                <a:noAutofit/>
              </a:bodyPr>
              <a:lstStyle/>
              <a:p>
                <a:pPr>
                  <a:lnSpc>
                    <a:spcPct val="107000"/>
                  </a:lnSpc>
                  <a:spcAft>
                    <a:spcPts val="800"/>
                  </a:spcAft>
                </a:pPr>
                <a:r>
                  <a:rPr lang="en-US" sz="1400" kern="100">
                    <a:effectLst/>
                    <a:latin typeface="Arial" panose="020B0604020202020204" pitchFamily="34" charset="0"/>
                    <a:ea typeface="Aptos" panose="020B0004020202020204" pitchFamily="34" charset="0"/>
                    <a:cs typeface="Arial" panose="020B0604020202020204" pitchFamily="34" charset="0"/>
                  </a:rPr>
                  <a:t>Loại mối kết hợp phản thân (mối kết hợp đệ quy – seft relationship)</a:t>
                </a:r>
              </a:p>
            </p:txBody>
          </p:sp>
          <p:sp>
            <p:nvSpPr>
              <p:cNvPr id="13" name="AutoShape 3">
                <a:extLst>
                  <a:ext uri="{FF2B5EF4-FFF2-40B4-BE49-F238E27FC236}">
                    <a16:creationId xmlns:a16="http://schemas.microsoft.com/office/drawing/2014/main" id="{96C481D6-9BA4-1FAC-7A8A-F9E7F54D5D70}"/>
                  </a:ext>
                </a:extLst>
              </p:cNvPr>
              <p:cNvSpPr>
                <a:spLocks noChangeArrowheads="1"/>
              </p:cNvSpPr>
              <p:nvPr/>
            </p:nvSpPr>
            <p:spPr bwMode="auto">
              <a:xfrm>
                <a:off x="1767" y="9870"/>
                <a:ext cx="2703" cy="726"/>
              </a:xfrm>
              <a:prstGeom prst="wedgeRectCallout">
                <a:avLst>
                  <a:gd name="adj1" fmla="val -15237"/>
                  <a:gd name="adj2" fmla="val -612237"/>
                </a:avLst>
              </a:prstGeom>
              <a:solidFill>
                <a:srgbClr val="FFFFFF"/>
              </a:solidFill>
              <a:ln w="9525" cap="rnd">
                <a:solidFill>
                  <a:srgbClr val="000000"/>
                </a:solidFill>
                <a:prstDash val="sysDot"/>
                <a:miter lim="800000"/>
                <a:headEnd/>
                <a:tailEnd/>
              </a:ln>
            </p:spPr>
            <p:txBody>
              <a:bodyPr rot="0" vert="horz" wrap="square" lIns="91440" tIns="45720" rIns="91440" bIns="45720" anchor="t" anchorCtr="0" upright="1">
                <a:noAutofit/>
              </a:bodyPr>
              <a:lstStyle/>
              <a:p>
                <a:pPr>
                  <a:lnSpc>
                    <a:spcPct val="107000"/>
                  </a:lnSpc>
                  <a:spcAft>
                    <a:spcPts val="800"/>
                  </a:spcAft>
                </a:pPr>
                <a:r>
                  <a:rPr lang="en-US" sz="1400" kern="100">
                    <a:effectLst/>
                    <a:latin typeface="Arial" panose="020B0604020202020204" pitchFamily="34" charset="0"/>
                    <a:ea typeface="Aptos" panose="020B0004020202020204" pitchFamily="34" charset="0"/>
                    <a:cs typeface="Arial" panose="020B0604020202020204" pitchFamily="34" charset="0"/>
                  </a:rPr>
                  <a:t>Entity: Loại thực thể</a:t>
                </a:r>
              </a:p>
            </p:txBody>
          </p:sp>
          <p:sp>
            <p:nvSpPr>
              <p:cNvPr id="14" name="AutoShape 4">
                <a:extLst>
                  <a:ext uri="{FF2B5EF4-FFF2-40B4-BE49-F238E27FC236}">
                    <a16:creationId xmlns:a16="http://schemas.microsoft.com/office/drawing/2014/main" id="{4FF69E48-3EA6-7BEF-92D2-D3D07EF38B6F}"/>
                  </a:ext>
                </a:extLst>
              </p:cNvPr>
              <p:cNvSpPr>
                <a:spLocks noChangeArrowheads="1"/>
              </p:cNvSpPr>
              <p:nvPr/>
            </p:nvSpPr>
            <p:spPr bwMode="auto">
              <a:xfrm>
                <a:off x="5346" y="10458"/>
                <a:ext cx="4651" cy="1080"/>
              </a:xfrm>
              <a:prstGeom prst="wedgeRectCallout">
                <a:avLst>
                  <a:gd name="adj1" fmla="val -97910"/>
                  <a:gd name="adj2" fmla="val -488412"/>
                </a:avLst>
              </a:prstGeom>
              <a:solidFill>
                <a:srgbClr val="FFFFFF"/>
              </a:solidFill>
              <a:ln w="9525" cap="rnd">
                <a:solidFill>
                  <a:srgbClr val="000000"/>
                </a:solidFill>
                <a:prstDash val="sysDot"/>
                <a:miter lim="800000"/>
                <a:headEnd/>
                <a:tailEnd/>
              </a:ln>
            </p:spPr>
            <p:txBody>
              <a:bodyPr rot="0" vert="horz" wrap="square" lIns="91440" tIns="45720" rIns="91440" bIns="45720" anchor="t" anchorCtr="0" upright="1">
                <a:noAutofit/>
              </a:bodyPr>
              <a:lstStyle/>
              <a:p>
                <a:pPr>
                  <a:lnSpc>
                    <a:spcPct val="107000"/>
                  </a:lnSpc>
                  <a:spcAft>
                    <a:spcPts val="800"/>
                  </a:spcAft>
                </a:pPr>
                <a:r>
                  <a:rPr lang="en-US" sz="1400" kern="100">
                    <a:effectLst/>
                    <a:latin typeface="Arial" panose="020B0604020202020204" pitchFamily="34" charset="0"/>
                    <a:ea typeface="Aptos" panose="020B0004020202020204" pitchFamily="34" charset="0"/>
                    <a:cs typeface="Arial" panose="020B0604020202020204" pitchFamily="34" charset="0"/>
                  </a:rPr>
                  <a:t>Loại mối kết hợp 1-1 (mối kết hợp định danh – identifying relationship)</a:t>
                </a:r>
              </a:p>
            </p:txBody>
          </p:sp>
          <p:sp>
            <p:nvSpPr>
              <p:cNvPr id="8" name="AutoShape 4">
                <a:extLst>
                  <a:ext uri="{FF2B5EF4-FFF2-40B4-BE49-F238E27FC236}">
                    <a16:creationId xmlns:a16="http://schemas.microsoft.com/office/drawing/2014/main" id="{DA3BCADA-464E-4D3C-B566-15FCD92D2547}"/>
                  </a:ext>
                </a:extLst>
              </p:cNvPr>
              <p:cNvSpPr>
                <a:spLocks noChangeArrowheads="1"/>
              </p:cNvSpPr>
              <p:nvPr/>
            </p:nvSpPr>
            <p:spPr bwMode="auto">
              <a:xfrm>
                <a:off x="6740" y="8231"/>
                <a:ext cx="4651" cy="1458"/>
              </a:xfrm>
              <a:prstGeom prst="wedgeRectCallout">
                <a:avLst>
                  <a:gd name="adj1" fmla="val -115696"/>
                  <a:gd name="adj2" fmla="val -220380"/>
                </a:avLst>
              </a:prstGeom>
              <a:solidFill>
                <a:srgbClr val="FFFFFF"/>
              </a:solidFill>
              <a:ln w="9525" cap="rnd">
                <a:solidFill>
                  <a:srgbClr val="000000"/>
                </a:solidFill>
                <a:prstDash val="sysDot"/>
                <a:miter lim="800000"/>
                <a:headEnd/>
                <a:tailEnd/>
              </a:ln>
            </p:spPr>
            <p:txBody>
              <a:bodyPr rot="0" vert="horz" wrap="square" lIns="91440" tIns="45720" rIns="91440" bIns="45720" anchor="t" anchorCtr="0" upright="1">
                <a:noAutofit/>
              </a:bodyPr>
              <a:lstStyle/>
              <a:p>
                <a:pPr>
                  <a:lnSpc>
                    <a:spcPct val="107000"/>
                  </a:lnSpc>
                  <a:spcAft>
                    <a:spcPts val="800"/>
                  </a:spcAft>
                </a:pPr>
                <a:r>
                  <a:rPr lang="en-US" sz="1400" kern="100">
                    <a:effectLst/>
                    <a:latin typeface="Arial" panose="020B0604020202020204" pitchFamily="34" charset="0"/>
                    <a:ea typeface="Aptos" panose="020B0004020202020204" pitchFamily="34" charset="0"/>
                    <a:cs typeface="Arial" panose="020B0604020202020204" pitchFamily="34" charset="0"/>
                  </a:rPr>
                  <a:t>Loại mối kết hợp 1-n (mối kết hợp Cha-Con – Non-identifying relationship)</a:t>
                </a:r>
              </a:p>
            </p:txBody>
          </p:sp>
        </p:grpSp>
      </p:grpSp>
      <p:sp>
        <p:nvSpPr>
          <p:cNvPr id="16" name="TextBox 15">
            <a:extLst>
              <a:ext uri="{FF2B5EF4-FFF2-40B4-BE49-F238E27FC236}">
                <a16:creationId xmlns:a16="http://schemas.microsoft.com/office/drawing/2014/main" id="{1897F3B0-ADB3-F088-18F4-6CA6A7C1E298}"/>
              </a:ext>
            </a:extLst>
          </p:cNvPr>
          <p:cNvSpPr txBox="1"/>
          <p:nvPr/>
        </p:nvSpPr>
        <p:spPr>
          <a:xfrm>
            <a:off x="184824" y="2188467"/>
            <a:ext cx="5155661" cy="880882"/>
          </a:xfrm>
          <a:prstGeom prst="rect">
            <a:avLst/>
          </a:prstGeom>
          <a:noFill/>
        </p:spPr>
        <p:txBody>
          <a:bodyPr wrap="square" rtlCol="0">
            <a:spAutoFit/>
          </a:bodyPr>
          <a:lstStyle/>
          <a:p>
            <a:pPr>
              <a:lnSpc>
                <a:spcPct val="150000"/>
              </a:lnSpc>
              <a:spcAft>
                <a:spcPts val="800"/>
              </a:spcAft>
              <a:tabLst>
                <a:tab pos="571500" algn="l"/>
              </a:tabLst>
            </a:pPr>
            <a:r>
              <a:rPr lang="en-US" sz="1800" kern="100">
                <a:effectLst/>
                <a:latin typeface="Arial" panose="020B0604020202020204" pitchFamily="34" charset="0"/>
                <a:ea typeface="Aptos" panose="020B0004020202020204" pitchFamily="34" charset="0"/>
                <a:cs typeface="Arial" panose="020B0604020202020204" pitchFamily="34" charset="0"/>
              </a:rPr>
              <a:t>- </a:t>
            </a:r>
            <a:r>
              <a:rPr lang="en-US" sz="1800">
                <a:effectLst/>
                <a:latin typeface="Aptos" panose="020B0004020202020204" pitchFamily="34" charset="0"/>
                <a:ea typeface="Aptos" panose="020B0004020202020204" pitchFamily="34" charset="0"/>
                <a:cs typeface="Times New Roman" panose="02020603050405020304" pitchFamily="18" charset="0"/>
              </a:rPr>
              <a:t>Click vào loại thực thể và thả vào vùng thiết kế như hình bên:</a:t>
            </a:r>
            <a:endParaRPr lang="en-US" sz="1800" kern="100">
              <a:effectLst/>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837517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CF232E-4F9D-16AF-CAF8-F435F0F68DE9}"/>
              </a:ext>
            </a:extLst>
          </p:cNvPr>
          <p:cNvSpPr>
            <a:spLocks noGrp="1"/>
          </p:cNvSpPr>
          <p:nvPr>
            <p:ph type="sldNum" sz="quarter" idx="12"/>
          </p:nvPr>
        </p:nvSpPr>
        <p:spPr>
          <a:xfrm>
            <a:off x="9262353" y="6367281"/>
            <a:ext cx="2743200" cy="365125"/>
          </a:xfrm>
        </p:spPr>
        <p:txBody>
          <a:bodyPr/>
          <a:lstStyle/>
          <a:p>
            <a:fld id="{C47C1889-967C-4CCE-AB8F-72747BC45B63}" type="slidenum">
              <a:rPr lang="en-US" smtClean="0"/>
              <a:t>6</a:t>
            </a:fld>
            <a:endParaRPr lang="en-US"/>
          </a:p>
        </p:txBody>
      </p:sp>
      <p:sp>
        <p:nvSpPr>
          <p:cNvPr id="8" name="TextBox 7">
            <a:extLst>
              <a:ext uri="{FF2B5EF4-FFF2-40B4-BE49-F238E27FC236}">
                <a16:creationId xmlns:a16="http://schemas.microsoft.com/office/drawing/2014/main" id="{D1FFEDFB-8BF8-95F4-6831-6E8075150039}"/>
              </a:ext>
            </a:extLst>
          </p:cNvPr>
          <p:cNvSpPr txBox="1"/>
          <p:nvPr/>
        </p:nvSpPr>
        <p:spPr>
          <a:xfrm>
            <a:off x="543127" y="132273"/>
            <a:ext cx="10839856" cy="400110"/>
          </a:xfrm>
          <a:prstGeom prst="rect">
            <a:avLst/>
          </a:prstGeom>
          <a:noFill/>
        </p:spPr>
        <p:txBody>
          <a:bodyPr wrap="square" rtlCol="0">
            <a:spAutoFit/>
          </a:bodyPr>
          <a:lstStyle/>
          <a:p>
            <a:pPr algn="ctr"/>
            <a:r>
              <a:rPr lang="en-US" sz="2000" b="1">
                <a:solidFill>
                  <a:srgbClr val="FF0000"/>
                </a:solidFill>
                <a:latin typeface="Arial" panose="020B0604020202020204" pitchFamily="34" charset="0"/>
                <a:cs typeface="Arial" panose="020B0604020202020204" pitchFamily="34" charset="0"/>
              </a:rPr>
              <a:t>BÀI 1: HƯỚNG DẪN SỬ DỤNG PHẦN MỀM CASE STUDIO 2.25</a:t>
            </a:r>
          </a:p>
        </p:txBody>
      </p:sp>
      <p:sp>
        <p:nvSpPr>
          <p:cNvPr id="10" name="TextBox 9">
            <a:extLst>
              <a:ext uri="{FF2B5EF4-FFF2-40B4-BE49-F238E27FC236}">
                <a16:creationId xmlns:a16="http://schemas.microsoft.com/office/drawing/2014/main" id="{5EA0B46F-E041-2CE3-99CE-A47B5ED8D198}"/>
              </a:ext>
            </a:extLst>
          </p:cNvPr>
          <p:cNvSpPr txBox="1"/>
          <p:nvPr/>
        </p:nvSpPr>
        <p:spPr>
          <a:xfrm>
            <a:off x="214008" y="636622"/>
            <a:ext cx="11644009" cy="465384"/>
          </a:xfrm>
          <a:prstGeom prst="rect">
            <a:avLst/>
          </a:prstGeom>
          <a:noFill/>
        </p:spPr>
        <p:txBody>
          <a:bodyPr wrap="square" rtlCol="0">
            <a:spAutoFit/>
          </a:bodyPr>
          <a:lstStyle/>
          <a:p>
            <a:pPr>
              <a:lnSpc>
                <a:spcPct val="150000"/>
              </a:lnSpc>
              <a:spcAft>
                <a:spcPts val="800"/>
              </a:spcAft>
              <a:tabLst>
                <a:tab pos="571500" algn="l"/>
              </a:tabLst>
            </a:pPr>
            <a:r>
              <a:rPr lang="en-US" sz="1800" kern="100">
                <a:effectLst/>
                <a:latin typeface="Arial" panose="020B0604020202020204" pitchFamily="34" charset="0"/>
                <a:ea typeface="Aptos" panose="020B0004020202020204" pitchFamily="34" charset="0"/>
                <a:cs typeface="Arial" panose="020B0604020202020204" pitchFamily="34" charset="0"/>
              </a:rPr>
              <a:t>- </a:t>
            </a:r>
            <a:r>
              <a:rPr lang="en-US" sz="1800">
                <a:effectLst/>
                <a:latin typeface="Arial" panose="020B0604020202020204" pitchFamily="34" charset="0"/>
                <a:ea typeface="Aptos" panose="020B0004020202020204" pitchFamily="34" charset="0"/>
                <a:cs typeface="Arial" panose="020B0604020202020204" pitchFamily="34" charset="0"/>
              </a:rPr>
              <a:t>Double click vào loại thực thể vừa tạo</a:t>
            </a:r>
            <a:r>
              <a:rPr lang="en-US" sz="1800" kern="100">
                <a:effectLst/>
                <a:latin typeface="Arial" panose="020B0604020202020204" pitchFamily="34" charset="0"/>
                <a:ea typeface="Aptos" panose="020B0004020202020204" pitchFamily="34" charset="0"/>
                <a:cs typeface="Arial" panose="020B0604020202020204" pitchFamily="34" charset="0"/>
              </a:rPr>
              <a:t>:</a:t>
            </a:r>
          </a:p>
        </p:txBody>
      </p:sp>
      <p:pic>
        <p:nvPicPr>
          <p:cNvPr id="2" name="Picture 1" descr="A screenshot of a computer&#10;&#10;Description automatically generated">
            <a:extLst>
              <a:ext uri="{FF2B5EF4-FFF2-40B4-BE49-F238E27FC236}">
                <a16:creationId xmlns:a16="http://schemas.microsoft.com/office/drawing/2014/main" id="{11344A60-4119-B695-ABF1-8361838C91B8}"/>
              </a:ext>
            </a:extLst>
          </p:cNvPr>
          <p:cNvPicPr>
            <a:picLocks noChangeAspect="1"/>
          </p:cNvPicPr>
          <p:nvPr/>
        </p:nvPicPr>
        <p:blipFill>
          <a:blip r:embed="rId2">
            <a:extLst>
              <a:ext uri="{28A0092B-C50C-407E-A947-70E740481C1C}">
                <a14:useLocalDpi xmlns:a14="http://schemas.microsoft.com/office/drawing/2010/main" val="0"/>
              </a:ext>
            </a:extLst>
          </a:blip>
          <a:srcRect r="47896" b="45158"/>
          <a:stretch>
            <a:fillRect/>
          </a:stretch>
        </p:blipFill>
        <p:spPr bwMode="auto">
          <a:xfrm>
            <a:off x="324539" y="1295844"/>
            <a:ext cx="5992375" cy="3375538"/>
          </a:xfrm>
          <a:prstGeom prst="rect">
            <a:avLst/>
          </a:prstGeom>
          <a:noFill/>
          <a:ln>
            <a:noFill/>
          </a:ln>
        </p:spPr>
      </p:pic>
      <p:pic>
        <p:nvPicPr>
          <p:cNvPr id="9" name="Picture 8" descr="A screenshot of a computer&#10;&#10;Description automatically generated">
            <a:extLst>
              <a:ext uri="{FF2B5EF4-FFF2-40B4-BE49-F238E27FC236}">
                <a16:creationId xmlns:a16="http://schemas.microsoft.com/office/drawing/2014/main" id="{2FBFA7AD-7A3B-FBAB-92C0-3FCCAB9B784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74340" y="1295844"/>
            <a:ext cx="5387340" cy="4434205"/>
          </a:xfrm>
          <a:prstGeom prst="rect">
            <a:avLst/>
          </a:prstGeom>
          <a:noFill/>
          <a:ln>
            <a:noFill/>
          </a:ln>
        </p:spPr>
      </p:pic>
      <p:grpSp>
        <p:nvGrpSpPr>
          <p:cNvPr id="11" name="Group 10">
            <a:extLst>
              <a:ext uri="{FF2B5EF4-FFF2-40B4-BE49-F238E27FC236}">
                <a16:creationId xmlns:a16="http://schemas.microsoft.com/office/drawing/2014/main" id="{F8E87A18-0AA6-3684-58ED-6580FE5DF60D}"/>
              </a:ext>
            </a:extLst>
          </p:cNvPr>
          <p:cNvGrpSpPr/>
          <p:nvPr/>
        </p:nvGrpSpPr>
        <p:grpSpPr>
          <a:xfrm>
            <a:off x="6747483" y="2753149"/>
            <a:ext cx="3784600" cy="1339215"/>
            <a:chOff x="0" y="0"/>
            <a:chExt cx="3784600" cy="1339215"/>
          </a:xfrm>
        </p:grpSpPr>
        <p:sp>
          <p:nvSpPr>
            <p:cNvPr id="13" name="AutoShape 8">
              <a:extLst>
                <a:ext uri="{FF2B5EF4-FFF2-40B4-BE49-F238E27FC236}">
                  <a16:creationId xmlns:a16="http://schemas.microsoft.com/office/drawing/2014/main" id="{445A1B55-CA36-9F7A-8393-20DCD9235C32}"/>
                </a:ext>
              </a:extLst>
            </p:cNvPr>
            <p:cNvSpPr>
              <a:spLocks noChangeArrowheads="1"/>
            </p:cNvSpPr>
            <p:nvPr/>
          </p:nvSpPr>
          <p:spPr bwMode="auto">
            <a:xfrm>
              <a:off x="1350645" y="0"/>
              <a:ext cx="1943100" cy="390525"/>
            </a:xfrm>
            <a:prstGeom prst="wedgeRectCallout">
              <a:avLst>
                <a:gd name="adj1" fmla="val -86338"/>
                <a:gd name="adj2" fmla="val -288699"/>
              </a:avLst>
            </a:prstGeom>
            <a:solidFill>
              <a:srgbClr val="FFFFFF"/>
            </a:solidFill>
            <a:ln w="9525" cap="rnd">
              <a:solidFill>
                <a:srgbClr val="000000"/>
              </a:solidFill>
              <a:prstDash val="sysDot"/>
              <a:miter lim="800000"/>
              <a:headEnd/>
              <a:tailEnd/>
            </a:ln>
          </p:spPr>
          <p:txBody>
            <a:bodyPr rot="0" vert="horz" wrap="square" lIns="91440" tIns="45720" rIns="91440" bIns="45720" anchor="t" anchorCtr="0" upright="1">
              <a:noAutofit/>
            </a:bodyPr>
            <a:lstStyle/>
            <a:p>
              <a:pPr>
                <a:lnSpc>
                  <a:spcPct val="107000"/>
                </a:lnSpc>
                <a:spcAft>
                  <a:spcPts val="800"/>
                </a:spcAft>
              </a:pPr>
              <a:r>
                <a:rPr lang="en-US" sz="1400" kern="100">
                  <a:effectLst/>
                  <a:latin typeface="Arial" panose="020B0604020202020204" pitchFamily="34" charset="0"/>
                  <a:ea typeface="Aptos" panose="020B0004020202020204" pitchFamily="34" charset="0"/>
                  <a:cs typeface="Arial" panose="020B0604020202020204" pitchFamily="34" charset="0"/>
                </a:rPr>
                <a:t>Tên loại thực thể</a:t>
              </a:r>
            </a:p>
          </p:txBody>
        </p:sp>
        <p:sp>
          <p:nvSpPr>
            <p:cNvPr id="14" name="AutoShape 9">
              <a:extLst>
                <a:ext uri="{FF2B5EF4-FFF2-40B4-BE49-F238E27FC236}">
                  <a16:creationId xmlns:a16="http://schemas.microsoft.com/office/drawing/2014/main" id="{16787EC5-9CBC-521B-1213-81E45093246F}"/>
                </a:ext>
              </a:extLst>
            </p:cNvPr>
            <p:cNvSpPr>
              <a:spLocks noChangeArrowheads="1"/>
            </p:cNvSpPr>
            <p:nvPr/>
          </p:nvSpPr>
          <p:spPr bwMode="auto">
            <a:xfrm>
              <a:off x="0" y="921385"/>
              <a:ext cx="1651635" cy="417830"/>
            </a:xfrm>
            <a:prstGeom prst="wedgeRectCallout">
              <a:avLst>
                <a:gd name="adj1" fmla="val -31352"/>
                <a:gd name="adj2" fmla="val 145898"/>
              </a:avLst>
            </a:prstGeom>
            <a:solidFill>
              <a:srgbClr val="FFFFFF"/>
            </a:solidFill>
            <a:ln w="9525" cap="rnd">
              <a:solidFill>
                <a:srgbClr val="000000"/>
              </a:solidFill>
              <a:prstDash val="sysDot"/>
              <a:miter lim="800000"/>
              <a:headEnd/>
              <a:tailEnd/>
            </a:ln>
          </p:spPr>
          <p:txBody>
            <a:bodyPr rot="0" vert="horz" wrap="square" lIns="91440" tIns="45720" rIns="91440" bIns="45720" anchor="t" anchorCtr="0" upright="1">
              <a:noAutofit/>
            </a:bodyPr>
            <a:lstStyle/>
            <a:p>
              <a:pPr>
                <a:lnSpc>
                  <a:spcPct val="107000"/>
                </a:lnSpc>
                <a:spcAft>
                  <a:spcPts val="800"/>
                </a:spcAft>
              </a:pPr>
              <a:r>
                <a:rPr lang="en-US" sz="1400" kern="100">
                  <a:effectLst/>
                  <a:latin typeface="Arial" panose="020B0604020202020204" pitchFamily="34" charset="0"/>
                  <a:ea typeface="Aptos" panose="020B0004020202020204" pitchFamily="34" charset="0"/>
                  <a:cs typeface="Arial" panose="020B0604020202020204" pitchFamily="34" charset="0"/>
                </a:rPr>
                <a:t>Tên thuộc tính</a:t>
              </a:r>
            </a:p>
          </p:txBody>
        </p:sp>
        <p:sp>
          <p:nvSpPr>
            <p:cNvPr id="15" name="AutoShape 10">
              <a:extLst>
                <a:ext uri="{FF2B5EF4-FFF2-40B4-BE49-F238E27FC236}">
                  <a16:creationId xmlns:a16="http://schemas.microsoft.com/office/drawing/2014/main" id="{486D7132-6AD4-BF88-E580-8A4E926E7A00}"/>
                </a:ext>
              </a:extLst>
            </p:cNvPr>
            <p:cNvSpPr>
              <a:spLocks noChangeArrowheads="1"/>
            </p:cNvSpPr>
            <p:nvPr/>
          </p:nvSpPr>
          <p:spPr bwMode="auto">
            <a:xfrm>
              <a:off x="1790065" y="930910"/>
              <a:ext cx="1994535" cy="406400"/>
            </a:xfrm>
            <a:prstGeom prst="wedgeRectCallout">
              <a:avLst>
                <a:gd name="adj1" fmla="val -42856"/>
                <a:gd name="adj2" fmla="val 121689"/>
              </a:avLst>
            </a:prstGeom>
            <a:solidFill>
              <a:srgbClr val="FFFFFF"/>
            </a:solidFill>
            <a:ln w="9525" cap="rnd">
              <a:solidFill>
                <a:srgbClr val="000000"/>
              </a:solidFill>
              <a:prstDash val="sysDot"/>
              <a:miter lim="800000"/>
              <a:headEnd/>
              <a:tailEnd/>
            </a:ln>
          </p:spPr>
          <p:txBody>
            <a:bodyPr rot="0" vert="horz" wrap="square" lIns="91440" tIns="45720" rIns="91440" bIns="45720" anchor="t" anchorCtr="0" upright="1">
              <a:noAutofit/>
            </a:bodyPr>
            <a:lstStyle/>
            <a:p>
              <a:pPr>
                <a:lnSpc>
                  <a:spcPct val="107000"/>
                </a:lnSpc>
                <a:spcAft>
                  <a:spcPts val="800"/>
                </a:spcAft>
              </a:pPr>
              <a:r>
                <a:rPr lang="en-US" sz="1400" kern="100">
                  <a:effectLst/>
                  <a:latin typeface="Arial" panose="020B0604020202020204" pitchFamily="34" charset="0"/>
                  <a:ea typeface="Aptos" panose="020B0004020202020204" pitchFamily="34" charset="0"/>
                  <a:cs typeface="Arial" panose="020B0604020202020204" pitchFamily="34" charset="0"/>
                </a:rPr>
                <a:t>Thêm mới thuộc tính</a:t>
              </a:r>
            </a:p>
          </p:txBody>
        </p:sp>
      </p:grpSp>
    </p:spTree>
    <p:extLst>
      <p:ext uri="{BB962C8B-B14F-4D97-AF65-F5344CB8AC3E}">
        <p14:creationId xmlns:p14="http://schemas.microsoft.com/office/powerpoint/2010/main" val="1313779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CF232E-4F9D-16AF-CAF8-F435F0F68DE9}"/>
              </a:ext>
            </a:extLst>
          </p:cNvPr>
          <p:cNvSpPr>
            <a:spLocks noGrp="1"/>
          </p:cNvSpPr>
          <p:nvPr>
            <p:ph type="sldNum" sz="quarter" idx="12"/>
          </p:nvPr>
        </p:nvSpPr>
        <p:spPr>
          <a:xfrm>
            <a:off x="9281809" y="6356350"/>
            <a:ext cx="2743200" cy="365125"/>
          </a:xfrm>
        </p:spPr>
        <p:txBody>
          <a:bodyPr/>
          <a:lstStyle/>
          <a:p>
            <a:fld id="{C47C1889-967C-4CCE-AB8F-72747BC45B63}" type="slidenum">
              <a:rPr lang="en-US" smtClean="0"/>
              <a:t>7</a:t>
            </a:fld>
            <a:endParaRPr lang="en-US"/>
          </a:p>
        </p:txBody>
      </p:sp>
      <p:sp>
        <p:nvSpPr>
          <p:cNvPr id="8" name="TextBox 7">
            <a:extLst>
              <a:ext uri="{FF2B5EF4-FFF2-40B4-BE49-F238E27FC236}">
                <a16:creationId xmlns:a16="http://schemas.microsoft.com/office/drawing/2014/main" id="{D1FFEDFB-8BF8-95F4-6831-6E8075150039}"/>
              </a:ext>
            </a:extLst>
          </p:cNvPr>
          <p:cNvSpPr txBox="1"/>
          <p:nvPr/>
        </p:nvSpPr>
        <p:spPr>
          <a:xfrm>
            <a:off x="513945" y="136525"/>
            <a:ext cx="10839856" cy="400110"/>
          </a:xfrm>
          <a:prstGeom prst="rect">
            <a:avLst/>
          </a:prstGeom>
          <a:noFill/>
        </p:spPr>
        <p:txBody>
          <a:bodyPr wrap="square" rtlCol="0">
            <a:spAutoFit/>
          </a:bodyPr>
          <a:lstStyle/>
          <a:p>
            <a:pPr algn="ctr"/>
            <a:r>
              <a:rPr lang="en-US" sz="2000" b="1">
                <a:solidFill>
                  <a:srgbClr val="FF0000"/>
                </a:solidFill>
                <a:latin typeface="Arial" panose="020B0604020202020204" pitchFamily="34" charset="0"/>
                <a:cs typeface="Arial" panose="020B0604020202020204" pitchFamily="34" charset="0"/>
              </a:rPr>
              <a:t>BÀI 1: HƯỚNG DẪN SỬ DỤNG PHẦN MỀM CASE STUDIO 2.25</a:t>
            </a:r>
          </a:p>
        </p:txBody>
      </p:sp>
      <p:pic>
        <p:nvPicPr>
          <p:cNvPr id="18" name="Picture 17">
            <a:extLst>
              <a:ext uri="{FF2B5EF4-FFF2-40B4-BE49-F238E27FC236}">
                <a16:creationId xmlns:a16="http://schemas.microsoft.com/office/drawing/2014/main" id="{E16538FD-9E71-84A5-8591-0F98B0DEBCE8}"/>
              </a:ext>
            </a:extLst>
          </p:cNvPr>
          <p:cNvPicPr>
            <a:picLocks noChangeAspect="1"/>
          </p:cNvPicPr>
          <p:nvPr/>
        </p:nvPicPr>
        <p:blipFill>
          <a:blip r:embed="rId2"/>
          <a:stretch>
            <a:fillRect/>
          </a:stretch>
        </p:blipFill>
        <p:spPr>
          <a:xfrm>
            <a:off x="359929" y="624284"/>
            <a:ext cx="6433699" cy="5243014"/>
          </a:xfrm>
          <a:prstGeom prst="rect">
            <a:avLst/>
          </a:prstGeom>
        </p:spPr>
      </p:pic>
      <p:pic>
        <p:nvPicPr>
          <p:cNvPr id="20" name="Picture 19">
            <a:extLst>
              <a:ext uri="{FF2B5EF4-FFF2-40B4-BE49-F238E27FC236}">
                <a16:creationId xmlns:a16="http://schemas.microsoft.com/office/drawing/2014/main" id="{BB72AA26-6725-8F74-F87B-799583AD6588}"/>
              </a:ext>
            </a:extLst>
          </p:cNvPr>
          <p:cNvPicPr>
            <a:picLocks noChangeAspect="1"/>
          </p:cNvPicPr>
          <p:nvPr/>
        </p:nvPicPr>
        <p:blipFill>
          <a:blip r:embed="rId3"/>
          <a:stretch>
            <a:fillRect/>
          </a:stretch>
        </p:blipFill>
        <p:spPr>
          <a:xfrm>
            <a:off x="6653612" y="687307"/>
            <a:ext cx="5060118" cy="5243014"/>
          </a:xfrm>
          <a:prstGeom prst="rect">
            <a:avLst/>
          </a:prstGeom>
        </p:spPr>
      </p:pic>
    </p:spTree>
    <p:extLst>
      <p:ext uri="{BB962C8B-B14F-4D97-AF65-F5344CB8AC3E}">
        <p14:creationId xmlns:p14="http://schemas.microsoft.com/office/powerpoint/2010/main" val="2411115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CF232E-4F9D-16AF-CAF8-F435F0F68DE9}"/>
              </a:ext>
            </a:extLst>
          </p:cNvPr>
          <p:cNvSpPr>
            <a:spLocks noGrp="1"/>
          </p:cNvSpPr>
          <p:nvPr>
            <p:ph type="sldNum" sz="quarter" idx="12"/>
          </p:nvPr>
        </p:nvSpPr>
        <p:spPr/>
        <p:txBody>
          <a:bodyPr/>
          <a:lstStyle/>
          <a:p>
            <a:fld id="{C47C1889-967C-4CCE-AB8F-72747BC45B63}" type="slidenum">
              <a:rPr lang="en-US" smtClean="0"/>
              <a:t>8</a:t>
            </a:fld>
            <a:endParaRPr lang="en-US"/>
          </a:p>
        </p:txBody>
      </p:sp>
      <p:sp>
        <p:nvSpPr>
          <p:cNvPr id="8" name="TextBox 7">
            <a:extLst>
              <a:ext uri="{FF2B5EF4-FFF2-40B4-BE49-F238E27FC236}">
                <a16:creationId xmlns:a16="http://schemas.microsoft.com/office/drawing/2014/main" id="{D1FFEDFB-8BF8-95F4-6831-6E8075150039}"/>
              </a:ext>
            </a:extLst>
          </p:cNvPr>
          <p:cNvSpPr txBox="1"/>
          <p:nvPr/>
        </p:nvSpPr>
        <p:spPr>
          <a:xfrm>
            <a:off x="513944" y="112821"/>
            <a:ext cx="10839856" cy="400110"/>
          </a:xfrm>
          <a:prstGeom prst="rect">
            <a:avLst/>
          </a:prstGeom>
          <a:noFill/>
        </p:spPr>
        <p:txBody>
          <a:bodyPr wrap="square" rtlCol="0">
            <a:spAutoFit/>
          </a:bodyPr>
          <a:lstStyle/>
          <a:p>
            <a:pPr algn="ctr"/>
            <a:r>
              <a:rPr lang="en-US" sz="2000" b="1">
                <a:solidFill>
                  <a:srgbClr val="FF0000"/>
                </a:solidFill>
                <a:latin typeface="Arial" panose="020B0604020202020204" pitchFamily="34" charset="0"/>
                <a:cs typeface="Arial" panose="020B0604020202020204" pitchFamily="34" charset="0"/>
              </a:rPr>
              <a:t>BÀI 1: HƯỚNG DẪN SỬ DỤNG PHẦN MỀM CASE STUDIO 2.25</a:t>
            </a:r>
          </a:p>
        </p:txBody>
      </p:sp>
      <p:pic>
        <p:nvPicPr>
          <p:cNvPr id="3" name="Picture 2">
            <a:extLst>
              <a:ext uri="{FF2B5EF4-FFF2-40B4-BE49-F238E27FC236}">
                <a16:creationId xmlns:a16="http://schemas.microsoft.com/office/drawing/2014/main" id="{1F19EABA-BF80-B7F0-4388-7BB84EFF36D5}"/>
              </a:ext>
            </a:extLst>
          </p:cNvPr>
          <p:cNvPicPr>
            <a:picLocks noChangeAspect="1"/>
          </p:cNvPicPr>
          <p:nvPr/>
        </p:nvPicPr>
        <p:blipFill>
          <a:blip r:embed="rId2"/>
          <a:stretch>
            <a:fillRect/>
          </a:stretch>
        </p:blipFill>
        <p:spPr>
          <a:xfrm>
            <a:off x="2495243" y="482153"/>
            <a:ext cx="6877258" cy="5652160"/>
          </a:xfrm>
          <a:prstGeom prst="rect">
            <a:avLst/>
          </a:prstGeom>
        </p:spPr>
      </p:pic>
    </p:spTree>
    <p:extLst>
      <p:ext uri="{BB962C8B-B14F-4D97-AF65-F5344CB8AC3E}">
        <p14:creationId xmlns:p14="http://schemas.microsoft.com/office/powerpoint/2010/main" val="708895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CF232E-4F9D-16AF-CAF8-F435F0F68DE9}"/>
              </a:ext>
            </a:extLst>
          </p:cNvPr>
          <p:cNvSpPr>
            <a:spLocks noGrp="1"/>
          </p:cNvSpPr>
          <p:nvPr>
            <p:ph type="sldNum" sz="quarter" idx="12"/>
          </p:nvPr>
        </p:nvSpPr>
        <p:spPr/>
        <p:txBody>
          <a:bodyPr/>
          <a:lstStyle/>
          <a:p>
            <a:fld id="{C47C1889-967C-4CCE-AB8F-72747BC45B63}" type="slidenum">
              <a:rPr lang="en-US" smtClean="0"/>
              <a:t>9</a:t>
            </a:fld>
            <a:endParaRPr lang="en-US"/>
          </a:p>
        </p:txBody>
      </p:sp>
      <p:sp>
        <p:nvSpPr>
          <p:cNvPr id="10" name="TextBox 9">
            <a:extLst>
              <a:ext uri="{FF2B5EF4-FFF2-40B4-BE49-F238E27FC236}">
                <a16:creationId xmlns:a16="http://schemas.microsoft.com/office/drawing/2014/main" id="{5EA0B46F-E041-2CE3-99CE-A47B5ED8D198}"/>
              </a:ext>
            </a:extLst>
          </p:cNvPr>
          <p:cNvSpPr txBox="1"/>
          <p:nvPr/>
        </p:nvSpPr>
        <p:spPr>
          <a:xfrm>
            <a:off x="116732" y="724171"/>
            <a:ext cx="2597286" cy="872034"/>
          </a:xfrm>
          <a:prstGeom prst="rect">
            <a:avLst/>
          </a:prstGeom>
          <a:noFill/>
        </p:spPr>
        <p:txBody>
          <a:bodyPr wrap="square" rtlCol="0">
            <a:spAutoFit/>
          </a:bodyPr>
          <a:lstStyle/>
          <a:p>
            <a:pPr>
              <a:lnSpc>
                <a:spcPct val="150000"/>
              </a:lnSpc>
              <a:spcAft>
                <a:spcPts val="800"/>
              </a:spcAft>
              <a:tabLst>
                <a:tab pos="571500" algn="l"/>
              </a:tabLst>
            </a:pPr>
            <a:r>
              <a:rPr lang="en-US" sz="1800" kern="100">
                <a:effectLst/>
                <a:latin typeface="Arial" panose="020B0604020202020204" pitchFamily="34" charset="0"/>
                <a:ea typeface="Aptos" panose="020B0004020202020204" pitchFamily="34" charset="0"/>
                <a:cs typeface="Arial" panose="020B0604020202020204" pitchFamily="34" charset="0"/>
              </a:rPr>
              <a:t>- </a:t>
            </a:r>
            <a:r>
              <a:rPr lang="fr-FR" sz="1800">
                <a:effectLst/>
                <a:latin typeface="Arial" panose="020B0604020202020204" pitchFamily="34" charset="0"/>
                <a:ea typeface="Aptos" panose="020B0004020202020204" pitchFamily="34" charset="0"/>
                <a:cs typeface="Arial" panose="020B0604020202020204" pitchFamily="34" charset="0"/>
              </a:rPr>
              <a:t>Giả sử ta có mô hình</a:t>
            </a:r>
            <a:br>
              <a:rPr lang="fr-FR" sz="1800">
                <a:effectLst/>
                <a:latin typeface="Arial" panose="020B0604020202020204" pitchFamily="34" charset="0"/>
                <a:ea typeface="Aptos" panose="020B0004020202020204" pitchFamily="34" charset="0"/>
                <a:cs typeface="Arial" panose="020B0604020202020204" pitchFamily="34" charset="0"/>
              </a:rPr>
            </a:br>
            <a:r>
              <a:rPr lang="fr-FR" sz="1800">
                <a:effectLst/>
                <a:latin typeface="Arial" panose="020B0604020202020204" pitchFamily="34" charset="0"/>
                <a:ea typeface="Aptos" panose="020B0004020202020204" pitchFamily="34" charset="0"/>
                <a:cs typeface="Arial" panose="020B0604020202020204" pitchFamily="34" charset="0"/>
              </a:rPr>
              <a:t>ERD như sau:</a:t>
            </a:r>
            <a:endParaRPr lang="en-US" sz="1800" kern="100">
              <a:effectLst/>
              <a:latin typeface="Arial" panose="020B0604020202020204" pitchFamily="34" charset="0"/>
              <a:ea typeface="Aptos" panose="020B00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9121D186-EE2A-1485-F56C-21367B76EE5D}"/>
              </a:ext>
            </a:extLst>
          </p:cNvPr>
          <p:cNvPicPr>
            <a:picLocks noChangeAspect="1"/>
          </p:cNvPicPr>
          <p:nvPr/>
        </p:nvPicPr>
        <p:blipFill>
          <a:blip r:embed="rId2"/>
          <a:stretch>
            <a:fillRect/>
          </a:stretch>
        </p:blipFill>
        <p:spPr>
          <a:xfrm>
            <a:off x="3117039" y="78157"/>
            <a:ext cx="6902449" cy="6665310"/>
          </a:xfrm>
          <a:prstGeom prst="rect">
            <a:avLst/>
          </a:prstGeom>
        </p:spPr>
      </p:pic>
    </p:spTree>
    <p:extLst>
      <p:ext uri="{BB962C8B-B14F-4D97-AF65-F5344CB8AC3E}">
        <p14:creationId xmlns:p14="http://schemas.microsoft.com/office/powerpoint/2010/main" val="2824828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CF232E-4F9D-16AF-CAF8-F435F0F68DE9}"/>
              </a:ext>
            </a:extLst>
          </p:cNvPr>
          <p:cNvSpPr>
            <a:spLocks noGrp="1"/>
          </p:cNvSpPr>
          <p:nvPr>
            <p:ph type="sldNum" sz="quarter" idx="12"/>
          </p:nvPr>
        </p:nvSpPr>
        <p:spPr/>
        <p:txBody>
          <a:bodyPr/>
          <a:lstStyle/>
          <a:p>
            <a:fld id="{C47C1889-967C-4CCE-AB8F-72747BC45B63}" type="slidenum">
              <a:rPr lang="en-US" smtClean="0"/>
              <a:t>10</a:t>
            </a:fld>
            <a:endParaRPr lang="en-US"/>
          </a:p>
        </p:txBody>
      </p:sp>
      <p:sp>
        <p:nvSpPr>
          <p:cNvPr id="8" name="TextBox 7">
            <a:extLst>
              <a:ext uri="{FF2B5EF4-FFF2-40B4-BE49-F238E27FC236}">
                <a16:creationId xmlns:a16="http://schemas.microsoft.com/office/drawing/2014/main" id="{D1FFEDFB-8BF8-95F4-6831-6E8075150039}"/>
              </a:ext>
            </a:extLst>
          </p:cNvPr>
          <p:cNvSpPr txBox="1"/>
          <p:nvPr/>
        </p:nvSpPr>
        <p:spPr>
          <a:xfrm>
            <a:off x="513944" y="122545"/>
            <a:ext cx="10839856" cy="400110"/>
          </a:xfrm>
          <a:prstGeom prst="rect">
            <a:avLst/>
          </a:prstGeom>
          <a:noFill/>
        </p:spPr>
        <p:txBody>
          <a:bodyPr wrap="square" rtlCol="0">
            <a:spAutoFit/>
          </a:bodyPr>
          <a:lstStyle/>
          <a:p>
            <a:pPr algn="ctr"/>
            <a:r>
              <a:rPr lang="en-US" sz="2000" b="1">
                <a:solidFill>
                  <a:srgbClr val="FF0000"/>
                </a:solidFill>
                <a:latin typeface="Arial" panose="020B0604020202020204" pitchFamily="34" charset="0"/>
                <a:cs typeface="Arial" panose="020B0604020202020204" pitchFamily="34" charset="0"/>
              </a:rPr>
              <a:t>BÀI 1: HƯỚNG DẪN SỬ DỤNG PHẦN MỀM CASE STUDIO 2.25</a:t>
            </a:r>
          </a:p>
        </p:txBody>
      </p:sp>
      <p:pic>
        <p:nvPicPr>
          <p:cNvPr id="6" name="Picture 5" descr="A screenshot of a computer&#10;&#10;Description automatically generated">
            <a:extLst>
              <a:ext uri="{FF2B5EF4-FFF2-40B4-BE49-F238E27FC236}">
                <a16:creationId xmlns:a16="http://schemas.microsoft.com/office/drawing/2014/main" id="{BC6D823E-86A2-B942-276A-909B83025F78}"/>
              </a:ext>
            </a:extLst>
          </p:cNvPr>
          <p:cNvPicPr>
            <a:picLocks noChangeAspect="1"/>
          </p:cNvPicPr>
          <p:nvPr/>
        </p:nvPicPr>
        <p:blipFill>
          <a:blip r:embed="rId2"/>
          <a:stretch>
            <a:fillRect/>
          </a:stretch>
        </p:blipFill>
        <p:spPr>
          <a:xfrm>
            <a:off x="2726988" y="1740091"/>
            <a:ext cx="6019800" cy="4279265"/>
          </a:xfrm>
          <a:prstGeom prst="rect">
            <a:avLst/>
          </a:prstGeom>
        </p:spPr>
      </p:pic>
      <p:sp>
        <p:nvSpPr>
          <p:cNvPr id="9" name="TextBox 8">
            <a:extLst>
              <a:ext uri="{FF2B5EF4-FFF2-40B4-BE49-F238E27FC236}">
                <a16:creationId xmlns:a16="http://schemas.microsoft.com/office/drawing/2014/main" id="{AA9A628A-E90D-D873-8221-D0F6D0D2AA18}"/>
              </a:ext>
            </a:extLst>
          </p:cNvPr>
          <p:cNvSpPr txBox="1"/>
          <p:nvPr/>
        </p:nvSpPr>
        <p:spPr>
          <a:xfrm>
            <a:off x="129701" y="491877"/>
            <a:ext cx="11776953" cy="1064650"/>
          </a:xfrm>
          <a:prstGeom prst="rect">
            <a:avLst/>
          </a:prstGeom>
          <a:noFill/>
        </p:spPr>
        <p:txBody>
          <a:bodyPr wrap="square" rtlCol="0">
            <a:spAutoFit/>
          </a:bodyPr>
          <a:lstStyle/>
          <a:p>
            <a:pPr indent="269875" algn="just">
              <a:lnSpc>
                <a:spcPct val="107000"/>
              </a:lnSpc>
              <a:spcAft>
                <a:spcPts val="800"/>
              </a:spcAft>
            </a:pPr>
            <a:r>
              <a:rPr lang="en-US" sz="1800" kern="100">
                <a:effectLst/>
                <a:latin typeface="Arial" panose="020B0604020202020204" pitchFamily="34" charset="0"/>
                <a:ea typeface="Aptos" panose="020B0004020202020204" pitchFamily="34" charset="0"/>
                <a:cs typeface="Arial" panose="020B0604020202020204" pitchFamily="34" charset="0"/>
              </a:rPr>
              <a:t>- </a:t>
            </a:r>
            <a:r>
              <a:rPr lang="en-US" kern="100">
                <a:effectLst/>
                <a:latin typeface="Arial" panose="020B0604020202020204" pitchFamily="34" charset="0"/>
                <a:ea typeface="Aptos" panose="020B0004020202020204" pitchFamily="34" charset="0"/>
                <a:cs typeface="Arial" panose="020B0604020202020204" pitchFamily="34" charset="0"/>
              </a:rPr>
              <a:t>Sinh code SQL trong Case Studio: Vào menu Model -&gt; Generate script (F9). Chọn các chức năng cần sinh code SQL -&gt; Nhấn vào nút Generate và View, sau đó ta có thể lưu lại tập tin script này.</a:t>
            </a:r>
          </a:p>
          <a:p>
            <a:pPr algn="just"/>
            <a:r>
              <a:rPr lang="en-US" sz="1800" i="1">
                <a:effectLst/>
                <a:latin typeface="Arial" panose="020B0604020202020204" pitchFamily="34" charset="0"/>
                <a:ea typeface="Aptos" panose="020B0004020202020204" pitchFamily="34" charset="0"/>
                <a:cs typeface="Arial" panose="020B0604020202020204" pitchFamily="34" charset="0"/>
              </a:rPr>
              <a:t>Chú ý: Nhớ bỏ chọn tại mục Check Script.</a:t>
            </a: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7706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CF232E-4F9D-16AF-CAF8-F435F0F68DE9}"/>
              </a:ext>
            </a:extLst>
          </p:cNvPr>
          <p:cNvSpPr>
            <a:spLocks noGrp="1"/>
          </p:cNvSpPr>
          <p:nvPr>
            <p:ph type="sldNum" sz="quarter" idx="12"/>
          </p:nvPr>
        </p:nvSpPr>
        <p:spPr/>
        <p:txBody>
          <a:bodyPr/>
          <a:lstStyle/>
          <a:p>
            <a:fld id="{C47C1889-967C-4CCE-AB8F-72747BC45B63}" type="slidenum">
              <a:rPr lang="en-US" smtClean="0"/>
              <a:t>11</a:t>
            </a:fld>
            <a:endParaRPr lang="en-US"/>
          </a:p>
        </p:txBody>
      </p:sp>
      <p:sp>
        <p:nvSpPr>
          <p:cNvPr id="8" name="TextBox 7">
            <a:extLst>
              <a:ext uri="{FF2B5EF4-FFF2-40B4-BE49-F238E27FC236}">
                <a16:creationId xmlns:a16="http://schemas.microsoft.com/office/drawing/2014/main" id="{D1FFEDFB-8BF8-95F4-6831-6E8075150039}"/>
              </a:ext>
            </a:extLst>
          </p:cNvPr>
          <p:cNvSpPr txBox="1"/>
          <p:nvPr/>
        </p:nvSpPr>
        <p:spPr>
          <a:xfrm>
            <a:off x="494488" y="136525"/>
            <a:ext cx="10839856" cy="400110"/>
          </a:xfrm>
          <a:prstGeom prst="rect">
            <a:avLst/>
          </a:prstGeom>
          <a:noFill/>
        </p:spPr>
        <p:txBody>
          <a:bodyPr wrap="square" rtlCol="0">
            <a:spAutoFit/>
          </a:bodyPr>
          <a:lstStyle/>
          <a:p>
            <a:pPr algn="ctr"/>
            <a:r>
              <a:rPr lang="en-US" sz="2000" b="1">
                <a:solidFill>
                  <a:srgbClr val="FF0000"/>
                </a:solidFill>
                <a:latin typeface="Arial" panose="020B0604020202020204" pitchFamily="34" charset="0"/>
                <a:cs typeface="Arial" panose="020B0604020202020204" pitchFamily="34" charset="0"/>
              </a:rPr>
              <a:t>BÀI 1: HƯỚNG DẪN SỬ DỤNG PHẦN MỀM CASE STUDIO 2.25</a:t>
            </a:r>
          </a:p>
        </p:txBody>
      </p:sp>
      <p:sp>
        <p:nvSpPr>
          <p:cNvPr id="2" name="TextBox 1">
            <a:extLst>
              <a:ext uri="{FF2B5EF4-FFF2-40B4-BE49-F238E27FC236}">
                <a16:creationId xmlns:a16="http://schemas.microsoft.com/office/drawing/2014/main" id="{A4AE09E4-3B3B-14EA-EF95-FF5755CBAE51}"/>
              </a:ext>
            </a:extLst>
          </p:cNvPr>
          <p:cNvSpPr txBox="1"/>
          <p:nvPr/>
        </p:nvSpPr>
        <p:spPr>
          <a:xfrm>
            <a:off x="214007" y="597639"/>
            <a:ext cx="11731557" cy="376065"/>
          </a:xfrm>
          <a:prstGeom prst="rect">
            <a:avLst/>
          </a:prstGeom>
          <a:noFill/>
        </p:spPr>
        <p:txBody>
          <a:bodyPr wrap="square" rtlCol="0">
            <a:spAutoFit/>
          </a:bodyPr>
          <a:lstStyle/>
          <a:p>
            <a:pPr indent="269875" algn="just">
              <a:lnSpc>
                <a:spcPct val="107000"/>
              </a:lnSpc>
              <a:spcAft>
                <a:spcPts val="800"/>
              </a:spcAft>
            </a:pPr>
            <a:r>
              <a:rPr lang="en-US" sz="1800">
                <a:effectLst/>
                <a:latin typeface="Arial" panose="020B0604020202020204" pitchFamily="34" charset="0"/>
                <a:ea typeface="Aptos" panose="020B0004020202020204" pitchFamily="34" charset="0"/>
                <a:cs typeface="Arial" panose="020B0604020202020204" pitchFamily="34" charset="0"/>
              </a:rPr>
              <a:t>- Biểu diễn mô hình trên bằng phần mềm Toad Data Modeler:</a:t>
            </a:r>
            <a:endParaRPr lang="en-US">
              <a:latin typeface="Arial" panose="020B0604020202020204" pitchFamily="34" charset="0"/>
              <a:cs typeface="Arial" panose="020B0604020202020204" pitchFamily="34" charset="0"/>
            </a:endParaRPr>
          </a:p>
        </p:txBody>
      </p:sp>
      <p:pic>
        <p:nvPicPr>
          <p:cNvPr id="3" name="Picture 2" descr="A screenshot of a computer&#10;&#10;Description automatically generated">
            <a:extLst>
              <a:ext uri="{FF2B5EF4-FFF2-40B4-BE49-F238E27FC236}">
                <a16:creationId xmlns:a16="http://schemas.microsoft.com/office/drawing/2014/main" id="{108D25EA-72F0-46B4-E7B3-06E608E8B77D}"/>
              </a:ext>
            </a:extLst>
          </p:cNvPr>
          <p:cNvPicPr>
            <a:picLocks noChangeAspect="1"/>
          </p:cNvPicPr>
          <p:nvPr/>
        </p:nvPicPr>
        <p:blipFill>
          <a:blip r:embed="rId2"/>
          <a:stretch>
            <a:fillRect/>
          </a:stretch>
        </p:blipFill>
        <p:spPr>
          <a:xfrm>
            <a:off x="1911484" y="1065486"/>
            <a:ext cx="8433410" cy="5043484"/>
          </a:xfrm>
          <a:prstGeom prst="rect">
            <a:avLst/>
          </a:prstGeom>
        </p:spPr>
      </p:pic>
    </p:spTree>
    <p:extLst>
      <p:ext uri="{BB962C8B-B14F-4D97-AF65-F5344CB8AC3E}">
        <p14:creationId xmlns:p14="http://schemas.microsoft.com/office/powerpoint/2010/main" val="3490306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CF232E-4F9D-16AF-CAF8-F435F0F68DE9}"/>
              </a:ext>
            </a:extLst>
          </p:cNvPr>
          <p:cNvSpPr>
            <a:spLocks noGrp="1"/>
          </p:cNvSpPr>
          <p:nvPr>
            <p:ph type="sldNum" sz="quarter" idx="12"/>
          </p:nvPr>
        </p:nvSpPr>
        <p:spPr/>
        <p:txBody>
          <a:bodyPr/>
          <a:lstStyle/>
          <a:p>
            <a:fld id="{C47C1889-967C-4CCE-AB8F-72747BC45B63}" type="slidenum">
              <a:rPr lang="en-US" smtClean="0"/>
              <a:t>12</a:t>
            </a:fld>
            <a:endParaRPr lang="en-US"/>
          </a:p>
        </p:txBody>
      </p:sp>
      <p:sp>
        <p:nvSpPr>
          <p:cNvPr id="2" name="TextBox 1">
            <a:extLst>
              <a:ext uri="{FF2B5EF4-FFF2-40B4-BE49-F238E27FC236}">
                <a16:creationId xmlns:a16="http://schemas.microsoft.com/office/drawing/2014/main" id="{A4AE09E4-3B3B-14EA-EF95-FF5755CBAE51}"/>
              </a:ext>
            </a:extLst>
          </p:cNvPr>
          <p:cNvSpPr txBox="1"/>
          <p:nvPr/>
        </p:nvSpPr>
        <p:spPr>
          <a:xfrm>
            <a:off x="214008" y="732656"/>
            <a:ext cx="4961107" cy="1062535"/>
          </a:xfrm>
          <a:prstGeom prst="rect">
            <a:avLst/>
          </a:prstGeom>
          <a:noFill/>
        </p:spPr>
        <p:txBody>
          <a:bodyPr wrap="square" rtlCol="0">
            <a:spAutoFit/>
          </a:bodyPr>
          <a:lstStyle/>
          <a:p>
            <a:pPr marL="285750" indent="-285750" algn="just">
              <a:lnSpc>
                <a:spcPct val="107000"/>
              </a:lnSpc>
              <a:spcAft>
                <a:spcPts val="800"/>
              </a:spcAft>
              <a:buFontTx/>
              <a:buChar char="-"/>
            </a:pPr>
            <a:r>
              <a:rPr lang="en-US" sz="1800">
                <a:effectLst/>
                <a:latin typeface="Arial" panose="020B0604020202020204" pitchFamily="34" charset="0"/>
                <a:ea typeface="Aptos" panose="020B0004020202020204" pitchFamily="34" charset="0"/>
                <a:cs typeface="Arial" panose="020B0604020202020204" pitchFamily="34" charset="0"/>
              </a:rPr>
              <a:t>Tạo bảng KHACHHANG:</a:t>
            </a:r>
          </a:p>
          <a:p>
            <a:pPr marL="285750" indent="-285750" algn="just">
              <a:lnSpc>
                <a:spcPct val="107000"/>
              </a:lnSpc>
              <a:spcAft>
                <a:spcPts val="800"/>
              </a:spcAft>
              <a:buFontTx/>
              <a:buChar char="-"/>
            </a:pPr>
            <a:r>
              <a:rPr lang="en-US" sz="1800">
                <a:effectLst/>
                <a:latin typeface="Arial" panose="020B0604020202020204" pitchFamily="34" charset="0"/>
                <a:ea typeface="Aptos" panose="020B0004020202020204" pitchFamily="34" charset="0"/>
                <a:cs typeface="Arial" panose="020B0604020202020204" pitchFamily="34" charset="0"/>
              </a:rPr>
              <a:t>Tại thẻ SQL Preview cho phép chúng ta xem code SQL được sinh ra.</a:t>
            </a:r>
            <a:endParaRPr lang="en-US">
              <a:latin typeface="Arial" panose="020B0604020202020204" pitchFamily="34" charset="0"/>
              <a:cs typeface="Arial" panose="020B0604020202020204" pitchFamily="34" charset="0"/>
            </a:endParaRPr>
          </a:p>
        </p:txBody>
      </p:sp>
      <p:pic>
        <p:nvPicPr>
          <p:cNvPr id="9" name="Picture 8" descr="A screenshot of a computer&#10;&#10;Description automatically generated">
            <a:extLst>
              <a:ext uri="{FF2B5EF4-FFF2-40B4-BE49-F238E27FC236}">
                <a16:creationId xmlns:a16="http://schemas.microsoft.com/office/drawing/2014/main" id="{C7DBA5B5-7A23-4256-7FF3-40BAC68FED04}"/>
              </a:ext>
            </a:extLst>
          </p:cNvPr>
          <p:cNvPicPr>
            <a:picLocks noChangeAspect="1"/>
          </p:cNvPicPr>
          <p:nvPr/>
        </p:nvPicPr>
        <p:blipFill>
          <a:blip r:embed="rId2"/>
          <a:stretch>
            <a:fillRect/>
          </a:stretch>
        </p:blipFill>
        <p:spPr>
          <a:xfrm>
            <a:off x="5430378" y="136525"/>
            <a:ext cx="5707792" cy="5865346"/>
          </a:xfrm>
          <a:prstGeom prst="rect">
            <a:avLst/>
          </a:prstGeom>
        </p:spPr>
      </p:pic>
    </p:spTree>
    <p:extLst>
      <p:ext uri="{BB962C8B-B14F-4D97-AF65-F5344CB8AC3E}">
        <p14:creationId xmlns:p14="http://schemas.microsoft.com/office/powerpoint/2010/main" val="3121046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CF232E-4F9D-16AF-CAF8-F435F0F68DE9}"/>
              </a:ext>
            </a:extLst>
          </p:cNvPr>
          <p:cNvSpPr>
            <a:spLocks noGrp="1"/>
          </p:cNvSpPr>
          <p:nvPr>
            <p:ph type="sldNum" sz="quarter" idx="12"/>
          </p:nvPr>
        </p:nvSpPr>
        <p:spPr/>
        <p:txBody>
          <a:bodyPr/>
          <a:lstStyle/>
          <a:p>
            <a:fld id="{C47C1889-967C-4CCE-AB8F-72747BC45B63}" type="slidenum">
              <a:rPr lang="en-US" smtClean="0"/>
              <a:t>13</a:t>
            </a:fld>
            <a:endParaRPr lang="en-US"/>
          </a:p>
        </p:txBody>
      </p:sp>
      <p:sp>
        <p:nvSpPr>
          <p:cNvPr id="8" name="TextBox 7">
            <a:extLst>
              <a:ext uri="{FF2B5EF4-FFF2-40B4-BE49-F238E27FC236}">
                <a16:creationId xmlns:a16="http://schemas.microsoft.com/office/drawing/2014/main" id="{D1FFEDFB-8BF8-95F4-6831-6E8075150039}"/>
              </a:ext>
            </a:extLst>
          </p:cNvPr>
          <p:cNvSpPr txBox="1"/>
          <p:nvPr/>
        </p:nvSpPr>
        <p:spPr>
          <a:xfrm>
            <a:off x="596630" y="136525"/>
            <a:ext cx="10839856" cy="400110"/>
          </a:xfrm>
          <a:prstGeom prst="rect">
            <a:avLst/>
          </a:prstGeom>
          <a:noFill/>
        </p:spPr>
        <p:txBody>
          <a:bodyPr wrap="square" rtlCol="0">
            <a:spAutoFit/>
          </a:bodyPr>
          <a:lstStyle/>
          <a:p>
            <a:pPr algn="ctr"/>
            <a:r>
              <a:rPr lang="en-US" sz="2000" b="1">
                <a:solidFill>
                  <a:srgbClr val="FF0000"/>
                </a:solidFill>
                <a:latin typeface="Arial" panose="020B0604020202020204" pitchFamily="34" charset="0"/>
                <a:cs typeface="Arial" panose="020B0604020202020204" pitchFamily="34" charset="0"/>
              </a:rPr>
              <a:t>BÀI 1: HƯỚNG DẪN SỬ DỤNG PHẦN MỀM CASE STUDIO 2.25</a:t>
            </a:r>
          </a:p>
        </p:txBody>
      </p:sp>
      <p:sp>
        <p:nvSpPr>
          <p:cNvPr id="2" name="TextBox 1">
            <a:extLst>
              <a:ext uri="{FF2B5EF4-FFF2-40B4-BE49-F238E27FC236}">
                <a16:creationId xmlns:a16="http://schemas.microsoft.com/office/drawing/2014/main" id="{A4AE09E4-3B3B-14EA-EF95-FF5755CBAE51}"/>
              </a:ext>
            </a:extLst>
          </p:cNvPr>
          <p:cNvSpPr txBox="1"/>
          <p:nvPr/>
        </p:nvSpPr>
        <p:spPr>
          <a:xfrm>
            <a:off x="316150" y="597639"/>
            <a:ext cx="5048656" cy="968791"/>
          </a:xfrm>
          <a:prstGeom prst="rect">
            <a:avLst/>
          </a:prstGeom>
          <a:noFill/>
        </p:spPr>
        <p:txBody>
          <a:bodyPr wrap="square" rtlCol="0">
            <a:spAutoFit/>
          </a:bodyPr>
          <a:lstStyle/>
          <a:p>
            <a:pPr indent="269875" algn="just">
              <a:lnSpc>
                <a:spcPct val="107000"/>
              </a:lnSpc>
              <a:spcAft>
                <a:spcPts val="800"/>
              </a:spcAft>
            </a:pPr>
            <a:r>
              <a:rPr lang="en-US" sz="1800">
                <a:effectLst/>
                <a:latin typeface="Arial" panose="020B0604020202020204" pitchFamily="34" charset="0"/>
                <a:ea typeface="Aptos" panose="020B0004020202020204" pitchFamily="34" charset="0"/>
                <a:cs typeface="Arial" panose="020B0604020202020204" pitchFamily="34" charset="0"/>
              </a:rPr>
              <a:t>- Học viên lần lượt thực hiện các bài tập bên dưới trong giờ thực hành với sự hướng dẫn của GV phụ trách môn học.</a:t>
            </a:r>
            <a:endParaRPr lang="en-US">
              <a:latin typeface="Arial" panose="020B0604020202020204" pitchFamily="34" charset="0"/>
              <a:cs typeface="Arial" panose="020B0604020202020204" pitchFamily="34" charset="0"/>
            </a:endParaRPr>
          </a:p>
        </p:txBody>
      </p:sp>
      <p:pic>
        <p:nvPicPr>
          <p:cNvPr id="9" name="Picture 8" descr="A screenshot of a computer&#10;&#10;Description automatically generated">
            <a:extLst>
              <a:ext uri="{FF2B5EF4-FFF2-40B4-BE49-F238E27FC236}">
                <a16:creationId xmlns:a16="http://schemas.microsoft.com/office/drawing/2014/main" id="{B90C2EBB-9393-8655-0C9A-41315C22DE97}"/>
              </a:ext>
            </a:extLst>
          </p:cNvPr>
          <p:cNvPicPr>
            <a:picLocks noChangeAspect="1"/>
          </p:cNvPicPr>
          <p:nvPr/>
        </p:nvPicPr>
        <p:blipFill>
          <a:blip r:embed="rId2"/>
          <a:stretch>
            <a:fillRect/>
          </a:stretch>
        </p:blipFill>
        <p:spPr>
          <a:xfrm>
            <a:off x="5574982" y="597639"/>
            <a:ext cx="6071235" cy="5400040"/>
          </a:xfrm>
          <a:prstGeom prst="rect">
            <a:avLst/>
          </a:prstGeom>
        </p:spPr>
      </p:pic>
    </p:spTree>
    <p:extLst>
      <p:ext uri="{BB962C8B-B14F-4D97-AF65-F5344CB8AC3E}">
        <p14:creationId xmlns:p14="http://schemas.microsoft.com/office/powerpoint/2010/main" val="54936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CF232E-4F9D-16AF-CAF8-F435F0F68DE9}"/>
              </a:ext>
            </a:extLst>
          </p:cNvPr>
          <p:cNvSpPr>
            <a:spLocks noGrp="1"/>
          </p:cNvSpPr>
          <p:nvPr>
            <p:ph type="sldNum" sz="quarter" idx="12"/>
          </p:nvPr>
        </p:nvSpPr>
        <p:spPr/>
        <p:txBody>
          <a:bodyPr/>
          <a:lstStyle/>
          <a:p>
            <a:fld id="{C47C1889-967C-4CCE-AB8F-72747BC45B63}" type="slidenum">
              <a:rPr lang="en-US" smtClean="0"/>
              <a:t>14</a:t>
            </a:fld>
            <a:endParaRPr lang="en-US"/>
          </a:p>
        </p:txBody>
      </p:sp>
      <p:sp>
        <p:nvSpPr>
          <p:cNvPr id="8" name="TextBox 7">
            <a:extLst>
              <a:ext uri="{FF2B5EF4-FFF2-40B4-BE49-F238E27FC236}">
                <a16:creationId xmlns:a16="http://schemas.microsoft.com/office/drawing/2014/main" id="{D1FFEDFB-8BF8-95F4-6831-6E8075150039}"/>
              </a:ext>
            </a:extLst>
          </p:cNvPr>
          <p:cNvSpPr txBox="1"/>
          <p:nvPr/>
        </p:nvSpPr>
        <p:spPr>
          <a:xfrm>
            <a:off x="530157" y="136525"/>
            <a:ext cx="10839856" cy="400110"/>
          </a:xfrm>
          <a:prstGeom prst="rect">
            <a:avLst/>
          </a:prstGeom>
          <a:noFill/>
        </p:spPr>
        <p:txBody>
          <a:bodyPr wrap="square" rtlCol="0">
            <a:spAutoFit/>
          </a:bodyPr>
          <a:lstStyle/>
          <a:p>
            <a:pPr algn="ctr"/>
            <a:r>
              <a:rPr lang="en-US" sz="2000" b="1">
                <a:solidFill>
                  <a:srgbClr val="FF0000"/>
                </a:solidFill>
                <a:latin typeface="Arial" panose="020B0604020202020204" pitchFamily="34" charset="0"/>
                <a:cs typeface="Arial" panose="020B0604020202020204" pitchFamily="34" charset="0"/>
              </a:rPr>
              <a:t>BÀI 1: HỆ THỐNG QUẢN LÝ THƯ VIỆN</a:t>
            </a:r>
          </a:p>
        </p:txBody>
      </p:sp>
      <p:sp>
        <p:nvSpPr>
          <p:cNvPr id="3" name="TextBox 2">
            <a:extLst>
              <a:ext uri="{FF2B5EF4-FFF2-40B4-BE49-F238E27FC236}">
                <a16:creationId xmlns:a16="http://schemas.microsoft.com/office/drawing/2014/main" id="{AB52FF0D-9545-8C5C-CB16-00238CD751C5}"/>
              </a:ext>
            </a:extLst>
          </p:cNvPr>
          <p:cNvSpPr txBox="1"/>
          <p:nvPr/>
        </p:nvSpPr>
        <p:spPr>
          <a:xfrm>
            <a:off x="269132" y="617094"/>
            <a:ext cx="11653736" cy="3843809"/>
          </a:xfrm>
          <a:prstGeom prst="rect">
            <a:avLst/>
          </a:prstGeom>
          <a:noFill/>
        </p:spPr>
        <p:txBody>
          <a:bodyPr wrap="square" rtlCol="0">
            <a:spAutoFit/>
          </a:bodyPr>
          <a:lstStyle/>
          <a:p>
            <a:pPr algn="just">
              <a:lnSpc>
                <a:spcPct val="107000"/>
              </a:lnSpc>
              <a:spcAft>
                <a:spcPts val="800"/>
              </a:spcAft>
            </a:pPr>
            <a:r>
              <a:rPr lang="en-US" sz="1800" kern="100">
                <a:effectLst/>
                <a:latin typeface="Arial" panose="020B0604020202020204" pitchFamily="34" charset="0"/>
                <a:ea typeface="Aptos" panose="020B0004020202020204" pitchFamily="34" charset="0"/>
                <a:cs typeface="Arial" panose="020B0604020202020204" pitchFamily="34" charset="0"/>
              </a:rPr>
              <a:t>Thực hiện các câu hỏi:</a:t>
            </a:r>
          </a:p>
          <a:p>
            <a:pPr algn="just">
              <a:lnSpc>
                <a:spcPct val="107000"/>
              </a:lnSpc>
              <a:spcAft>
                <a:spcPts val="800"/>
              </a:spcAft>
            </a:pPr>
            <a:r>
              <a:rPr lang="en-US" sz="1800" kern="100">
                <a:effectLst/>
                <a:latin typeface="Arial" panose="020B0604020202020204" pitchFamily="34" charset="0"/>
                <a:ea typeface="Aptos" panose="020B0004020202020204" pitchFamily="34" charset="0"/>
                <a:cs typeface="Arial" panose="020B0604020202020204" pitchFamily="34" charset="0"/>
              </a:rPr>
              <a:t>1) Xác định các loại thực thể cùng thuộc tính tương ứng, xác định kiểu dữ liệu và độ rộng phù hợp, gạch chân dưới khóa chính. Gợi ý:</a:t>
            </a:r>
          </a:p>
          <a:p>
            <a:pPr marL="285750" indent="-285750" algn="just">
              <a:lnSpc>
                <a:spcPct val="107000"/>
              </a:lnSpc>
              <a:spcAft>
                <a:spcPts val="800"/>
              </a:spcAft>
              <a:buFont typeface="Symbol" panose="05050102010706020507" pitchFamily="18" charset="2"/>
              <a:buChar char="Þ"/>
            </a:pPr>
            <a:r>
              <a:rPr lang="en-US" sz="1800" kern="100">
                <a:effectLst/>
                <a:latin typeface="Arial" panose="020B0604020202020204" pitchFamily="34" charset="0"/>
                <a:ea typeface="Aptos" panose="020B0004020202020204" pitchFamily="34" charset="0"/>
                <a:cs typeface="Arial" panose="020B0604020202020204" pitchFamily="34" charset="0"/>
              </a:rPr>
              <a:t>Chú ý: Có 3 loại thực thể: </a:t>
            </a:r>
            <a:r>
              <a:rPr lang="en-US" kern="100">
                <a:latin typeface="Arial" panose="020B0604020202020204" pitchFamily="34" charset="0"/>
                <a:ea typeface="Aptos" panose="020B0004020202020204" pitchFamily="34" charset="0"/>
                <a:cs typeface="Arial" panose="020B0604020202020204" pitchFamily="34" charset="0"/>
              </a:rPr>
              <a:t>c</a:t>
            </a:r>
            <a:r>
              <a:rPr lang="en-US" sz="1800" kern="100">
                <a:effectLst/>
                <a:latin typeface="Arial" panose="020B0604020202020204" pitchFamily="34" charset="0"/>
                <a:ea typeface="Aptos" panose="020B0004020202020204" pitchFamily="34" charset="0"/>
                <a:cs typeface="Arial" panose="020B0604020202020204" pitchFamily="34" charset="0"/>
              </a:rPr>
              <a:t>ơ bản, đối tượng ngoài và nghiệp vụ. Cụ thể:</a:t>
            </a:r>
          </a:p>
          <a:p>
            <a:pPr marL="285750" indent="-285750" algn="just">
              <a:lnSpc>
                <a:spcPct val="107000"/>
              </a:lnSpc>
              <a:spcAft>
                <a:spcPts val="800"/>
              </a:spcAft>
              <a:buFont typeface="Wingdings" panose="05000000000000000000" pitchFamily="2" charset="2"/>
              <a:buChar char="§"/>
            </a:pPr>
            <a:r>
              <a:rPr lang="en-US" kern="100">
                <a:latin typeface="Arial" panose="020B0604020202020204" pitchFamily="34" charset="0"/>
                <a:ea typeface="Aptos" panose="020B0004020202020204" pitchFamily="34" charset="0"/>
                <a:cs typeface="Arial" panose="020B0604020202020204" pitchFamily="34" charset="0"/>
              </a:rPr>
              <a:t>Cơ bản: Là nguồn tài nguyên của hệ thống, có tính ổn định cao, có trước khi hệ thống vận hành. Thường là không có thuộc tính thời gian, nếu có thì là ngày sinh, ngày tạo ra, ngày đưa vào sử dụng. Số lượng ít tang trưởng theo thời gian.</a:t>
            </a:r>
          </a:p>
          <a:p>
            <a:pPr marL="285750" indent="-285750" algn="just">
              <a:lnSpc>
                <a:spcPct val="107000"/>
              </a:lnSpc>
              <a:spcAft>
                <a:spcPts val="800"/>
              </a:spcAft>
              <a:buFont typeface="Wingdings" panose="05000000000000000000" pitchFamily="2" charset="2"/>
              <a:buChar char="§"/>
            </a:pPr>
            <a:r>
              <a:rPr lang="en-US" kern="100">
                <a:latin typeface="Arial" panose="020B0604020202020204" pitchFamily="34" charset="0"/>
                <a:ea typeface="Aptos" panose="020B0004020202020204" pitchFamily="34" charset="0"/>
                <a:cs typeface="Arial" panose="020B0604020202020204" pitchFamily="34" charset="0"/>
              </a:rPr>
              <a:t>Đối tượng ngoài: Là con người hay tổ chức có trong hệ thống. Là các thiết bị, tổ chức khác có tương tác với hệ thống.</a:t>
            </a:r>
          </a:p>
          <a:p>
            <a:pPr marL="285750" indent="-285750" algn="just">
              <a:lnSpc>
                <a:spcPct val="107000"/>
              </a:lnSpc>
              <a:spcAft>
                <a:spcPts val="800"/>
              </a:spcAft>
              <a:buFont typeface="Wingdings" panose="05000000000000000000" pitchFamily="2" charset="2"/>
              <a:buChar char="§"/>
            </a:pPr>
            <a:r>
              <a:rPr lang="en-US" sz="1800" kern="100">
                <a:effectLst/>
                <a:latin typeface="Arial" panose="020B0604020202020204" pitchFamily="34" charset="0"/>
                <a:ea typeface="Aptos" panose="020B0004020202020204" pitchFamily="34" charset="0"/>
                <a:cs typeface="Arial" panose="020B0604020202020204" pitchFamily="34" charset="0"/>
              </a:rPr>
              <a:t>Loại thực thể nghiệp vụ: Sinh ra khi hệ thống vận hành, luôn có thuộc tính thời gian. Số lượng tang trưởng theo thời gian.</a:t>
            </a:r>
          </a:p>
        </p:txBody>
      </p:sp>
    </p:spTree>
    <p:extLst>
      <p:ext uri="{BB962C8B-B14F-4D97-AF65-F5344CB8AC3E}">
        <p14:creationId xmlns:p14="http://schemas.microsoft.com/office/powerpoint/2010/main" val="9558756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5CF232E-4F9D-16AF-CAF8-F435F0F68DE9}"/>
              </a:ext>
            </a:extLst>
          </p:cNvPr>
          <p:cNvSpPr>
            <a:spLocks noGrp="1"/>
          </p:cNvSpPr>
          <p:nvPr>
            <p:ph type="sldNum" sz="quarter" idx="12"/>
          </p:nvPr>
        </p:nvSpPr>
        <p:spPr/>
        <p:txBody>
          <a:bodyPr/>
          <a:lstStyle/>
          <a:p>
            <a:fld id="{C47C1889-967C-4CCE-AB8F-72747BC45B63}" type="slidenum">
              <a:rPr lang="en-US" smtClean="0"/>
              <a:t>15</a:t>
            </a:fld>
            <a:endParaRPr lang="en-US"/>
          </a:p>
        </p:txBody>
      </p:sp>
      <p:sp>
        <p:nvSpPr>
          <p:cNvPr id="8" name="TextBox 7">
            <a:extLst>
              <a:ext uri="{FF2B5EF4-FFF2-40B4-BE49-F238E27FC236}">
                <a16:creationId xmlns:a16="http://schemas.microsoft.com/office/drawing/2014/main" id="{D1FFEDFB-8BF8-95F4-6831-6E8075150039}"/>
              </a:ext>
            </a:extLst>
          </p:cNvPr>
          <p:cNvSpPr txBox="1"/>
          <p:nvPr/>
        </p:nvSpPr>
        <p:spPr>
          <a:xfrm>
            <a:off x="530157" y="136525"/>
            <a:ext cx="10839856" cy="400110"/>
          </a:xfrm>
          <a:prstGeom prst="rect">
            <a:avLst/>
          </a:prstGeom>
          <a:noFill/>
        </p:spPr>
        <p:txBody>
          <a:bodyPr wrap="square" rtlCol="0">
            <a:spAutoFit/>
          </a:bodyPr>
          <a:lstStyle/>
          <a:p>
            <a:pPr algn="ctr"/>
            <a:r>
              <a:rPr lang="en-US" sz="2000" b="1">
                <a:solidFill>
                  <a:srgbClr val="FF0000"/>
                </a:solidFill>
                <a:latin typeface="Arial" panose="020B0604020202020204" pitchFamily="34" charset="0"/>
                <a:cs typeface="Arial" panose="020B0604020202020204" pitchFamily="34" charset="0"/>
              </a:rPr>
              <a:t>BÀI 1: HỆ THỐNG QUẢN LÝ THƯ VIỆN</a:t>
            </a:r>
          </a:p>
        </p:txBody>
      </p:sp>
      <p:sp>
        <p:nvSpPr>
          <p:cNvPr id="3" name="TextBox 2">
            <a:extLst>
              <a:ext uri="{FF2B5EF4-FFF2-40B4-BE49-F238E27FC236}">
                <a16:creationId xmlns:a16="http://schemas.microsoft.com/office/drawing/2014/main" id="{AB52FF0D-9545-8C5C-CB16-00238CD751C5}"/>
              </a:ext>
            </a:extLst>
          </p:cNvPr>
          <p:cNvSpPr txBox="1"/>
          <p:nvPr/>
        </p:nvSpPr>
        <p:spPr>
          <a:xfrm>
            <a:off x="269132" y="617094"/>
            <a:ext cx="11653736" cy="4134337"/>
          </a:xfrm>
          <a:prstGeom prst="rect">
            <a:avLst/>
          </a:prstGeom>
          <a:noFill/>
        </p:spPr>
        <p:txBody>
          <a:bodyPr wrap="square" rtlCol="0">
            <a:spAutoFit/>
          </a:bodyPr>
          <a:lstStyle/>
          <a:p>
            <a:pPr algn="just">
              <a:lnSpc>
                <a:spcPct val="107000"/>
              </a:lnSpc>
              <a:spcAft>
                <a:spcPts val="800"/>
              </a:spcAft>
            </a:pPr>
            <a:r>
              <a:rPr lang="en-US" sz="1800" kern="100">
                <a:effectLst/>
                <a:latin typeface="Arial" panose="020B0604020202020204" pitchFamily="34" charset="0"/>
                <a:ea typeface="Aptos" panose="020B0004020202020204" pitchFamily="34" charset="0"/>
                <a:cs typeface="Arial" panose="020B0604020202020204" pitchFamily="34" charset="0"/>
              </a:rPr>
              <a:t>Trong bài Quản lý thư viện:</a:t>
            </a:r>
          </a:p>
          <a:p>
            <a:pPr algn="just">
              <a:lnSpc>
                <a:spcPct val="107000"/>
              </a:lnSpc>
              <a:spcAft>
                <a:spcPts val="800"/>
              </a:spcAft>
            </a:pPr>
            <a:r>
              <a:rPr lang="en-US" sz="1800" kern="100">
                <a:effectLst/>
                <a:latin typeface="Arial" panose="020B0604020202020204" pitchFamily="34" charset="0"/>
                <a:ea typeface="Aptos" panose="020B0004020202020204" pitchFamily="34" charset="0"/>
                <a:cs typeface="Arial" panose="020B0604020202020204" pitchFamily="34" charset="0"/>
              </a:rPr>
              <a:t>+ Loại thực thể cơ bản: THELOAI(</a:t>
            </a:r>
            <a:r>
              <a:rPr lang="en-US" sz="1800" u="sng" kern="100">
                <a:effectLst/>
                <a:latin typeface="Arial" panose="020B0604020202020204" pitchFamily="34" charset="0"/>
                <a:ea typeface="Aptos" panose="020B0004020202020204" pitchFamily="34" charset="0"/>
                <a:cs typeface="Arial" panose="020B0604020202020204" pitchFamily="34" charset="0"/>
              </a:rPr>
              <a:t>MATL</a:t>
            </a:r>
            <a:r>
              <a:rPr lang="en-US" sz="1800" kern="100">
                <a:effectLst/>
                <a:latin typeface="Arial" panose="020B0604020202020204" pitchFamily="34" charset="0"/>
                <a:ea typeface="Aptos" panose="020B0004020202020204" pitchFamily="34" charset="0"/>
                <a:cs typeface="Arial" panose="020B0604020202020204" pitchFamily="34" charset="0"/>
              </a:rPr>
              <a:t>, TENTL), SACH(</a:t>
            </a:r>
            <a:r>
              <a:rPr lang="en-US" sz="1800" u="sng" kern="100">
                <a:effectLst/>
                <a:latin typeface="Arial" panose="020B0604020202020204" pitchFamily="34" charset="0"/>
                <a:ea typeface="Aptos" panose="020B0004020202020204" pitchFamily="34" charset="0"/>
                <a:cs typeface="Arial" panose="020B0604020202020204" pitchFamily="34" charset="0"/>
              </a:rPr>
              <a:t>MASACH</a:t>
            </a:r>
            <a:r>
              <a:rPr lang="en-US" sz="1800" kern="100">
                <a:effectLst/>
                <a:latin typeface="Arial" panose="020B0604020202020204" pitchFamily="34" charset="0"/>
                <a:ea typeface="Aptos" panose="020B0004020202020204" pitchFamily="34" charset="0"/>
                <a:cs typeface="Arial" panose="020B0604020202020204" pitchFamily="34" charset="0"/>
              </a:rPr>
              <a:t>, TENSACH, SOTRANG, TINHTRANG)</a:t>
            </a:r>
          </a:p>
          <a:p>
            <a:pPr algn="just">
              <a:lnSpc>
                <a:spcPct val="107000"/>
              </a:lnSpc>
              <a:spcAft>
                <a:spcPts val="800"/>
              </a:spcAft>
            </a:pPr>
            <a:r>
              <a:rPr lang="en-US" sz="1800" kern="100">
                <a:effectLst/>
                <a:latin typeface="Arial" panose="020B0604020202020204" pitchFamily="34" charset="0"/>
                <a:ea typeface="Aptos" panose="020B0004020202020204" pitchFamily="34" charset="0"/>
                <a:cs typeface="Arial" panose="020B0604020202020204" pitchFamily="34" charset="0"/>
              </a:rPr>
              <a:t>+ Loại thực thể đối tượng ngoài: NV, DOCGIA, NXB, TACGIA (nếu muốn lưu trữ).</a:t>
            </a:r>
          </a:p>
          <a:p>
            <a:pPr algn="just">
              <a:lnSpc>
                <a:spcPct val="107000"/>
              </a:lnSpc>
              <a:spcAft>
                <a:spcPts val="800"/>
              </a:spcAft>
            </a:pPr>
            <a:r>
              <a:rPr lang="en-US" kern="100">
                <a:latin typeface="Arial" panose="020B0604020202020204" pitchFamily="34" charset="0"/>
                <a:ea typeface="Aptos" panose="020B0004020202020204" pitchFamily="34" charset="0"/>
                <a:cs typeface="Arial" panose="020B0604020202020204" pitchFamily="34" charset="0"/>
              </a:rPr>
              <a:t>+ </a:t>
            </a:r>
            <a:r>
              <a:rPr lang="en-US" sz="1800" kern="100">
                <a:effectLst/>
                <a:latin typeface="Arial" panose="020B0604020202020204" pitchFamily="34" charset="0"/>
                <a:ea typeface="Aptos" panose="020B0004020202020204" pitchFamily="34" charset="0"/>
                <a:cs typeface="Arial" panose="020B0604020202020204" pitchFamily="34" charset="0"/>
              </a:rPr>
              <a:t>Loại thực thể nghiệp vụ: THETV, PHIEUMS, PHIEUPHAT.</a:t>
            </a:r>
          </a:p>
          <a:p>
            <a:pPr algn="just">
              <a:lnSpc>
                <a:spcPct val="107000"/>
              </a:lnSpc>
              <a:spcAft>
                <a:spcPts val="800"/>
              </a:spcAft>
            </a:pPr>
            <a:r>
              <a:rPr lang="en-US" kern="100">
                <a:latin typeface="Arial" panose="020B0604020202020204" pitchFamily="34" charset="0"/>
                <a:ea typeface="Aptos" panose="020B0004020202020204" pitchFamily="34" charset="0"/>
                <a:cs typeface="Arial" panose="020B0604020202020204" pitchFamily="34" charset="0"/>
                <a:sym typeface="Symbol" panose="05050102010706020507" pitchFamily="18" charset="2"/>
              </a:rPr>
              <a:t></a:t>
            </a:r>
            <a:r>
              <a:rPr lang="en-US" sz="1800" kern="100">
                <a:effectLst/>
                <a:latin typeface="Arial" panose="020B0604020202020204" pitchFamily="34" charset="0"/>
                <a:ea typeface="Aptos" panose="020B0004020202020204" pitchFamily="34" charset="0"/>
                <a:cs typeface="Arial" panose="020B0604020202020204" pitchFamily="34" charset="0"/>
              </a:rPr>
              <a:t> Chú ý:</a:t>
            </a:r>
            <a:r>
              <a:rPr lang="en-US" kern="100">
                <a:latin typeface="Arial" panose="020B0604020202020204" pitchFamily="34" charset="0"/>
                <a:ea typeface="Aptos" panose="020B0004020202020204" pitchFamily="34" charset="0"/>
                <a:cs typeface="Arial" panose="020B0604020202020204" pitchFamily="34" charset="0"/>
              </a:rPr>
              <a:t> Loại thực thể nghiệp vụ phải luôn có thuộc tính thời gian. Tại sao?</a:t>
            </a:r>
            <a:endParaRPr lang="en-US" sz="1800" kern="100">
              <a:effectLst/>
              <a:latin typeface="Arial" panose="020B06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en-US" sz="1800" kern="100">
                <a:effectLst/>
                <a:latin typeface="Arial" panose="020B0604020202020204" pitchFamily="34" charset="0"/>
                <a:ea typeface="Aptos" panose="020B0004020202020204" pitchFamily="34" charset="0"/>
                <a:cs typeface="Arial" panose="020B0604020202020204" pitchFamily="34" charset="0"/>
              </a:rPr>
              <a:t>2) Xây dựng mô hình quan niệm dữ liệu (mô hình thực thể kết hợp) với đầy đủ mối kết hợp cùng bản số tương ứng cho hệ thống quản lý trên.</a:t>
            </a:r>
          </a:p>
          <a:p>
            <a:pPr algn="just">
              <a:lnSpc>
                <a:spcPct val="107000"/>
              </a:lnSpc>
              <a:spcAft>
                <a:spcPts val="800"/>
              </a:spcAft>
            </a:pPr>
            <a:r>
              <a:rPr lang="en-US" sz="1800" kern="100">
                <a:effectLst/>
                <a:latin typeface="Arial" panose="020B0604020202020204" pitchFamily="34" charset="0"/>
                <a:ea typeface="Aptos" panose="020B0004020202020204" pitchFamily="34" charset="0"/>
                <a:cs typeface="Arial" panose="020B0604020202020204" pitchFamily="34" charset="0"/>
              </a:rPr>
              <a:t>3) Dùng phần mềm vẽ mô hình thực thể kết hợp ở trên, lưu lại với tên file phù hợp.</a:t>
            </a:r>
          </a:p>
          <a:p>
            <a:pPr algn="just">
              <a:lnSpc>
                <a:spcPct val="107000"/>
              </a:lnSpc>
              <a:spcAft>
                <a:spcPts val="800"/>
              </a:spcAft>
            </a:pPr>
            <a:r>
              <a:rPr lang="en-US" sz="1800" kern="100">
                <a:effectLst/>
                <a:latin typeface="Arial" panose="020B0604020202020204" pitchFamily="34" charset="0"/>
                <a:ea typeface="Aptos" panose="020B0004020202020204" pitchFamily="34" charset="0"/>
                <a:cs typeface="Arial" panose="020B0604020202020204" pitchFamily="34" charset="0"/>
              </a:rPr>
              <a:t>4) Hãy sinh code SQL của mô hình, lưu lại file script.</a:t>
            </a:r>
          </a:p>
          <a:p>
            <a:pPr algn="just"/>
            <a:r>
              <a:rPr lang="en-US" sz="1800">
                <a:effectLst/>
                <a:latin typeface="Arial" panose="020B0604020202020204" pitchFamily="34" charset="0"/>
                <a:ea typeface="Aptos" panose="020B0004020202020204" pitchFamily="34" charset="0"/>
                <a:cs typeface="Arial" panose="020B0604020202020204" pitchFamily="34" charset="0"/>
              </a:rPr>
              <a:t>5) Mở SQL Server, tạo mới database với tên QLTV. Mở file script ở Câu 4, thực thi file để tạo các bảng. Nhận xét thứ tự tạo các bảng?</a:t>
            </a: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55220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0070C0"/>
        </a:solidFill>
        <a:effectLst/>
      </p:bgPr>
    </p:bg>
    <p:spTree>
      <p:nvGrpSpPr>
        <p:cNvPr id="1" name=""/>
        <p:cNvGrpSpPr/>
        <p:nvPr/>
      </p:nvGrpSpPr>
      <p:grpSpPr>
        <a:xfrm>
          <a:off x="0" y="0"/>
          <a:ext cx="0" cy="0"/>
          <a:chOff x="0" y="0"/>
          <a:chExt cx="0" cy="0"/>
        </a:xfrm>
      </p:grpSpPr>
      <p:sp>
        <p:nvSpPr>
          <p:cNvPr id="6" name="TextBox 5"/>
          <p:cNvSpPr txBox="1"/>
          <p:nvPr/>
        </p:nvSpPr>
        <p:spPr>
          <a:xfrm>
            <a:off x="3900196" y="2239347"/>
            <a:ext cx="4464684" cy="120032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CÁM ƠN !</a:t>
            </a:r>
          </a:p>
        </p:txBody>
      </p:sp>
      <p:sp>
        <p:nvSpPr>
          <p:cNvPr id="13" name="Freeform 165">
            <a:extLst>
              <a:ext uri="{FF2B5EF4-FFF2-40B4-BE49-F238E27FC236}">
                <a16:creationId xmlns:a16="http://schemas.microsoft.com/office/drawing/2014/main" id="{AD824A6D-6E08-4A69-9E3E-8CEA354E1DC1}"/>
              </a:ext>
            </a:extLst>
          </p:cNvPr>
          <p:cNvSpPr>
            <a:spLocks noEditPoints="1"/>
          </p:cNvSpPr>
          <p:nvPr/>
        </p:nvSpPr>
        <p:spPr bwMode="auto">
          <a:xfrm>
            <a:off x="724889" y="4528135"/>
            <a:ext cx="304840" cy="306858"/>
          </a:xfrm>
          <a:custGeom>
            <a:avLst/>
            <a:gdLst>
              <a:gd name="T0" fmla="*/ 76 w 151"/>
              <a:gd name="T1" fmla="*/ 0 h 152"/>
              <a:gd name="T2" fmla="*/ 9 w 151"/>
              <a:gd name="T3" fmla="*/ 142 h 152"/>
              <a:gd name="T4" fmla="*/ 0 w 151"/>
              <a:gd name="T5" fmla="*/ 152 h 152"/>
              <a:gd name="T6" fmla="*/ 151 w 151"/>
              <a:gd name="T7" fmla="*/ 38 h 152"/>
              <a:gd name="T8" fmla="*/ 57 w 151"/>
              <a:gd name="T9" fmla="*/ 142 h 152"/>
              <a:gd name="T10" fmla="*/ 28 w 151"/>
              <a:gd name="T11" fmla="*/ 123 h 152"/>
              <a:gd name="T12" fmla="*/ 57 w 151"/>
              <a:gd name="T13" fmla="*/ 142 h 152"/>
              <a:gd name="T14" fmla="*/ 19 w 151"/>
              <a:gd name="T15" fmla="*/ 104 h 152"/>
              <a:gd name="T16" fmla="*/ 66 w 151"/>
              <a:gd name="T17" fmla="*/ 95 h 152"/>
              <a:gd name="T18" fmla="*/ 66 w 151"/>
              <a:gd name="T19" fmla="*/ 85 h 152"/>
              <a:gd name="T20" fmla="*/ 19 w 151"/>
              <a:gd name="T21" fmla="*/ 76 h 152"/>
              <a:gd name="T22" fmla="*/ 66 w 151"/>
              <a:gd name="T23" fmla="*/ 85 h 152"/>
              <a:gd name="T24" fmla="*/ 19 w 151"/>
              <a:gd name="T25" fmla="*/ 66 h 152"/>
              <a:gd name="T26" fmla="*/ 66 w 151"/>
              <a:gd name="T27" fmla="*/ 57 h 152"/>
              <a:gd name="T28" fmla="*/ 66 w 151"/>
              <a:gd name="T29" fmla="*/ 47 h 152"/>
              <a:gd name="T30" fmla="*/ 19 w 151"/>
              <a:gd name="T31" fmla="*/ 38 h 152"/>
              <a:gd name="T32" fmla="*/ 66 w 151"/>
              <a:gd name="T33" fmla="*/ 47 h 152"/>
              <a:gd name="T34" fmla="*/ 19 w 151"/>
              <a:gd name="T35" fmla="*/ 29 h 152"/>
              <a:gd name="T36" fmla="*/ 66 w 151"/>
              <a:gd name="T37" fmla="*/ 19 h 152"/>
              <a:gd name="T38" fmla="*/ 113 w 151"/>
              <a:gd name="T39" fmla="*/ 133 h 152"/>
              <a:gd name="T40" fmla="*/ 95 w 151"/>
              <a:gd name="T41" fmla="*/ 114 h 152"/>
              <a:gd name="T42" fmla="*/ 113 w 151"/>
              <a:gd name="T43" fmla="*/ 133 h 152"/>
              <a:gd name="T44" fmla="*/ 95 w 151"/>
              <a:gd name="T45" fmla="*/ 104 h 152"/>
              <a:gd name="T46" fmla="*/ 113 w 151"/>
              <a:gd name="T47" fmla="*/ 85 h 152"/>
              <a:gd name="T48" fmla="*/ 113 w 151"/>
              <a:gd name="T49" fmla="*/ 76 h 152"/>
              <a:gd name="T50" fmla="*/ 95 w 151"/>
              <a:gd name="T51" fmla="*/ 57 h 152"/>
              <a:gd name="T52" fmla="*/ 113 w 151"/>
              <a:gd name="T53" fmla="*/ 76 h 152"/>
              <a:gd name="T54" fmla="*/ 123 w 151"/>
              <a:gd name="T55" fmla="*/ 133 h 152"/>
              <a:gd name="T56" fmla="*/ 142 w 151"/>
              <a:gd name="T57" fmla="*/ 114 h 152"/>
              <a:gd name="T58" fmla="*/ 142 w 151"/>
              <a:gd name="T59" fmla="*/ 104 h 152"/>
              <a:gd name="T60" fmla="*/ 123 w 151"/>
              <a:gd name="T61" fmla="*/ 85 h 152"/>
              <a:gd name="T62" fmla="*/ 142 w 151"/>
              <a:gd name="T63" fmla="*/ 104 h 152"/>
              <a:gd name="T64" fmla="*/ 123 w 151"/>
              <a:gd name="T65" fmla="*/ 76 h 152"/>
              <a:gd name="T66" fmla="*/ 142 w 151"/>
              <a:gd name="T67" fmla="*/ 5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1" h="152">
                <a:moveTo>
                  <a:pt x="76" y="38"/>
                </a:moveTo>
                <a:lnTo>
                  <a:pt x="76" y="0"/>
                </a:lnTo>
                <a:lnTo>
                  <a:pt x="9" y="0"/>
                </a:lnTo>
                <a:lnTo>
                  <a:pt x="9" y="142"/>
                </a:lnTo>
                <a:lnTo>
                  <a:pt x="0" y="142"/>
                </a:lnTo>
                <a:lnTo>
                  <a:pt x="0" y="152"/>
                </a:lnTo>
                <a:lnTo>
                  <a:pt x="151" y="152"/>
                </a:lnTo>
                <a:lnTo>
                  <a:pt x="151" y="38"/>
                </a:lnTo>
                <a:lnTo>
                  <a:pt x="76" y="38"/>
                </a:lnTo>
                <a:close/>
                <a:moveTo>
                  <a:pt x="57" y="142"/>
                </a:moveTo>
                <a:lnTo>
                  <a:pt x="28" y="142"/>
                </a:lnTo>
                <a:lnTo>
                  <a:pt x="28" y="123"/>
                </a:lnTo>
                <a:lnTo>
                  <a:pt x="57" y="123"/>
                </a:lnTo>
                <a:lnTo>
                  <a:pt x="57" y="142"/>
                </a:lnTo>
                <a:close/>
                <a:moveTo>
                  <a:pt x="66" y="104"/>
                </a:moveTo>
                <a:lnTo>
                  <a:pt x="19" y="104"/>
                </a:lnTo>
                <a:lnTo>
                  <a:pt x="19" y="95"/>
                </a:lnTo>
                <a:lnTo>
                  <a:pt x="66" y="95"/>
                </a:lnTo>
                <a:lnTo>
                  <a:pt x="66" y="104"/>
                </a:lnTo>
                <a:close/>
                <a:moveTo>
                  <a:pt x="66" y="85"/>
                </a:moveTo>
                <a:lnTo>
                  <a:pt x="19" y="85"/>
                </a:lnTo>
                <a:lnTo>
                  <a:pt x="19" y="76"/>
                </a:lnTo>
                <a:lnTo>
                  <a:pt x="66" y="76"/>
                </a:lnTo>
                <a:lnTo>
                  <a:pt x="66" y="85"/>
                </a:lnTo>
                <a:close/>
                <a:moveTo>
                  <a:pt x="66" y="66"/>
                </a:moveTo>
                <a:lnTo>
                  <a:pt x="19" y="66"/>
                </a:lnTo>
                <a:lnTo>
                  <a:pt x="19" y="57"/>
                </a:lnTo>
                <a:lnTo>
                  <a:pt x="66" y="57"/>
                </a:lnTo>
                <a:lnTo>
                  <a:pt x="66" y="66"/>
                </a:lnTo>
                <a:close/>
                <a:moveTo>
                  <a:pt x="66" y="47"/>
                </a:moveTo>
                <a:lnTo>
                  <a:pt x="19" y="47"/>
                </a:lnTo>
                <a:lnTo>
                  <a:pt x="19" y="38"/>
                </a:lnTo>
                <a:lnTo>
                  <a:pt x="66" y="38"/>
                </a:lnTo>
                <a:lnTo>
                  <a:pt x="66" y="47"/>
                </a:lnTo>
                <a:close/>
                <a:moveTo>
                  <a:pt x="66" y="29"/>
                </a:moveTo>
                <a:lnTo>
                  <a:pt x="19" y="29"/>
                </a:lnTo>
                <a:lnTo>
                  <a:pt x="19" y="19"/>
                </a:lnTo>
                <a:lnTo>
                  <a:pt x="66" y="19"/>
                </a:lnTo>
                <a:lnTo>
                  <a:pt x="66" y="29"/>
                </a:lnTo>
                <a:close/>
                <a:moveTo>
                  <a:pt x="113" y="133"/>
                </a:moveTo>
                <a:lnTo>
                  <a:pt x="95" y="133"/>
                </a:lnTo>
                <a:lnTo>
                  <a:pt x="95" y="114"/>
                </a:lnTo>
                <a:lnTo>
                  <a:pt x="113" y="114"/>
                </a:lnTo>
                <a:lnTo>
                  <a:pt x="113" y="133"/>
                </a:lnTo>
                <a:close/>
                <a:moveTo>
                  <a:pt x="113" y="104"/>
                </a:moveTo>
                <a:lnTo>
                  <a:pt x="95" y="104"/>
                </a:lnTo>
                <a:lnTo>
                  <a:pt x="95" y="85"/>
                </a:lnTo>
                <a:lnTo>
                  <a:pt x="113" y="85"/>
                </a:lnTo>
                <a:lnTo>
                  <a:pt x="113" y="104"/>
                </a:lnTo>
                <a:close/>
                <a:moveTo>
                  <a:pt x="113" y="76"/>
                </a:moveTo>
                <a:lnTo>
                  <a:pt x="95" y="76"/>
                </a:lnTo>
                <a:lnTo>
                  <a:pt x="95" y="57"/>
                </a:lnTo>
                <a:lnTo>
                  <a:pt x="113" y="57"/>
                </a:lnTo>
                <a:lnTo>
                  <a:pt x="113" y="76"/>
                </a:lnTo>
                <a:close/>
                <a:moveTo>
                  <a:pt x="142" y="133"/>
                </a:moveTo>
                <a:lnTo>
                  <a:pt x="123" y="133"/>
                </a:lnTo>
                <a:lnTo>
                  <a:pt x="123" y="114"/>
                </a:lnTo>
                <a:lnTo>
                  <a:pt x="142" y="114"/>
                </a:lnTo>
                <a:lnTo>
                  <a:pt x="142" y="133"/>
                </a:lnTo>
                <a:close/>
                <a:moveTo>
                  <a:pt x="142" y="104"/>
                </a:moveTo>
                <a:lnTo>
                  <a:pt x="123" y="104"/>
                </a:lnTo>
                <a:lnTo>
                  <a:pt x="123" y="85"/>
                </a:lnTo>
                <a:lnTo>
                  <a:pt x="142" y="85"/>
                </a:lnTo>
                <a:lnTo>
                  <a:pt x="142" y="104"/>
                </a:lnTo>
                <a:close/>
                <a:moveTo>
                  <a:pt x="142" y="76"/>
                </a:moveTo>
                <a:lnTo>
                  <a:pt x="123" y="76"/>
                </a:lnTo>
                <a:lnTo>
                  <a:pt x="123" y="57"/>
                </a:lnTo>
                <a:lnTo>
                  <a:pt x="142" y="57"/>
                </a:lnTo>
                <a:lnTo>
                  <a:pt x="142" y="7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4" name="TextBox 13"/>
          <p:cNvSpPr txBox="1"/>
          <p:nvPr/>
        </p:nvSpPr>
        <p:spPr>
          <a:xfrm>
            <a:off x="1202927" y="4528135"/>
            <a:ext cx="10757497"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Khoa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Công</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nghệ</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thông</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tin,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Khu</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Công</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nghệ</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cao</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TP.HCM (SHTP),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Xa</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lộ</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Hà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Nội</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P.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Hiệp</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Phú</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TP.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Thủ</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Đức</a:t>
            </a: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TP.HCM</a:t>
            </a:r>
          </a:p>
        </p:txBody>
      </p:sp>
    </p:spTree>
    <p:extLst>
      <p:ext uri="{BB962C8B-B14F-4D97-AF65-F5344CB8AC3E}">
        <p14:creationId xmlns:p14="http://schemas.microsoft.com/office/powerpoint/2010/main" val="2294866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TotalTime>
  <Words>1012</Words>
  <Application>Microsoft Office PowerPoint</Application>
  <PresentationFormat>Widescreen</PresentationFormat>
  <Paragraphs>79</Paragraphs>
  <Slides>16</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16</vt:i4>
      </vt:variant>
    </vt:vector>
  </HeadingPairs>
  <TitlesOfParts>
    <vt:vector size="25" baseType="lpstr">
      <vt:lpstr>Aptos</vt:lpstr>
      <vt:lpstr>Aptos Display</vt:lpstr>
      <vt:lpstr>Arial</vt:lpstr>
      <vt:lpstr>Calibri</vt:lpstr>
      <vt:lpstr>Symbol</vt:lpstr>
      <vt:lpstr>Times New Roman</vt:lpstr>
      <vt:lpstr>Wingdings</vt:lpstr>
      <vt:lpstr>Office Theme</vt:lpstr>
      <vt:lpstr>1_Office Theme</vt:lpstr>
      <vt:lpstr>CMP385 THỰC HÀNH PHÂN TÍCH THIẾT KẾ HỆ THỐNG PRACTICE: SYSTEM ANALYSIS AND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Võ Hoàng Khang</dc:creator>
  <cp:lastModifiedBy>Võ Hoàng Khang</cp:lastModifiedBy>
  <cp:revision>21</cp:revision>
  <dcterms:created xsi:type="dcterms:W3CDTF">2024-07-20T09:36:42Z</dcterms:created>
  <dcterms:modified xsi:type="dcterms:W3CDTF">2024-07-24T14:40:04Z</dcterms:modified>
</cp:coreProperties>
</file>