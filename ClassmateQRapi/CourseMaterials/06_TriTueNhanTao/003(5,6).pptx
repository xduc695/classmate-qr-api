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745" r:id="rId2"/>
  </p:sldMasterIdLst>
  <p:notesMasterIdLst>
    <p:notesMasterId r:id="rId55"/>
  </p:notesMasterIdLst>
  <p:handoutMasterIdLst>
    <p:handoutMasterId r:id="rId56"/>
  </p:handoutMasterIdLst>
  <p:sldIdLst>
    <p:sldId id="256" r:id="rId3"/>
    <p:sldId id="355" r:id="rId4"/>
    <p:sldId id="600" r:id="rId5"/>
    <p:sldId id="486" r:id="rId6"/>
    <p:sldId id="487" r:id="rId7"/>
    <p:sldId id="658" r:id="rId8"/>
    <p:sldId id="488" r:id="rId9"/>
    <p:sldId id="489" r:id="rId10"/>
    <p:sldId id="490" r:id="rId11"/>
    <p:sldId id="668" r:id="rId12"/>
    <p:sldId id="667" r:id="rId13"/>
    <p:sldId id="492" r:id="rId14"/>
    <p:sldId id="601" r:id="rId15"/>
    <p:sldId id="494" r:id="rId16"/>
    <p:sldId id="495" r:id="rId17"/>
    <p:sldId id="496" r:id="rId18"/>
    <p:sldId id="497" r:id="rId19"/>
    <p:sldId id="603" r:id="rId20"/>
    <p:sldId id="648" r:id="rId21"/>
    <p:sldId id="649" r:id="rId22"/>
    <p:sldId id="659" r:id="rId23"/>
    <p:sldId id="650" r:id="rId24"/>
    <p:sldId id="670" r:id="rId25"/>
    <p:sldId id="698" r:id="rId26"/>
    <p:sldId id="700" r:id="rId27"/>
    <p:sldId id="500" r:id="rId28"/>
    <p:sldId id="671" r:id="rId29"/>
    <p:sldId id="505" r:id="rId30"/>
    <p:sldId id="507" r:id="rId31"/>
    <p:sldId id="508" r:id="rId32"/>
    <p:sldId id="673" r:id="rId33"/>
    <p:sldId id="642" r:id="rId34"/>
    <p:sldId id="510" r:id="rId35"/>
    <p:sldId id="645" r:id="rId36"/>
    <p:sldId id="511" r:id="rId37"/>
    <p:sldId id="515" r:id="rId38"/>
    <p:sldId id="516" r:id="rId39"/>
    <p:sldId id="517" r:id="rId40"/>
    <p:sldId id="693" r:id="rId41"/>
    <p:sldId id="660" r:id="rId42"/>
    <p:sldId id="520" r:id="rId43"/>
    <p:sldId id="681" r:id="rId44"/>
    <p:sldId id="683" r:id="rId45"/>
    <p:sldId id="688" r:id="rId46"/>
    <p:sldId id="689" r:id="rId47"/>
    <p:sldId id="691" r:id="rId48"/>
    <p:sldId id="694" r:id="rId49"/>
    <p:sldId id="528" r:id="rId50"/>
    <p:sldId id="530" r:id="rId51"/>
    <p:sldId id="531" r:id="rId52"/>
    <p:sldId id="533" r:id="rId53"/>
    <p:sldId id="534" r:id="rId54"/>
  </p:sldIdLst>
  <p:sldSz cx="12192000" cy="6858000"/>
  <p:notesSz cx="9929813" cy="6799263"/>
  <p:custDataLst>
    <p:tags r:id="rId5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CCFF"/>
    <a:srgbClr val="000092"/>
    <a:srgbClr val="0000FF"/>
    <a:srgbClr val="005028"/>
    <a:srgbClr val="FFCCCC"/>
    <a:srgbClr val="D5DFFF"/>
    <a:srgbClr val="FFF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68" autoAdjust="0"/>
    <p:restoredTop sz="95320" autoAdjust="0"/>
  </p:normalViewPr>
  <p:slideViewPr>
    <p:cSldViewPr>
      <p:cViewPr varScale="1">
        <p:scale>
          <a:sx n="106" d="100"/>
          <a:sy n="106" d="100"/>
        </p:scale>
        <p:origin x="92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0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800" y="0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8372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800" y="6458372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BF04218-175A-4350-9C66-0FCA65FE4A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49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800" y="0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5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2313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085" y="3229187"/>
            <a:ext cx="7945646" cy="305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8372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800" y="6458372"/>
            <a:ext cx="4302770" cy="339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 defTabSz="93345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875AC726-2702-4EF8-BE24-508CF33D16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629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Dòng 2: Luật phân phối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95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I: Bỏ kéo theo</a:t>
            </a:r>
          </a:p>
          <a:p>
            <a:r>
              <a:rPr lang="en-US"/>
              <a:t>N1: Đưa phủ định vào sâu,sau []</a:t>
            </a:r>
          </a:p>
          <a:p>
            <a:r>
              <a:rPr lang="en-US"/>
              <a:t>N2: Tiếp tục đưa phủ định vào sâu</a:t>
            </a:r>
          </a:p>
          <a:p>
            <a:r>
              <a:rPr lang="en-US"/>
              <a:t>Trống: vế [] Phá ngoặc, đều là tuyển nên chỉ cần bỏ ngoặc</a:t>
            </a:r>
          </a:p>
          <a:p>
            <a:r>
              <a:rPr lang="en-US"/>
              <a:t>O: Loại bỏ hội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39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D1: Loại bỏ kéo theo</a:t>
            </a:r>
          </a:p>
          <a:p>
            <a:r>
              <a:rPr lang="en-US"/>
              <a:t>D2: Áp dụng De Morgan, lưu ý: </a:t>
            </a:r>
            <a:r>
              <a:rPr lang="en-US" sz="1200">
                <a:sym typeface="Symbol" pitchFamily="18" charset="2"/>
              </a:rPr>
              <a:t>[(p r  t) =p  (r v t) </a:t>
            </a:r>
            <a:r>
              <a:rPr lang="en-US" sz="1200">
                <a:sym typeface="Wingdings" panose="05000000000000000000" pitchFamily="2" charset="2"/>
              </a:rPr>
              <a:t> p </a:t>
            </a:r>
            <a:r>
              <a:rPr lang="en-US" sz="1200">
                <a:sym typeface="Symbol" pitchFamily="18" charset="2"/>
              </a:rPr>
              <a:t> </a:t>
            </a:r>
            <a:r>
              <a:rPr lang="en-US" sz="1200">
                <a:sym typeface="Wingdings" panose="05000000000000000000" pitchFamily="2" charset="2"/>
              </a:rPr>
              <a:t>r </a:t>
            </a:r>
            <a:r>
              <a:rPr lang="en-US" sz="1200">
                <a:sym typeface="Symbol" pitchFamily="18" charset="2"/>
              </a:rPr>
              <a:t> t</a:t>
            </a:r>
          </a:p>
          <a:p>
            <a:r>
              <a:rPr lang="en-US" sz="1200">
                <a:sym typeface="Symbol" pitchFamily="18" charset="2"/>
              </a:rPr>
              <a:t>D3: vế sau phân phối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17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Dòng cuối tam đoạn luận 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(p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q) </a:t>
            </a:r>
            <a:r>
              <a:rPr lang="en-US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(q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r)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(p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r)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32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Dòng 2: Luật KĐ 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(p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q) </a:t>
            </a:r>
            <a:r>
              <a:rPr lang="en-US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p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q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Dòng 4: Tam đoạn luận 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(q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r) </a:t>
            </a:r>
            <a:r>
              <a:rPr lang="en-US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(r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t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)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(q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Dòng 6: Luật KĐ 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(q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t) </a:t>
            </a:r>
            <a:r>
              <a:rPr lang="en-US">
                <a:solidFill>
                  <a:schemeClr val="tx1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q </a:t>
            </a:r>
            <a:r>
              <a:rPr lang="en-US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>
                <a:solidFill>
                  <a:srgbClr val="000000"/>
                </a:solidFill>
                <a:latin typeface="Times New Roman" pitchFamily="18" charset="0"/>
              </a:rPr>
              <a:t> t</a:t>
            </a:r>
            <a:endParaRPr lang="en-US">
              <a:solidFill>
                <a:srgbClr val="000000"/>
              </a:solidFill>
              <a:latin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>
              <a:solidFill>
                <a:srgbClr val="000000"/>
              </a:solidFill>
              <a:latin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rgbClr val="000000"/>
              </a:solidFill>
              <a:latin typeface="Times New Roman" pitchFamily="18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4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C2: Xét </a:t>
            </a:r>
            <a:r>
              <a:rPr lang="en-US" sz="120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1200">
                <a:solidFill>
                  <a:srgbClr val="FF0000"/>
                </a:solidFill>
                <a:highlight>
                  <a:srgbClr val="FFFF00"/>
                </a:highlight>
              </a:rPr>
              <a:t>q </a:t>
            </a:r>
            <a:r>
              <a:rPr lang="en-US" sz="120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1200">
                <a:solidFill>
                  <a:srgbClr val="FF0000"/>
                </a:solidFill>
                <a:highlight>
                  <a:srgbClr val="FFFF00"/>
                </a:highlight>
              </a:rPr>
              <a:t> r và q =&gt; 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3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D: luật phần phối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22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509588"/>
            <a:ext cx="4532313" cy="25511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D: luật phần phối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5AC726-2702-4EF8-BE24-508CF33D168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8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AB1F8-09C8-406A-A6BD-45752E6A5B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8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B535A-D382-4416-A167-C3DB383E5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6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3BA47-C323-46A4-ACF8-F39E8FECA4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15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813EC0-D54D-4AFA-9A98-DD3901644E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8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69B71F-3C51-4F99-AE5C-59B8091CC0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5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5C56-1B09-4195-BCD1-26399B415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940F97-43F5-4258-B03A-03DF6126AA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8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69812-E364-40E0-AA9E-00D1E6006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3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FED95-657D-411B-82C9-C03C6073E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4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5894E-E203-433E-B0B2-1195B13356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118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04801"/>
            <a:ext cx="2743200" cy="58213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213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48502-421F-4AAD-9C8D-357E95945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9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541" y="1996751"/>
            <a:ext cx="11617998" cy="804284"/>
          </a:xfrm>
        </p:spPr>
        <p:txBody>
          <a:bodyPr/>
          <a:lstStyle>
            <a:lvl1pPr algn="ctr">
              <a:defRPr baseline="0">
                <a:solidFill>
                  <a:srgbClr val="00B0F0"/>
                </a:solidFill>
              </a:defRPr>
            </a:lvl1pPr>
          </a:lstStyle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–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50541" y="4394717"/>
            <a:ext cx="11617997" cy="517655"/>
          </a:xfrm>
        </p:spPr>
        <p:txBody>
          <a:bodyPr anchor="b"/>
          <a:lstStyle>
            <a:lvl1pPr marL="0" indent="0" algn="ctr">
              <a:buNone/>
              <a:defRPr sz="2400" b="1" baseline="0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250542" y="2884812"/>
            <a:ext cx="11617998" cy="651490"/>
          </a:xfrm>
        </p:spPr>
        <p:txBody>
          <a:bodyPr anchor="b"/>
          <a:lstStyle>
            <a:lvl1pPr marL="0" indent="0" algn="ctr">
              <a:buNone/>
              <a:defRPr sz="2400" b="1" baseline="0">
                <a:solidFill>
                  <a:srgbClr val="0070C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err="1"/>
              <a:t>Bài</a:t>
            </a:r>
            <a:r>
              <a:rPr lang="en-US" dirty="0"/>
              <a:t> 1: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83047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0541" y="3585838"/>
            <a:ext cx="11655319" cy="538291"/>
          </a:xfrm>
        </p:spPr>
        <p:txBody>
          <a:bodyPr anchor="b">
            <a:noAutofit/>
          </a:bodyPr>
          <a:lstStyle>
            <a:lvl1pPr algn="ctr"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Nguyễn Văn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0541" y="2099388"/>
            <a:ext cx="11655320" cy="1418250"/>
          </a:xfr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 baseline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TÊN BÀI HỌC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452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92" y="178506"/>
            <a:ext cx="11243388" cy="1249078"/>
          </a:xfrm>
        </p:spPr>
        <p:txBody>
          <a:bodyPr/>
          <a:lstStyle>
            <a:lvl1pPr>
              <a:defRPr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192" y="1660849"/>
            <a:ext cx="11243388" cy="4516114"/>
          </a:xfr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q"/>
              <a:tabLst/>
              <a:defRPr sz="2400" baseline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 Edit Master text styles</a:t>
            </a:r>
          </a:p>
          <a:p>
            <a:pPr lvl="0"/>
            <a:r>
              <a:rPr lang="en-US"/>
              <a:t>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904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192" y="223935"/>
            <a:ext cx="11243388" cy="597159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5192" y="1464906"/>
            <a:ext cx="11243388" cy="4712056"/>
          </a:xfrm>
        </p:spPr>
        <p:txBody>
          <a:bodyPr/>
          <a:lstStyle>
            <a:lvl1pPr marL="228600" indent="-228600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q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 Edit Master text styles</a:t>
            </a:r>
          </a:p>
          <a:p>
            <a:pPr lvl="1"/>
            <a:r>
              <a:rPr lang="en-US"/>
              <a:t> 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28237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85192" y="223935"/>
            <a:ext cx="11243388" cy="597159"/>
          </a:xfrm>
        </p:spPr>
        <p:txBody>
          <a:bodyPr>
            <a:normAutofit/>
          </a:bodyPr>
          <a:lstStyle>
            <a:lvl1pPr>
              <a:defRPr sz="32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85192" y="1660849"/>
            <a:ext cx="11243388" cy="451611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None/>
              <a:tabLst/>
              <a:defRPr sz="2000" baseline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600"/>
              </a:spcBef>
              <a:spcAft>
                <a:spcPts val="600"/>
              </a:spcAft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539958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83BA47-C323-46A4-ACF8-F39E8FECA43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446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13EC0-D54D-4AFA-9A98-DD3901644E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726FF-B259-4502-A359-D547473D1359}"/>
              </a:ext>
            </a:extLst>
          </p:cNvPr>
          <p:cNvSpPr txBox="1"/>
          <p:nvPr/>
        </p:nvSpPr>
        <p:spPr>
          <a:xfrm>
            <a:off x="1750072" y="6431365"/>
            <a:ext cx="8995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MAR104 - MARKETING</a:t>
            </a:r>
            <a:r>
              <a:rPr lang="en-US" sz="1200" b="0" baseline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CĂN BẢN</a:t>
            </a:r>
            <a:endParaRPr lang="en-US" sz="1200" b="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3A136-F32B-498B-B06D-BB79434EFFCC}"/>
              </a:ext>
            </a:extLst>
          </p:cNvPr>
          <p:cNvSpPr txBox="1"/>
          <p:nvPr/>
        </p:nvSpPr>
        <p:spPr>
          <a:xfrm>
            <a:off x="10200704" y="6444476"/>
            <a:ext cx="17407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0" baseline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 học phần </a:t>
            </a:r>
            <a:endParaRPr lang="en-US" sz="1200" b="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18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69B71F-3C51-4F99-AE5C-59B8091CC0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906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924800" y="4881185"/>
            <a:ext cx="3515137" cy="365125"/>
          </a:xfrm>
        </p:spPr>
        <p:txBody>
          <a:bodyPr/>
          <a:lstStyle/>
          <a:p>
            <a:pPr>
              <a:defRPr/>
            </a:pPr>
            <a:fld id="{62785C56-1B09-4195-BCD1-26399B415DD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90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</p:spTree>
    <p:extLst>
      <p:ext uri="{BB962C8B-B14F-4D97-AF65-F5344CB8AC3E}">
        <p14:creationId xmlns:p14="http://schemas.microsoft.com/office/powerpoint/2010/main" val="12483172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51414" y="5334000"/>
            <a:ext cx="3515137" cy="365125"/>
          </a:xfrm>
        </p:spPr>
        <p:txBody>
          <a:bodyPr/>
          <a:lstStyle/>
          <a:p>
            <a:pPr>
              <a:defRPr/>
            </a:pPr>
            <a:fld id="{D3269812-E364-40E0-AA9E-00D1E600605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1128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51414" y="5181600"/>
            <a:ext cx="3515137" cy="365125"/>
          </a:xfrm>
        </p:spPr>
        <p:txBody>
          <a:bodyPr/>
          <a:lstStyle/>
          <a:p>
            <a:pPr>
              <a:defRPr/>
            </a:pPr>
            <a:fld id="{019FED95-657D-411B-82C9-C03C6073ED3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1302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F5894E-E203-433E-B0B2-1195B13356A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210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53000" y="469862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A48502-421F-4AAD-9C8D-357E959457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1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pct80">
          <a:fgClr>
            <a:schemeClr val="bg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77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777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7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fld id="{FE152F4C-118F-4EC9-AE11-FB28E884B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77223" name="Rectangle 7"/>
          <p:cNvSpPr>
            <a:spLocks noChangeArrowheads="1"/>
          </p:cNvSpPr>
          <p:nvPr/>
        </p:nvSpPr>
        <p:spPr bwMode="auto">
          <a:xfrm rot="5400000">
            <a:off x="-3378200" y="3378200"/>
            <a:ext cx="6858000" cy="1016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4" name="Rectangle 7"/>
          <p:cNvSpPr>
            <a:spLocks noChangeArrowheads="1"/>
          </p:cNvSpPr>
          <p:nvPr/>
        </p:nvSpPr>
        <p:spPr bwMode="auto">
          <a:xfrm rot="5400000">
            <a:off x="8712200" y="3378200"/>
            <a:ext cx="6858000" cy="1016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5" name="Rectangle 7"/>
          <p:cNvSpPr>
            <a:spLocks noChangeArrowheads="1"/>
          </p:cNvSpPr>
          <p:nvPr/>
        </p:nvSpPr>
        <p:spPr bwMode="auto"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  <p:sp>
        <p:nvSpPr>
          <p:cNvPr id="777226" name="Rectangle 7"/>
          <p:cNvSpPr>
            <a:spLocks noChangeArrowheads="1"/>
          </p:cNvSpPr>
          <p:nvPr/>
        </p:nvSpPr>
        <p:spPr bwMode="auto">
          <a:xfrm>
            <a:off x="0" y="6781800"/>
            <a:ext cx="12192000" cy="76200"/>
          </a:xfrm>
          <a:prstGeom prst="rect">
            <a:avLst/>
          </a:prstGeom>
          <a:gradFill rotWithShape="1">
            <a:gsLst>
              <a:gs pos="0">
                <a:srgbClr val="FFFF99">
                  <a:alpha val="40999"/>
                </a:srgbClr>
              </a:gs>
              <a:gs pos="100000">
                <a:srgbClr val="660033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5028"/>
        </a:buClr>
        <a:buChar char="o"/>
        <a:defRPr sz="3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8/6/2010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19053" y="6409358"/>
            <a:ext cx="3515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152F4C-118F-4EC9-AE11-FB28E884B49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16B7F9-E585-4FD2-CB0D-F1877F54117B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11918" t="12821" r="10245" b="57225"/>
          <a:stretch/>
        </p:blipFill>
        <p:spPr>
          <a:xfrm>
            <a:off x="250541" y="6393673"/>
            <a:ext cx="1499531" cy="38160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988E7E-B398-4A71-F421-06F1CDBD454F}"/>
              </a:ext>
            </a:extLst>
          </p:cNvPr>
          <p:cNvCxnSpPr/>
          <p:nvPr/>
        </p:nvCxnSpPr>
        <p:spPr>
          <a:xfrm>
            <a:off x="0" y="6298266"/>
            <a:ext cx="12192000" cy="0"/>
          </a:xfrm>
          <a:prstGeom prst="line">
            <a:avLst/>
          </a:prstGeom>
          <a:ln w="19050" cmpd="dbl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F09B70-0D13-DB5E-8272-B628A907FDAD}"/>
              </a:ext>
            </a:extLst>
          </p:cNvPr>
          <p:cNvSpPr txBox="1"/>
          <p:nvPr/>
        </p:nvSpPr>
        <p:spPr>
          <a:xfrm>
            <a:off x="1750072" y="6431365"/>
            <a:ext cx="8995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CMP169</a:t>
            </a:r>
            <a:r>
              <a:rPr lang="vi-VN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alt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TRÍ TUỆ NHÂN TẠO</a:t>
            </a:r>
            <a:r>
              <a:rPr lang="vi-VN" sz="1200" dirty="0">
                <a:solidFill>
                  <a:srgbClr val="C00000"/>
                </a:solidFill>
              </a:rPr>
              <a:t> 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9E2EC-9374-459D-9E55-8144CB5D66B7}"/>
              </a:ext>
            </a:extLst>
          </p:cNvPr>
          <p:cNvSpPr txBox="1"/>
          <p:nvPr/>
        </p:nvSpPr>
        <p:spPr>
          <a:xfrm>
            <a:off x="8534400" y="6444476"/>
            <a:ext cx="340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sz="12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Bài 4:</a:t>
            </a:r>
            <a:r>
              <a:rPr lang="en-US" sz="12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DIỄN VÀ XỬ LÝ TRI THỨC.</a:t>
            </a:r>
          </a:p>
          <a:p>
            <a:pPr algn="r"/>
            <a:r>
              <a:rPr lang="vi-VN" sz="12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50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50F5AD60-1962-4CF6-3C4A-02F7D93C2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106680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vi-VN" sz="6600" b="1" dirty="0">
                <a:solidFill>
                  <a:srgbClr val="C00000"/>
                </a:solidFill>
                <a:cs typeface="+mj-cs"/>
              </a:rPr>
              <a:t>BIỂU DIỄN VÀ XỬ LÝ TRI THỨC</a:t>
            </a:r>
            <a:endParaRPr lang="en-US" sz="6600" b="1" dirty="0">
              <a:solidFill>
                <a:srgbClr val="C00000"/>
              </a:solidFill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038600" y="304800"/>
            <a:ext cx="8153400" cy="1139825"/>
          </a:xfrm>
        </p:spPr>
        <p:txBody>
          <a:bodyPr anchor="b"/>
          <a:lstStyle/>
          <a:p>
            <a:pPr eaLnBrk="1" hangingPunct="1"/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528385"/>
            <a:ext cx="9220200" cy="3352800"/>
          </a:xfrm>
          <a:ln>
            <a:noFill/>
          </a:ln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THUẬT GIẢI TÔ MÀU ĐỒ THỊ.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THUẬT GIẢI TÌM KIẾM TRÊN ĐỒ THỊ.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DIỄN VÀ XỬ LÝ TRI THỨC.</a:t>
            </a:r>
          </a:p>
          <a:p>
            <a:pPr marL="533400" indent="-533400" eaLnBrk="1" hangingPunct="1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 LỚP.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7" name="Rectangle 5"/>
          <p:cNvSpPr>
            <a:spLocks noChangeArrowheads="1"/>
          </p:cNvSpPr>
          <p:nvPr/>
        </p:nvSpPr>
        <p:spPr bwMode="auto">
          <a:xfrm>
            <a:off x="4648200" y="1295400"/>
            <a:ext cx="3081337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en-US" sz="3200" b="1" dirty="0" err="1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Chương</a:t>
            </a:r>
            <a:r>
              <a:rPr lang="en-US" sz="3200" b="1" dirty="0">
                <a:solidFill>
                  <a:srgbClr val="C00000"/>
                </a:solidFill>
                <a:latin typeface="Tahoma" pitchFamily="34" charset="0"/>
                <a:cs typeface="Tahoma" pitchFamily="34" charset="0"/>
              </a:rPr>
              <a:t> III</a:t>
            </a:r>
          </a:p>
        </p:txBody>
      </p:sp>
      <p:sp>
        <p:nvSpPr>
          <p:cNvPr id="190468" name="Rectangle 4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5500" dirty="0">
                <a:solidFill>
                  <a:srgbClr val="C00000"/>
                </a:solidFill>
                <a:ea typeface="MS PGothic" pitchFamily="34" charset="-128"/>
              </a:rPr>
              <a:t>BIỂU DIỄN &amp; XỬ LÝ TRI THỨC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8229600" cy="941388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C00000"/>
                </a:solidFill>
              </a:rPr>
              <a:t>Nội</a:t>
            </a:r>
            <a:r>
              <a:rPr lang="en-US" dirty="0">
                <a:solidFill>
                  <a:srgbClr val="C00000"/>
                </a:solidFill>
              </a:rPr>
              <a:t> dung</a:t>
            </a:r>
          </a:p>
        </p:txBody>
      </p:sp>
      <p:sp>
        <p:nvSpPr>
          <p:cNvPr id="191494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1524000"/>
            <a:ext cx="10820400" cy="4419600"/>
          </a:xfrm>
        </p:spPr>
        <p:txBody>
          <a:bodyPr>
            <a:normAutofit fontScale="92500"/>
          </a:bodyPr>
          <a:lstStyle/>
          <a:p>
            <a:pPr marL="514350" indent="-514350" algn="just" eaLnBrk="1" hangingPunct="1">
              <a:lnSpc>
                <a:spcPct val="150000"/>
              </a:lnSpc>
              <a:buFontTx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: </a:t>
            </a:r>
          </a:p>
          <a:p>
            <a:pPr marL="908050" lvl="1" indent="-514350" algn="just" eaLnBrk="1" hangingPunct="1">
              <a:lnSpc>
                <a:spcPct val="150000"/>
              </a:lnSpc>
              <a:buFontTx/>
              <a:buAutoNum type="alphaLcPeriod"/>
            </a:pPr>
            <a:r>
              <a:rPr lang="en-US" sz="2800" dirty="0">
                <a:solidFill>
                  <a:srgbClr val="0070C0"/>
                </a:solidFill>
              </a:rPr>
              <a:t>Các qui </a:t>
            </a:r>
            <a:r>
              <a:rPr lang="en-US" sz="2800" dirty="0" err="1">
                <a:solidFill>
                  <a:srgbClr val="0070C0"/>
                </a:solidFill>
              </a:rPr>
              <a:t>luật</a:t>
            </a:r>
            <a:r>
              <a:rPr lang="en-US" sz="2800" dirty="0">
                <a:solidFill>
                  <a:srgbClr val="0070C0"/>
                </a:solidFill>
              </a:rPr>
              <a:t> logic </a:t>
            </a:r>
            <a:r>
              <a:rPr lang="en-US" sz="2800" dirty="0" err="1">
                <a:solidFill>
                  <a:srgbClr val="0070C0"/>
                </a:solidFill>
              </a:rPr>
              <a:t>cơ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bản</a:t>
            </a:r>
            <a:endParaRPr lang="en-US" sz="2800" dirty="0">
              <a:solidFill>
                <a:srgbClr val="0070C0"/>
              </a:solidFill>
            </a:endParaRPr>
          </a:p>
          <a:p>
            <a:pPr marL="908050" lvl="1" indent="-514350" algn="just" eaLnBrk="1" hangingPunct="1">
              <a:lnSpc>
                <a:spcPct val="150000"/>
              </a:lnSpc>
              <a:buFontTx/>
              <a:buAutoNum type="alphaLcPeriod"/>
            </a:pPr>
            <a:r>
              <a:rPr lang="en-US" sz="2800" dirty="0" err="1">
                <a:solidFill>
                  <a:srgbClr val="0070C0"/>
                </a:solidFill>
              </a:rPr>
              <a:t>Chứng</a:t>
            </a:r>
            <a:r>
              <a:rPr lang="en-US" sz="2800" dirty="0">
                <a:solidFill>
                  <a:srgbClr val="0070C0"/>
                </a:solidFill>
              </a:rPr>
              <a:t> minh </a:t>
            </a:r>
            <a:r>
              <a:rPr lang="en-US" sz="2800" dirty="0" err="1">
                <a:solidFill>
                  <a:srgbClr val="0070C0"/>
                </a:solidFill>
              </a:rPr>
              <a:t>tự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động</a:t>
            </a:r>
            <a:r>
              <a:rPr lang="en-US" sz="2800" dirty="0">
                <a:solidFill>
                  <a:srgbClr val="0070C0"/>
                </a:solidFill>
              </a:rPr>
              <a:t>: </a:t>
            </a:r>
            <a:r>
              <a:rPr lang="en-US" sz="2800" dirty="0" err="1">
                <a:solidFill>
                  <a:srgbClr val="0070C0"/>
                </a:solidFill>
              </a:rPr>
              <a:t>Hợp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giải</a:t>
            </a:r>
            <a:r>
              <a:rPr lang="en-US" sz="2800" dirty="0">
                <a:solidFill>
                  <a:srgbClr val="0070C0"/>
                </a:solidFill>
              </a:rPr>
              <a:t>, Robinson, </a:t>
            </a:r>
            <a:r>
              <a:rPr lang="en-US" sz="2800" dirty="0" err="1">
                <a:solidFill>
                  <a:srgbClr val="0070C0"/>
                </a:solidFill>
              </a:rPr>
              <a:t>Thuật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giải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Vương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 err="1">
                <a:solidFill>
                  <a:srgbClr val="0070C0"/>
                </a:solidFill>
              </a:rPr>
              <a:t>Hạo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  <a:p>
            <a:pPr marL="514350" indent="-514350" algn="just" eaLnBrk="1" hangingPunct="1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2.  </a:t>
            </a:r>
            <a:r>
              <a:rPr lang="en-US" dirty="0" err="1">
                <a:solidFill>
                  <a:srgbClr val="0070C0"/>
                </a:solidFill>
              </a:rPr>
              <a:t>Suy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trong</a:t>
            </a:r>
            <a:r>
              <a:rPr lang="en-US" dirty="0">
                <a:solidFill>
                  <a:srgbClr val="0070C0"/>
                </a:solidFill>
              </a:rPr>
              <a:t> 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514350" indent="-514350" algn="just" eaLnBrk="1" hangingPunct="1">
              <a:lnSpc>
                <a:spcPct val="150000"/>
              </a:lnSpc>
              <a:buNone/>
            </a:pPr>
            <a:r>
              <a:rPr lang="en-US" dirty="0">
                <a:solidFill>
                  <a:srgbClr val="0070C0"/>
                </a:solidFill>
              </a:rPr>
              <a:t>3. </a:t>
            </a:r>
            <a:r>
              <a:rPr lang="en-US" dirty="0" err="1">
                <a:solidFill>
                  <a:srgbClr val="0070C0"/>
                </a:solidFill>
              </a:rPr>
              <a:t>Biểu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và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xử</a:t>
            </a:r>
            <a:r>
              <a:rPr lang="en-US" dirty="0">
                <a:solidFill>
                  <a:srgbClr val="0070C0"/>
                </a:solidFill>
              </a:rPr>
              <a:t> lý tri </a:t>
            </a:r>
            <a:r>
              <a:rPr lang="en-US" dirty="0" err="1">
                <a:solidFill>
                  <a:srgbClr val="0070C0"/>
                </a:solidFill>
              </a:rPr>
              <a:t>thức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bằng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mô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hình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mạng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ngữ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nghĩa</a:t>
            </a:r>
            <a:r>
              <a:rPr lang="en-US" dirty="0">
                <a:solidFill>
                  <a:srgbClr val="0070C0"/>
                </a:solidFill>
              </a:rPr>
              <a:t> (Semantic network).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48100" y="2159377"/>
            <a:ext cx="4495800" cy="1143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1. 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42500" y="272097"/>
            <a:ext cx="8229600" cy="1143000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Các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ký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hiệu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FBEED-ACB8-4BAD-85AD-875FDECF4DC3}"/>
              </a:ext>
            </a:extLst>
          </p:cNvPr>
          <p:cNvSpPr txBox="1"/>
          <p:nvPr/>
        </p:nvSpPr>
        <p:spPr>
          <a:xfrm>
            <a:off x="3276601" y="1447800"/>
            <a:ext cx="401263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Ký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hiệu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: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: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phủ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định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: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hội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hiểu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như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và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)</a:t>
            </a:r>
            <a:endParaRPr lang="en-US" sz="2400" i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: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hiểu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như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i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hoặc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: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kéo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theo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: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kéo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theo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2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chiều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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suy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ra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ea typeface="MS Mincho" pitchFamily="49" charset="-128"/>
                <a:sym typeface="Symbol" pitchFamily="18" charset="2"/>
              </a:rPr>
              <a:t>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 Hay 	  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tương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đương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MS Mincho" pitchFamily="49" charset="-128"/>
                <a:cs typeface="Times New Roman" pitchFamily="18" charset="0"/>
                <a:sym typeface="Symbol" pitchFamily="18" charset="2"/>
              </a:rPr>
              <a:t> logic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CA2E1-F660-4689-8F35-08C510AE4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1" y="5285306"/>
            <a:ext cx="4055497" cy="3619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5B089C-F8F5-4ADB-AFF0-AF426008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070" y="4154985"/>
            <a:ext cx="261961" cy="2401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8D3FCD-4EA8-4FE1-BE2E-2C62183C4C37}"/>
              </a:ext>
            </a:extLst>
          </p:cNvPr>
          <p:cNvSpPr txBox="1"/>
          <p:nvPr/>
        </p:nvSpPr>
        <p:spPr>
          <a:xfrm>
            <a:off x="3270250" y="4221460"/>
            <a:ext cx="4578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  <a:latin typeface="Arial" pitchFamily="34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Thứ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tự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ưu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tiên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Times New Roman" pitchFamily="18" charset="0"/>
                <a:sym typeface="Symbol" pitchFamily="18" charset="2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9470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457200"/>
            <a:ext cx="10744200" cy="826532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4000" dirty="0" err="1">
                <a:solidFill>
                  <a:srgbClr val="0070C0"/>
                </a:solidFill>
              </a:rPr>
              <a:t>Bảng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chân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trị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của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các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phép</a:t>
            </a:r>
            <a:r>
              <a:rPr lang="en-US" sz="4000" dirty="0">
                <a:solidFill>
                  <a:srgbClr val="0070C0"/>
                </a:solidFill>
              </a:rPr>
              <a:t> toán </a:t>
            </a:r>
            <a:r>
              <a:rPr lang="en-US" sz="4000" dirty="0" err="1">
                <a:solidFill>
                  <a:srgbClr val="0070C0"/>
                </a:solidFill>
              </a:rPr>
              <a:t>mệnh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đề</a:t>
            </a:r>
            <a:endParaRPr lang="en-US" sz="4000" dirty="0">
              <a:solidFill>
                <a:srgbClr val="0070C0"/>
              </a:solidFill>
            </a:endParaRPr>
          </a:p>
        </p:txBody>
      </p:sp>
      <p:graphicFrame>
        <p:nvGraphicFramePr>
          <p:cNvPr id="639031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76619"/>
              </p:ext>
            </p:extLst>
          </p:nvPr>
        </p:nvGraphicFramePr>
        <p:xfrm>
          <a:off x="2895600" y="2057400"/>
          <a:ext cx="5943600" cy="2508250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82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98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MS Mincho" pitchFamily="49" charset="-128"/>
                          <a:cs typeface="Times New Roman" pitchFamily="18" charset="0"/>
                        </a:rPr>
                        <a:t>p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q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  <a:sym typeface="Symbol" pitchFamily="18" charset="2"/>
                        </a:rPr>
                        <a:t>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 q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  <a:sym typeface="Symbol" pitchFamily="18" charset="2"/>
                        </a:rPr>
                        <a:t>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 q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  <a:sym typeface="Symbol" pitchFamily="18" charset="2"/>
                        </a:rPr>
                        <a:t>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 q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  <a:sym typeface="Symbol" pitchFamily="18" charset="2"/>
                        </a:rPr>
                        <a:t>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 q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Courier New" pitchFamily="49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52400"/>
            <a:ext cx="9067800" cy="762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Các qui </a:t>
            </a:r>
            <a:r>
              <a:rPr lang="en-US" dirty="0" err="1">
                <a:solidFill>
                  <a:srgbClr val="0070C0"/>
                </a:solidFill>
              </a:rPr>
              <a:t>luật</a:t>
            </a:r>
            <a:r>
              <a:rPr lang="en-US" dirty="0">
                <a:solidFill>
                  <a:srgbClr val="0070C0"/>
                </a:solidFill>
              </a:rPr>
              <a:t> logic </a:t>
            </a:r>
            <a:r>
              <a:rPr lang="en-US" dirty="0" err="1">
                <a:solidFill>
                  <a:srgbClr val="0070C0"/>
                </a:solidFill>
              </a:rPr>
              <a:t>cơ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bản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1614345" y="1050152"/>
            <a:ext cx="3948545" cy="5053756"/>
          </a:xfrm>
          <a:prstGeom prst="rec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FontTx/>
              <a:buAutoNum type="alphaLcPeriod"/>
              <a:tabLst>
                <a:tab pos="6858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cs typeface="Times New Roman" pitchFamily="18" charset="0"/>
              </a:rPr>
              <a:t>Giao </a:t>
            </a:r>
            <a:r>
              <a:rPr lang="en-US" b="1" dirty="0" err="1">
                <a:solidFill>
                  <a:schemeClr val="tx1"/>
                </a:solidFill>
                <a:cs typeface="Times New Roman" pitchFamily="18" charset="0"/>
              </a:rPr>
              <a:t>hoán</a:t>
            </a:r>
            <a:r>
              <a:rPr lang="en-US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endParaRPr lang="en-US" b="1" dirty="0">
              <a:solidFill>
                <a:schemeClr val="tx1"/>
              </a:solidFill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	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q  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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q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 p</a:t>
            </a:r>
            <a:endParaRPr lang="en-US" dirty="0">
              <a:solidFill>
                <a:schemeClr val="tx1"/>
              </a:solidFill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q 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q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p</a:t>
            </a:r>
            <a:endParaRPr lang="en-US" dirty="0">
              <a:solidFill>
                <a:schemeClr val="tx1"/>
              </a:solidFill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2"/>
              <a:tabLst>
                <a:tab pos="685800" algn="l"/>
              </a:tabLst>
              <a:defRPr/>
            </a:pP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Kết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hợp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:</a:t>
            </a:r>
            <a:endParaRPr lang="en-US" b="1" dirty="0">
              <a:solidFill>
                <a:schemeClr val="tx1"/>
              </a:solidFill>
              <a:cs typeface="Times New Roman" pitchFamily="18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(p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q)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  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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</a:rPr>
              <a:t>  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(q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</a:t>
            </a:r>
            <a:r>
              <a:rPr lang="fr-FR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r)</a:t>
            </a:r>
            <a:endParaRPr lang="en-US" dirty="0">
              <a:solidFill>
                <a:schemeClr val="tx1"/>
              </a:solidFill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(p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q)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  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 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p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(q </a:t>
            </a:r>
            <a:r>
              <a:rPr lang="en-US" sz="1600" dirty="0">
                <a:solidFill>
                  <a:schemeClr val="tx1"/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r)</a:t>
            </a:r>
            <a:endParaRPr lang="en-US" dirty="0">
              <a:solidFill>
                <a:schemeClr val="tx1"/>
              </a:solidFill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3"/>
              <a:tabLst>
                <a:tab pos="685800" algn="l"/>
              </a:tabLst>
              <a:defRPr/>
            </a:pP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Phân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phối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: 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(q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r)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(p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q)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(p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r)</a:t>
            </a:r>
            <a:endParaRPr lang="en-US" dirty="0">
              <a:solidFill>
                <a:schemeClr val="tx1"/>
              </a:solidFill>
              <a:ea typeface="MS Mincho" pitchFamily="49" charset="-128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(q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r)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(p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q)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(p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r)</a:t>
            </a:r>
            <a:endParaRPr lang="en-US" dirty="0">
              <a:solidFill>
                <a:schemeClr val="tx1"/>
              </a:solidFill>
              <a:ea typeface="MS Mincho" pitchFamily="49" charset="-128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4"/>
              <a:tabLst>
                <a:tab pos="685800" algn="l"/>
              </a:tabLst>
              <a:defRPr/>
            </a:pP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Luật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luỹ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đẳng</a:t>
            </a:r>
            <a:r>
              <a:rPr lang="en-US" b="1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: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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p 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p</a:t>
            </a:r>
            <a:endParaRPr lang="en-US" dirty="0">
              <a:solidFill>
                <a:schemeClr val="tx1"/>
              </a:solidFill>
              <a:ea typeface="MS Mincho" pitchFamily="49" charset="-128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	p </a:t>
            </a:r>
            <a:r>
              <a:rPr lang="en-US" sz="1600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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  <a:sym typeface="Symbol" pitchFamily="18" charset="2"/>
              </a:rPr>
              <a:t> p </a:t>
            </a:r>
            <a:r>
              <a:rPr lang="en-US" dirty="0">
                <a:solidFill>
                  <a:schemeClr val="tx1"/>
                </a:solidFill>
                <a:ea typeface="MS Mincho" pitchFamily="49" charset="-128"/>
              </a:rPr>
              <a:t> p</a:t>
            </a: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5"/>
              <a:tabLst>
                <a:tab pos="685800" algn="l"/>
              </a:tabLst>
              <a:defRPr/>
            </a:pPr>
            <a:r>
              <a:rPr lang="en-US" b="1" dirty="0" err="1">
                <a:ea typeface="MS Mincho" pitchFamily="49" charset="-128"/>
                <a:sym typeface="Symbol" pitchFamily="18" charset="2"/>
              </a:rPr>
              <a:t>Luật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ea typeface="MS Mincho" pitchFamily="49" charset="-128"/>
                <a:sym typeface="Symbol" pitchFamily="18" charset="2"/>
              </a:rPr>
              <a:t>về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ea typeface="MS Mincho" pitchFamily="49" charset="-128"/>
                <a:sym typeface="Symbol" pitchFamily="18" charset="2"/>
              </a:rPr>
              <a:t>phần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ea typeface="MS Mincho" pitchFamily="49" charset="-128"/>
                <a:sym typeface="Symbol" pitchFamily="18" charset="2"/>
              </a:rPr>
              <a:t>tử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ea typeface="MS Mincho" pitchFamily="49" charset="-128"/>
                <a:sym typeface="Symbol" pitchFamily="18" charset="2"/>
              </a:rPr>
              <a:t>trung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 </a:t>
            </a:r>
            <a:r>
              <a:rPr lang="en-US" b="1" dirty="0" err="1">
                <a:ea typeface="MS Mincho" pitchFamily="49" charset="-128"/>
                <a:sym typeface="Symbol" pitchFamily="18" charset="2"/>
              </a:rPr>
              <a:t>hòa</a:t>
            </a:r>
            <a:r>
              <a:rPr lang="en-US" b="1" dirty="0">
                <a:ea typeface="MS Mincho" pitchFamily="49" charset="-128"/>
                <a:sym typeface="Symbol" pitchFamily="18" charset="2"/>
              </a:rPr>
              <a:t>:</a:t>
            </a:r>
            <a:endParaRPr lang="en-US" b="1" dirty="0"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ea typeface="MS Mincho" pitchFamily="49" charset="-128"/>
                <a:sym typeface="Symbol" pitchFamily="18" charset="2"/>
              </a:rPr>
              <a:t>	p </a:t>
            </a:r>
            <a:r>
              <a:rPr lang="en-US" dirty="0">
                <a:sym typeface="Symbol" pitchFamily="18" charset="2"/>
              </a:rPr>
              <a:t></a:t>
            </a:r>
            <a:r>
              <a:rPr lang="en-US" dirty="0">
                <a:ea typeface="MS Mincho" pitchFamily="49" charset="-128"/>
                <a:sym typeface="Symbol" pitchFamily="18" charset="2"/>
              </a:rPr>
              <a:t> 1 </a:t>
            </a:r>
            <a:r>
              <a:rPr lang="en-US" dirty="0">
                <a:ea typeface="MS Mincho" pitchFamily="49" charset="-128"/>
              </a:rPr>
              <a:t> p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dirty="0">
                <a:ea typeface="MS Mincho" pitchFamily="49" charset="-128"/>
                <a:sym typeface="Symbol" pitchFamily="18" charset="2"/>
              </a:rPr>
              <a:t>	p </a:t>
            </a:r>
            <a:r>
              <a:rPr lang="en-US" dirty="0">
                <a:sym typeface="Symbol" pitchFamily="18" charset="2"/>
              </a:rPr>
              <a:t></a:t>
            </a:r>
            <a:r>
              <a:rPr lang="en-US" dirty="0">
                <a:ea typeface="MS Mincho" pitchFamily="49" charset="-128"/>
                <a:sym typeface="Symbol" pitchFamily="18" charset="2"/>
              </a:rPr>
              <a:t> 0  </a:t>
            </a:r>
            <a:r>
              <a:rPr lang="en-US" dirty="0">
                <a:ea typeface="MS Mincho" pitchFamily="49" charset="-128"/>
              </a:rPr>
              <a:t> p 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715000" y="1050152"/>
            <a:ext cx="4465820" cy="4644990"/>
          </a:xfrm>
          <a:prstGeom prst="rect">
            <a:avLst/>
          </a:prstGeom>
          <a:solidFill>
            <a:srgbClr val="00B0F0"/>
          </a:solidFill>
          <a:ln w="9525" algn="ctr">
            <a:solidFill>
              <a:srgbClr val="0062FF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wrap="square" anchor="ctr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FontTx/>
              <a:buAutoNum type="alphaLcPeriod" startAt="6"/>
              <a:tabLst>
                <a:tab pos="685800" algn="l"/>
              </a:tabLst>
              <a:defRPr/>
            </a:pPr>
            <a:r>
              <a:rPr lang="en-US" sz="2000" b="1" dirty="0" err="1">
                <a:solidFill>
                  <a:srgbClr val="000000"/>
                </a:solidFill>
                <a:latin typeface="+mn-lt"/>
                <a:ea typeface="MS Mincho" pitchFamily="49" charset="-128"/>
                <a:sym typeface="Symbol" pitchFamily="18" charset="2"/>
              </a:rPr>
              <a:t>L</a:t>
            </a:r>
            <a:r>
              <a:rPr lang="en-US" sz="2000" b="1" dirty="0" err="1">
                <a:latin typeface="+mn-lt"/>
                <a:ea typeface="MS Mincho" pitchFamily="49" charset="-128"/>
                <a:sym typeface="Symbol" pitchFamily="18" charset="2"/>
              </a:rPr>
              <a:t>uật</a:t>
            </a:r>
            <a:r>
              <a:rPr lang="en-US" sz="2000" b="1" dirty="0">
                <a:latin typeface="+mn-lt"/>
                <a:ea typeface="MS Mincho" pitchFamily="49" charset="-128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ea typeface="MS Mincho" pitchFamily="49" charset="-128"/>
                <a:sym typeface="Symbol" pitchFamily="18" charset="2"/>
              </a:rPr>
              <a:t>thống</a:t>
            </a:r>
            <a:r>
              <a:rPr lang="en-US" sz="2000" b="1" dirty="0">
                <a:latin typeface="+mn-lt"/>
                <a:ea typeface="MS Mincho" pitchFamily="49" charset="-128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ea typeface="MS Mincho" pitchFamily="49" charset="-128"/>
                <a:sym typeface="Symbol" pitchFamily="18" charset="2"/>
              </a:rPr>
              <a:t>trị</a:t>
            </a:r>
            <a:r>
              <a:rPr lang="en-US" sz="2000" b="1" dirty="0">
                <a:latin typeface="+mn-lt"/>
                <a:ea typeface="MS Mincho" pitchFamily="49" charset="-128"/>
                <a:sym typeface="Symbol" pitchFamily="18" charset="2"/>
              </a:rPr>
              <a:t>:</a:t>
            </a:r>
            <a:endParaRPr lang="en-US" sz="2000" b="1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2000" dirty="0">
                <a:latin typeface="+mn-lt"/>
                <a:ea typeface="MS Mincho" pitchFamily="49" charset="-128"/>
                <a:sym typeface="Symbol" pitchFamily="18" charset="2"/>
              </a:rPr>
              <a:t>	p </a:t>
            </a:r>
            <a:r>
              <a:rPr lang="en-US" sz="2000" dirty="0">
                <a:latin typeface="+mn-lt"/>
                <a:sym typeface="Symbol" pitchFamily="18" charset="2"/>
              </a:rPr>
              <a:t></a:t>
            </a:r>
            <a:r>
              <a:rPr lang="en-US" sz="2000" dirty="0">
                <a:latin typeface="+mn-lt"/>
                <a:ea typeface="MS Mincho" pitchFamily="49" charset="-128"/>
                <a:sym typeface="Symbol" pitchFamily="18" charset="2"/>
              </a:rPr>
              <a:t> 1 </a:t>
            </a:r>
            <a:r>
              <a:rPr lang="en-US" sz="2000" dirty="0">
                <a:latin typeface="+mn-lt"/>
                <a:ea typeface="MS Mincho" pitchFamily="49" charset="-128"/>
              </a:rPr>
              <a:t> 1 (T)</a:t>
            </a:r>
            <a:endParaRPr lang="en-US" sz="2000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2000" dirty="0">
                <a:latin typeface="+mn-lt"/>
                <a:ea typeface="MS Mincho" pitchFamily="49" charset="-128"/>
                <a:sym typeface="Symbol" pitchFamily="18" charset="2"/>
              </a:rPr>
              <a:t>	p </a:t>
            </a:r>
            <a:r>
              <a:rPr lang="en-US" sz="2000" dirty="0">
                <a:latin typeface="+mn-lt"/>
                <a:sym typeface="Symbol" pitchFamily="18" charset="2"/>
              </a:rPr>
              <a:t></a:t>
            </a:r>
            <a:r>
              <a:rPr lang="en-US" sz="2000" dirty="0">
                <a:latin typeface="+mn-lt"/>
                <a:ea typeface="MS Mincho" pitchFamily="49" charset="-128"/>
                <a:sym typeface="Symbol" pitchFamily="18" charset="2"/>
              </a:rPr>
              <a:t> 0 </a:t>
            </a:r>
            <a:r>
              <a:rPr lang="en-US" sz="2000" dirty="0">
                <a:latin typeface="+mn-lt"/>
                <a:ea typeface="MS Mincho" pitchFamily="49" charset="-128"/>
              </a:rPr>
              <a:t> 0 (F)</a:t>
            </a:r>
            <a:endParaRPr lang="en-US" sz="2000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7"/>
              <a:tabLst>
                <a:tab pos="685800" algn="l"/>
              </a:tabLst>
              <a:defRPr/>
            </a:pPr>
            <a:r>
              <a:rPr lang="en-US" sz="2000" b="1" dirty="0" err="1">
                <a:latin typeface="+mn-lt"/>
                <a:cs typeface="Times New Roman" pitchFamily="18" charset="0"/>
                <a:sym typeface="Symbol" pitchFamily="18" charset="2"/>
              </a:rPr>
              <a:t>Luật</a:t>
            </a:r>
            <a:r>
              <a:rPr lang="en-US" sz="2000" b="1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  <a:sym typeface="Symbol" pitchFamily="18" charset="2"/>
              </a:rPr>
              <a:t>về</a:t>
            </a:r>
            <a:r>
              <a:rPr lang="en-US" sz="2000" b="1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  <a:sym typeface="Symbol" pitchFamily="18" charset="2"/>
              </a:rPr>
              <a:t>phần</a:t>
            </a:r>
            <a:r>
              <a:rPr lang="en-US" sz="2000" b="1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  <a:sym typeface="Symbol" pitchFamily="18" charset="2"/>
              </a:rPr>
              <a:t>tử</a:t>
            </a:r>
            <a:r>
              <a:rPr lang="en-US" sz="2000" b="1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  <a:sym typeface="Symbol" pitchFamily="18" charset="2"/>
              </a:rPr>
              <a:t>bù</a:t>
            </a:r>
            <a:r>
              <a:rPr lang="en-US" sz="2000" b="1" dirty="0">
                <a:latin typeface="+mn-lt"/>
                <a:cs typeface="Times New Roman" pitchFamily="18" charset="0"/>
                <a:sym typeface="Symbol" pitchFamily="18" charset="2"/>
              </a:rPr>
              <a:t>:</a:t>
            </a:r>
            <a:endParaRPr lang="en-US" sz="2000" b="1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2000" dirty="0">
                <a:latin typeface="+mn-lt"/>
                <a:cs typeface="Times New Roman" pitchFamily="18" charset="0"/>
                <a:sym typeface="Symbol" pitchFamily="18" charset="2"/>
              </a:rPr>
              <a:t>    </a:t>
            </a:r>
            <a:r>
              <a:rPr lang="fr-FR" sz="2000" dirty="0">
                <a:latin typeface="+mn-lt"/>
                <a:cs typeface="Times New Roman" pitchFamily="18" charset="0"/>
                <a:sym typeface="Symbol" pitchFamily="18" charset="2"/>
              </a:rPr>
              <a:t>p </a:t>
            </a:r>
            <a:r>
              <a:rPr lang="en-US" sz="2000" dirty="0">
                <a:latin typeface="+mn-lt"/>
                <a:sym typeface="Symbol" pitchFamily="18" charset="2"/>
              </a:rPr>
              <a:t></a:t>
            </a:r>
            <a:r>
              <a:rPr lang="fr-FR" sz="2000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latin typeface="+mn-lt"/>
                <a:cs typeface="Times New Roman" pitchFamily="18" charset="0"/>
              </a:rPr>
              <a:t>p </a:t>
            </a:r>
            <a:r>
              <a:rPr lang="en-US" sz="2000" dirty="0"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2000" dirty="0">
                <a:latin typeface="+mn-lt"/>
                <a:cs typeface="Times New Roman" pitchFamily="18" charset="0"/>
              </a:rPr>
              <a:t> 0 (F)</a:t>
            </a:r>
            <a:endParaRPr lang="en-US" sz="2000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fr-FR" sz="2000" dirty="0">
                <a:latin typeface="+mn-lt"/>
                <a:cs typeface="Times New Roman" pitchFamily="18" charset="0"/>
                <a:sym typeface="Symbol" pitchFamily="18" charset="2"/>
              </a:rPr>
              <a:t>    p </a:t>
            </a:r>
            <a:r>
              <a:rPr lang="en-US" sz="2000" dirty="0">
                <a:latin typeface="+mn-lt"/>
                <a:sym typeface="Symbol" pitchFamily="18" charset="2"/>
              </a:rPr>
              <a:t></a:t>
            </a:r>
            <a:r>
              <a:rPr lang="fr-FR" sz="2000" dirty="0"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latin typeface="+mn-lt"/>
                <a:cs typeface="Times New Roman" pitchFamily="18" charset="0"/>
              </a:rPr>
              <a:t>p </a:t>
            </a:r>
            <a:r>
              <a:rPr lang="en-US" sz="2000" dirty="0"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2000" dirty="0">
                <a:latin typeface="+mn-lt"/>
                <a:cs typeface="Times New Roman" pitchFamily="18" charset="0"/>
              </a:rPr>
              <a:t> 1 (T)</a:t>
            </a:r>
            <a:endParaRPr lang="en-US" sz="2000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buFontTx/>
              <a:buAutoNum type="alphaLcPeriod" startAt="8"/>
              <a:tabLst>
                <a:tab pos="685800" algn="l"/>
              </a:tabLst>
              <a:defRPr/>
            </a:pPr>
            <a:r>
              <a:rPr lang="fr-FR" sz="2000" b="1" dirty="0" err="1">
                <a:latin typeface="+mn-lt"/>
                <a:cs typeface="Times New Roman" pitchFamily="18" charset="0"/>
                <a:sym typeface="Symbol" pitchFamily="18" charset="2"/>
              </a:rPr>
              <a:t>Luật</a:t>
            </a:r>
            <a:r>
              <a:rPr lang="fr-FR" sz="2000" b="1" dirty="0">
                <a:latin typeface="+mn-lt"/>
                <a:cs typeface="Times New Roman" pitchFamily="18" charset="0"/>
                <a:sym typeface="Symbol" pitchFamily="18" charset="2"/>
              </a:rPr>
              <a:t> De Morgan:</a:t>
            </a:r>
            <a:endParaRPr lang="en-US" sz="2000" b="1" dirty="0">
              <a:latin typeface="+mn-lt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  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(p </a:t>
            </a:r>
            <a:r>
              <a:rPr lang="en-US" sz="20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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q)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p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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q</a:t>
            </a:r>
            <a:endParaRPr lang="fr-FR" sz="2000" dirty="0">
              <a:highlight>
                <a:srgbClr val="FFFF00"/>
              </a:highlight>
              <a:latin typeface="+mn-lt"/>
              <a:cs typeface="Times New Roman" pitchFamily="18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  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(p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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q)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p </a:t>
            </a:r>
            <a:r>
              <a:rPr lang="en-US" sz="20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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20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q</a:t>
            </a:r>
            <a:r>
              <a:rPr lang="en-US" sz="2000" dirty="0">
                <a:highlight>
                  <a:srgbClr val="FFFF00"/>
                </a:highlight>
                <a:latin typeface="+mn-lt"/>
                <a:sym typeface="Symbol" pitchFamily="18" charset="2"/>
              </a:rPr>
              <a:t> </a:t>
            </a:r>
          </a:p>
          <a:p>
            <a:pPr marL="457200" indent="-457200" eaLnBrk="0" hangingPunct="0">
              <a:lnSpc>
                <a:spcPct val="120000"/>
              </a:lnSpc>
              <a:buFont typeface="+mj-lt"/>
              <a:buAutoNum type="alphaLcPeriod" startAt="9"/>
              <a:tabLst>
                <a:tab pos="685800" algn="l"/>
              </a:tabLst>
              <a:defRPr/>
            </a:pPr>
            <a:r>
              <a:rPr lang="en-US" sz="2000" b="1" dirty="0" err="1">
                <a:latin typeface="+mn-lt"/>
                <a:cs typeface="Times New Roman" pitchFamily="18" charset="0"/>
              </a:rPr>
              <a:t>Luật</a:t>
            </a:r>
            <a:r>
              <a:rPr lang="en-US" sz="2000" b="1" dirty="0">
                <a:latin typeface="+mn-lt"/>
                <a:cs typeface="Times New Roman" pitchFamily="18" charset="0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</a:rPr>
              <a:t>hấp</a:t>
            </a:r>
            <a:r>
              <a:rPr lang="en-US" sz="2000" b="1" dirty="0">
                <a:latin typeface="+mn-lt"/>
                <a:cs typeface="Times New Roman" pitchFamily="18" charset="0"/>
              </a:rPr>
              <a:t> </a:t>
            </a:r>
            <a:r>
              <a:rPr lang="en-US" sz="2000" b="1" dirty="0" err="1">
                <a:latin typeface="+mn-lt"/>
                <a:cs typeface="Times New Roman" pitchFamily="18" charset="0"/>
              </a:rPr>
              <a:t>thu</a:t>
            </a:r>
            <a:r>
              <a:rPr lang="en-US" sz="2000" b="1" dirty="0">
                <a:latin typeface="+mn-lt"/>
                <a:cs typeface="Times New Roman" pitchFamily="18" charset="0"/>
              </a:rPr>
              <a:t>: 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2000" dirty="0"/>
              <a:t>	p </a:t>
            </a:r>
            <a:r>
              <a:rPr lang="en-US" sz="2000" dirty="0">
                <a:sym typeface="Symbol" pitchFamily="18" charset="2"/>
              </a:rPr>
              <a:t></a:t>
            </a:r>
            <a:r>
              <a:rPr lang="en-US" sz="2000" dirty="0"/>
              <a:t>(p </a:t>
            </a:r>
            <a:r>
              <a:rPr lang="en-US" sz="2000" dirty="0">
                <a:sym typeface="Symbol" pitchFamily="18" charset="2"/>
              </a:rPr>
              <a:t></a:t>
            </a:r>
            <a:r>
              <a:rPr lang="en-US" sz="2000" dirty="0"/>
              <a:t> q)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</a:t>
            </a:r>
            <a:r>
              <a:rPr lang="en-US" sz="2000" dirty="0"/>
              <a:t> p 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2000" dirty="0"/>
              <a:t>	p </a:t>
            </a:r>
            <a:r>
              <a:rPr lang="en-US" sz="2000" dirty="0">
                <a:sym typeface="Symbol" pitchFamily="18" charset="2"/>
              </a:rPr>
              <a:t></a:t>
            </a:r>
            <a:r>
              <a:rPr lang="en-US" sz="2000" dirty="0"/>
              <a:t> (p </a:t>
            </a:r>
            <a:r>
              <a:rPr lang="en-US" sz="2000" dirty="0">
                <a:sym typeface="Symbol" pitchFamily="18" charset="2"/>
              </a:rPr>
              <a:t></a:t>
            </a:r>
            <a:r>
              <a:rPr lang="en-US" sz="2000" dirty="0"/>
              <a:t> q) </a:t>
            </a:r>
            <a:r>
              <a:rPr lang="en-US" sz="2000" dirty="0">
                <a:cs typeface="Times New Roman" pitchFamily="18" charset="0"/>
                <a:sym typeface="Symbol" pitchFamily="18" charset="2"/>
              </a:rPr>
              <a:t></a:t>
            </a:r>
            <a:r>
              <a:rPr lang="en-US" sz="2000" dirty="0"/>
              <a:t> p</a:t>
            </a: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endParaRPr lang="en-US" sz="600" dirty="0">
              <a:latin typeface="+mn-lt"/>
              <a:sym typeface="Symbol" pitchFamily="18" charset="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C5E42B-ECA7-D404-0870-624C05657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63725"/>
            <a:ext cx="12192000" cy="550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04800"/>
            <a:ext cx="9067800" cy="762000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Các </a:t>
            </a:r>
            <a:r>
              <a:rPr lang="en-US" dirty="0" err="1">
                <a:solidFill>
                  <a:srgbClr val="0070C0"/>
                </a:solidFill>
              </a:rPr>
              <a:t>tương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đương</a:t>
            </a:r>
            <a:r>
              <a:rPr lang="en-US" dirty="0">
                <a:solidFill>
                  <a:srgbClr val="0070C0"/>
                </a:solidFill>
              </a:rPr>
              <a:t> logic</a:t>
            </a:r>
          </a:p>
        </p:txBody>
      </p:sp>
      <p:sp>
        <p:nvSpPr>
          <p:cNvPr id="34817" name="Rectangle 1"/>
          <p:cNvSpPr>
            <a:spLocks noChangeArrowheads="1"/>
          </p:cNvSpPr>
          <p:nvPr/>
        </p:nvSpPr>
        <p:spPr bwMode="auto">
          <a:xfrm>
            <a:off x="838200" y="1371600"/>
            <a:ext cx="8839200" cy="4630738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a) Modus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Ponens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Luật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khẳng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định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)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	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b) Modus Tollens (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Luật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phủ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định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)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	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q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c) Tam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đoạn</a:t>
            </a:r>
            <a:r>
              <a:rPr lang="fr-FR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fr-FR" sz="28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luận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	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(q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r)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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r)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</a:rPr>
              <a:t>d) 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  <a:sym typeface="Symbol" pitchFamily="18" charset="2"/>
              </a:rPr>
              <a:t>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</a:rPr>
              <a:t> 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  <a:sym typeface="Symbol" pitchFamily="18" charset="2"/>
              </a:rPr>
              <a:t>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  <a:sym typeface="Symbol" pitchFamily="18" charset="2"/>
              </a:rPr>
              <a:t>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Times New Roman" pitchFamily="18" charset="0"/>
              </a:rPr>
              <a:t> q)</a:t>
            </a:r>
            <a:endParaRPr lang="fr-FR" sz="2800" b="1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e)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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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(q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p) </a:t>
            </a:r>
          </a:p>
          <a:p>
            <a:pPr>
              <a:spcBef>
                <a:spcPct val="20000"/>
              </a:spcBef>
              <a:defRPr/>
            </a:pPr>
            <a:r>
              <a:rPr lang="fr-FR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f)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S Mincho" pitchFamily="49" charset="-128"/>
                <a:sym typeface="Symbol" pitchFamily="18" charset="2"/>
              </a:rPr>
              <a:t> q 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ea typeface="MS Mincho" pitchFamily="49" charset="-128"/>
              </a:rPr>
              <a:t> 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46667"/>
            <a:ext cx="8382000" cy="486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32094" y="266165"/>
            <a:ext cx="891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VD: CHỨNG MINH MỆNH ĐỀ HẰNG ĐÚNG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1" y="2447221"/>
            <a:ext cx="17427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1219201" y="1380421"/>
            <a:ext cx="781281" cy="1066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1924282" y="1990021"/>
            <a:ext cx="818918" cy="6477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15000" y="762000"/>
            <a:ext cx="111440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Phân phối</a:t>
            </a:r>
          </a:p>
        </p:txBody>
      </p:sp>
      <p:cxnSp>
        <p:nvCxnSpPr>
          <p:cNvPr id="12" name="Straight Arrow Connector 11"/>
          <p:cNvCxnSpPr>
            <a:endCxn id="11" idx="1"/>
          </p:cNvCxnSpPr>
          <p:nvPr/>
        </p:nvCxnSpPr>
        <p:spPr>
          <a:xfrm flipV="1">
            <a:off x="3048000" y="946666"/>
            <a:ext cx="2667000" cy="70048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179230" y="1113749"/>
            <a:ext cx="450170" cy="49527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24800" y="2218621"/>
            <a:ext cx="7383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PT bù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699716" y="1990021"/>
            <a:ext cx="225085" cy="3238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7010400" y="2447221"/>
            <a:ext cx="9144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99186" y="2816553"/>
            <a:ext cx="152400" cy="4688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924801" y="2816553"/>
            <a:ext cx="138595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PT trung hòa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6785316" y="2587953"/>
            <a:ext cx="1139485" cy="3238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629400" y="3050987"/>
            <a:ext cx="129540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24283" y="3818821"/>
            <a:ext cx="174278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Loại bỏ kéo theo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3162763" y="3121353"/>
            <a:ext cx="1609378" cy="6974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3142672" y="3864289"/>
            <a:ext cx="2056514" cy="3238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48601" y="3742621"/>
            <a:ext cx="92845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Kết hợp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6672772" y="3656889"/>
            <a:ext cx="1175828" cy="857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6672772" y="4003487"/>
            <a:ext cx="1222720" cy="8059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24419" y="5266621"/>
            <a:ext cx="738344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PT bù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3200400" y="5038021"/>
            <a:ext cx="2074986" cy="304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162763" y="5514285"/>
            <a:ext cx="1609378" cy="1216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105400" y="5952421"/>
            <a:ext cx="105028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Thống trị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5105400" y="5687285"/>
            <a:ext cx="246186" cy="26513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5980627" y="5575120"/>
            <a:ext cx="423689" cy="3634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82704" y="1502697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48198" y="1510763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08660" y="4111953"/>
            <a:ext cx="2564113" cy="3926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492866" y="4528758"/>
            <a:ext cx="1773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(          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388263-E8D7-D9C7-21A4-0F126E5E465D}"/>
              </a:ext>
            </a:extLst>
          </p:cNvPr>
          <p:cNvSpPr/>
          <p:nvPr/>
        </p:nvSpPr>
        <p:spPr>
          <a:xfrm>
            <a:off x="566054" y="987753"/>
            <a:ext cx="3182136" cy="523010"/>
          </a:xfrm>
          <a:prstGeom prst="rect">
            <a:avLst/>
          </a:prstGeom>
          <a:solidFill>
            <a:srgbClr val="FFFF00">
              <a:alpha val="1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58F12E-22CC-3D67-F472-0F020A5317A7}"/>
              </a:ext>
            </a:extLst>
          </p:cNvPr>
          <p:cNvSpPr/>
          <p:nvPr/>
        </p:nvSpPr>
        <p:spPr>
          <a:xfrm>
            <a:off x="6829408" y="2133600"/>
            <a:ext cx="333392" cy="50414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200312-A1EF-C9CE-AB46-0D854919695B}"/>
              </a:ext>
            </a:extLst>
          </p:cNvPr>
          <p:cNvSpPr/>
          <p:nvPr/>
        </p:nvSpPr>
        <p:spPr>
          <a:xfrm>
            <a:off x="4619608" y="5209169"/>
            <a:ext cx="333392" cy="504149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877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19363F-614A-4997-BC15-1751F6896B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303"/>
          <a:stretch/>
        </p:blipFill>
        <p:spPr>
          <a:xfrm>
            <a:off x="1366996" y="1276351"/>
            <a:ext cx="8890355" cy="838200"/>
          </a:xfrm>
          <a:prstGeom prst="rect">
            <a:avLst/>
          </a:prstGeom>
        </p:spPr>
      </p:pic>
      <p:sp>
        <p:nvSpPr>
          <p:cNvPr id="6155" name="TextBox 6154"/>
          <p:cNvSpPr txBox="1"/>
          <p:nvPr/>
        </p:nvSpPr>
        <p:spPr>
          <a:xfrm>
            <a:off x="0" y="276369"/>
            <a:ext cx="1127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VD: CHỨNG MINH MỆNH ĐỀ  TƯƠNG ĐƯƠNG LOGIC</a:t>
            </a:r>
          </a:p>
        </p:txBody>
      </p:sp>
      <p:sp>
        <p:nvSpPr>
          <p:cNvPr id="6156" name="Rectangle 6155"/>
          <p:cNvSpPr/>
          <p:nvPr/>
        </p:nvSpPr>
        <p:spPr>
          <a:xfrm>
            <a:off x="1366995" y="1200150"/>
            <a:ext cx="8763000" cy="914400"/>
          </a:xfrm>
          <a:prstGeom prst="rect">
            <a:avLst/>
          </a:prstGeom>
          <a:solidFill>
            <a:srgbClr val="FFFF00">
              <a:alpha val="19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57596" y="2606919"/>
            <a:ext cx="123848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 Morgan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052796" y="2606919"/>
            <a:ext cx="262251" cy="18466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795" y="2150819"/>
            <a:ext cx="75438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101" y="2647951"/>
            <a:ext cx="3093095" cy="436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7" name="Straight Arrow Connector 26"/>
          <p:cNvCxnSpPr/>
          <p:nvPr/>
        </p:nvCxnSpPr>
        <p:spPr>
          <a:xfrm flipV="1">
            <a:off x="3464951" y="2571750"/>
            <a:ext cx="2283545" cy="31216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32135" y="2150819"/>
            <a:ext cx="1019354" cy="1061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Phân phối </a:t>
            </a:r>
          </a:p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chiều </a:t>
            </a:r>
          </a:p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ngược lại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/>
          <p:cNvCxnSpPr>
            <a:endCxn id="29" idx="1"/>
          </p:cNvCxnSpPr>
          <p:nvPr/>
        </p:nvCxnSpPr>
        <p:spPr>
          <a:xfrm>
            <a:off x="6700995" y="2419351"/>
            <a:ext cx="2531140" cy="26238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6091395" y="2822179"/>
            <a:ext cx="3140740" cy="1540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909" y="3113870"/>
            <a:ext cx="2071687" cy="38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TextBox 34"/>
          <p:cNvSpPr txBox="1"/>
          <p:nvPr/>
        </p:nvSpPr>
        <p:spPr>
          <a:xfrm>
            <a:off x="1671796" y="3099989"/>
            <a:ext cx="2958097" cy="376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Kết hợp+phần tử bù+PT trung hòa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4643595" y="3024327"/>
            <a:ext cx="1868026" cy="602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4606723" y="3409951"/>
            <a:ext cx="646473" cy="514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411" y="3790950"/>
            <a:ext cx="575674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3975380" y="4141795"/>
            <a:ext cx="1019354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Hấp thu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3348195" y="4117219"/>
            <a:ext cx="533400" cy="17386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3077" y="4264428"/>
            <a:ext cx="3055208" cy="364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8" name="Straight Arrow Connector 47"/>
          <p:cNvCxnSpPr/>
          <p:nvPr/>
        </p:nvCxnSpPr>
        <p:spPr>
          <a:xfrm flipV="1">
            <a:off x="4745317" y="4117219"/>
            <a:ext cx="2031878" cy="2129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197605" y="3584205"/>
            <a:ext cx="1019354" cy="376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Phân phối 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V="1">
            <a:off x="7089179" y="3584205"/>
            <a:ext cx="1108427" cy="477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6700995" y="3961040"/>
            <a:ext cx="1524000" cy="36917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6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423" y="4688468"/>
            <a:ext cx="4641972" cy="397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" name="TextBox 54"/>
          <p:cNvSpPr txBox="1"/>
          <p:nvPr/>
        </p:nvSpPr>
        <p:spPr>
          <a:xfrm>
            <a:off x="8418427" y="4239040"/>
            <a:ext cx="1152457" cy="376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Phần tử bù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56" name="Straight Arrow Connector 55"/>
          <p:cNvCxnSpPr>
            <a:cxnSpLocks/>
          </p:cNvCxnSpPr>
          <p:nvPr/>
        </p:nvCxnSpPr>
        <p:spPr>
          <a:xfrm>
            <a:off x="7620000" y="4405088"/>
            <a:ext cx="83359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>
            <a:off x="7199409" y="4573712"/>
            <a:ext cx="1330386" cy="2078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049899" y="5248839"/>
            <a:ext cx="1357333" cy="3768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solidFill>
                  <a:srgbClr val="FF0000"/>
                </a:solidFill>
              </a:rPr>
              <a:t>PT trung hòa</a:t>
            </a:r>
            <a:endParaRPr lang="en-US" b="1">
              <a:solidFill>
                <a:srgbClr val="FF0000"/>
              </a:solidFill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 flipH="1" flipV="1">
            <a:off x="8166104" y="5010151"/>
            <a:ext cx="126160" cy="26636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endCxn id="62" idx="1"/>
          </p:cNvCxnSpPr>
          <p:nvPr/>
        </p:nvCxnSpPr>
        <p:spPr>
          <a:xfrm>
            <a:off x="6654576" y="5096440"/>
            <a:ext cx="1395323" cy="3408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82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20600"/>
            <a:ext cx="6771938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55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9" grpId="0" animBg="1"/>
      <p:bldP spid="35" grpId="0" animBg="1"/>
      <p:bldP spid="42" grpId="0"/>
      <p:bldP spid="49" grpId="0" animBg="1"/>
      <p:bldP spid="55" grpId="0" animBg="1"/>
      <p:bldP spid="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8229600" cy="7588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Khái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niệm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5984"/>
            <a:ext cx="11049000" cy="4567615"/>
          </a:xfrm>
        </p:spPr>
        <p:txBody>
          <a:bodyPr>
            <a:noAutofit/>
          </a:bodyPr>
          <a:lstStyle/>
          <a:p>
            <a:pPr marL="457200" indent="-457200" algn="just" eaLnBrk="1" hangingPunct="1">
              <a:buFontTx/>
              <a:buAutoNum type="arabicPeriod"/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phát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chân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Thường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bởi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p, q,…(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algn="just" eaLnBrk="1" hangingPunct="1">
              <a:buFontTx/>
              <a:buAutoNum type="arabicPeriod"/>
            </a:pP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tử (Literal):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(CNF – Conjunctive Normal Form):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(p</a:t>
            </a:r>
            <a:r>
              <a:rPr lang="en-US" sz="3200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 p</a:t>
            </a:r>
            <a:r>
              <a:rPr lang="en-US" sz="3200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… p</a:t>
            </a:r>
            <a:r>
              <a:rPr lang="en-US" sz="3200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trong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đó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p</a:t>
            </a:r>
            <a:r>
              <a:rPr lang="en-US" sz="3200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đơn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tử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</a:t>
            </a:r>
          </a:p>
          <a:p>
            <a:pPr marL="0" indent="0" algn="just">
              <a:buNone/>
            </a:pP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4.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Hợp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giải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chỉ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việc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trên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phát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mệnh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đề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có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32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dạng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CNF. </a:t>
            </a:r>
            <a:endParaRPr lang="en-US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rabicPeriod"/>
            </a:pPr>
            <a:endParaRPr lang="en-US" sz="32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33448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Qui </a:t>
            </a:r>
            <a:r>
              <a:rPr lang="en-US" dirty="0" err="1">
                <a:solidFill>
                  <a:srgbClr val="0070C0"/>
                </a:solidFill>
              </a:rPr>
              <a:t>trình</a:t>
            </a:r>
            <a:r>
              <a:rPr lang="en-US" dirty="0">
                <a:solidFill>
                  <a:srgbClr val="0070C0"/>
                </a:solidFill>
              </a:rPr>
              <a:t> INDO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068473"/>
            <a:ext cx="9296400" cy="5108574"/>
          </a:xfrm>
        </p:spPr>
        <p:txBody>
          <a:bodyPr>
            <a:normAutofit/>
          </a:bodyPr>
          <a:lstStyle/>
          <a:p>
            <a:pPr marL="0" indent="0" algn="just" eaLnBrk="1" hangingPunct="1">
              <a:spcAft>
                <a:spcPts val="1200"/>
              </a:spcAft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Quy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INDO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I, N, D, O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giúp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bất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514350" indent="-514350" algn="just" eaLnBrk="1" hangingPunct="1">
              <a:buFont typeface="Wingdings" pitchFamily="2" charset="2"/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 – Implication out: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phép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kéo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theo.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tương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đương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logic  </a:t>
            </a:r>
          </a:p>
          <a:p>
            <a:pPr marL="0" indent="0" algn="ctr" eaLnBrk="1" hangingPunct="1">
              <a:buNone/>
            </a:pP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(p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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1313" indent="-341313" algn="just" eaLnBrk="1" hangingPunct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2. N – Negative in: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sâu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De Morgan.</a:t>
            </a:r>
          </a:p>
          <a:p>
            <a:pPr marL="341313" indent="-341313" eaLnBrk="1" hangingPunct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3. D – Disjunctions out: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dùng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luật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phân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phối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đưa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dấu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tuyển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()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sâu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hơn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dấu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hội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).</a:t>
            </a:r>
          </a:p>
          <a:p>
            <a:pPr marL="341313" indent="-341313" eaLnBrk="1" hangingPunct="1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4. O – Operator out: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loại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bỏ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hội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).</a:t>
            </a:r>
          </a:p>
          <a:p>
            <a:pPr marL="341313" indent="-341313" algn="just" eaLnBrk="1" hangingPunct="1">
              <a:buNone/>
            </a:pPr>
            <a:endParaRPr lang="en-US" dirty="0">
              <a:solidFill>
                <a:srgbClr val="66CCFF"/>
              </a:solidFill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83386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về</a:t>
            </a:r>
            <a:r>
              <a:rPr lang="en-US" dirty="0">
                <a:solidFill>
                  <a:srgbClr val="0070C0"/>
                </a:solidFill>
              </a:rPr>
              <a:t> qui </a:t>
            </a:r>
            <a:r>
              <a:rPr lang="en-US" dirty="0" err="1">
                <a:solidFill>
                  <a:srgbClr val="0070C0"/>
                </a:solidFill>
              </a:rPr>
              <a:t>trình</a:t>
            </a:r>
            <a:r>
              <a:rPr lang="en-US" dirty="0">
                <a:solidFill>
                  <a:srgbClr val="0070C0"/>
                </a:solidFill>
              </a:rPr>
              <a:t> INDO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3176336"/>
            <a:ext cx="9601200" cy="2590800"/>
          </a:xfrm>
        </p:spPr>
        <p:txBody>
          <a:bodyPr>
            <a:normAutofit/>
          </a:bodyPr>
          <a:lstStyle/>
          <a:p>
            <a:pPr marL="341313" indent="-341313" eaLnBrk="1" hangingPunct="1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[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r)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t)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]</a:t>
            </a:r>
            <a:r>
              <a:rPr lang="en-US" sz="2800" dirty="0">
                <a:latin typeface="Times New Roman" pitchFamily="18" charset="0"/>
              </a:rPr>
              <a:t>	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//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Loại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bỏ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phép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kéo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theo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marL="341313" indent="-341313" eaLnBrk="1" hangingPunct="1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 [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r)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 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t)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]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//De Morgan</a:t>
            </a:r>
          </a:p>
          <a:p>
            <a:pPr marL="341313" indent="-341313" eaLnBrk="1" hangingPunct="1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(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 [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r)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(r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t)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]	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//De Morgan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341313" indent="-341313" eaLnBrk="1" hangingPunct="1"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q)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r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			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//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Bỏ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ngoặc</a:t>
            </a:r>
            <a:endParaRPr lang="en-US" sz="28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marL="341313" indent="-341313" eaLnBrk="1" hangingPunct="1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O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: {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q, q,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r, r,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t}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55096-C73E-4E5C-A354-F2EB5112AB5F}"/>
              </a:ext>
            </a:extLst>
          </p:cNvPr>
          <p:cNvSpPr/>
          <p:nvPr/>
        </p:nvSpPr>
        <p:spPr>
          <a:xfrm>
            <a:off x="1600200" y="1090864"/>
            <a:ext cx="7543800" cy="129857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1313" indent="-341313" algn="ctr"/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1313" indent="-341313"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q)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 [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(q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r)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(r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t)]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F613A-D89E-B51D-79ED-A607C4380D1B}"/>
              </a:ext>
            </a:extLst>
          </p:cNvPr>
          <p:cNvSpPr txBox="1"/>
          <p:nvPr/>
        </p:nvSpPr>
        <p:spPr>
          <a:xfrm>
            <a:off x="9144000" y="3739163"/>
            <a:ext cx="2600826" cy="732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(p </a:t>
            </a:r>
            <a:r>
              <a:rPr lang="en-US" sz="18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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q)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p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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q</a:t>
            </a:r>
            <a:endParaRPr lang="fr-FR" sz="1800" dirty="0">
              <a:highlight>
                <a:srgbClr val="FFFF00"/>
              </a:highlight>
              <a:latin typeface="+mn-lt"/>
              <a:cs typeface="Times New Roman" pitchFamily="18" charset="0"/>
              <a:sym typeface="Symbol" pitchFamily="18" charset="2"/>
            </a:endParaRPr>
          </a:p>
          <a:p>
            <a:pPr marL="342900" indent="-342900" eaLnBrk="0" hangingPunct="0">
              <a:lnSpc>
                <a:spcPct val="120000"/>
              </a:lnSpc>
              <a:tabLst>
                <a:tab pos="685800" algn="l"/>
              </a:tabLst>
              <a:defRPr/>
            </a:pP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(p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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 q)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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p </a:t>
            </a:r>
            <a:r>
              <a:rPr lang="en-US" sz="1800" dirty="0">
                <a:highlight>
                  <a:srgbClr val="FFFF00"/>
                </a:highlight>
                <a:latin typeface="+mn-lt"/>
                <a:sym typeface="Symbol" pitchFamily="18" charset="2"/>
              </a:rPr>
              <a:t>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 </a:t>
            </a:r>
            <a:r>
              <a:rPr lang="en-US" sz="1800" dirty="0">
                <a:highlight>
                  <a:srgbClr val="FFFF00"/>
                </a:highlight>
                <a:latin typeface="+mn-lt"/>
                <a:cs typeface="Times New Roman" pitchFamily="18" charset="0"/>
                <a:sym typeface="Symbol" pitchFamily="18" charset="2"/>
              </a:rPr>
              <a:t></a:t>
            </a:r>
            <a:r>
              <a:rPr lang="fr-FR" sz="1800" dirty="0">
                <a:highlight>
                  <a:srgbClr val="FFFF00"/>
                </a:highlight>
                <a:latin typeface="+mn-lt"/>
                <a:cs typeface="Times New Roman" pitchFamily="18" charset="0"/>
              </a:rPr>
              <a:t>q</a:t>
            </a:r>
            <a:r>
              <a:rPr lang="en-US" sz="1800" dirty="0">
                <a:highlight>
                  <a:srgbClr val="FFFF00"/>
                </a:highlight>
                <a:latin typeface="+mn-lt"/>
                <a:sym typeface="Symbol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36671" y="2514600"/>
            <a:ext cx="10461458" cy="3697287"/>
          </a:xfrm>
        </p:spPr>
        <p:txBody>
          <a:bodyPr>
            <a:normAutofit/>
          </a:bodyPr>
          <a:lstStyle/>
          <a:p>
            <a:pPr marL="341313" indent="-341313" eaLnBrk="1" hangingPunct="1">
              <a:buNone/>
            </a:pP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1400" b="1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I: </a:t>
            </a:r>
            <a:r>
              <a:rPr lang="en-US" sz="2800" dirty="0">
                <a:sym typeface="Symbol" pitchFamily="18" charset="2"/>
              </a:rPr>
              <a:t>[</a:t>
            </a:r>
            <a:r>
              <a:rPr lang="en-US" sz="2800" dirty="0">
                <a:cs typeface="Times New Roman" pitchFamily="18" charset="0"/>
              </a:rPr>
              <a:t>(p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</a:rPr>
              <a:t>q) </a:t>
            </a:r>
            <a:r>
              <a:rPr lang="en-US" sz="2800" dirty="0">
                <a:sym typeface="Symbol" pitchFamily="18" charset="2"/>
              </a:rPr>
              <a:t> r]  [(p  r  t)  (r  q)]</a:t>
            </a:r>
          </a:p>
          <a:p>
            <a:pPr marL="341313" indent="-341313" eaLnBrk="1" hangingPunct="1">
              <a:buNone/>
            </a:pP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N: </a:t>
            </a:r>
            <a:r>
              <a:rPr lang="en-US" sz="2800" dirty="0">
                <a:sym typeface="Symbol" pitchFamily="18" charset="2"/>
              </a:rPr>
              <a:t>(p  q  r)  </a:t>
            </a:r>
            <a:r>
              <a:rPr lang="en-US" sz="2800" b="1" dirty="0">
                <a:sym typeface="Symbol" pitchFamily="18" charset="2"/>
              </a:rPr>
              <a:t>[(p  r  t)  (r  q)]</a:t>
            </a:r>
            <a:endParaRPr lang="en-US" sz="2800" i="1" dirty="0">
              <a:solidFill>
                <a:srgbClr val="00B0F0"/>
              </a:solidFill>
              <a:sym typeface="Symbol" pitchFamily="18" charset="2"/>
            </a:endParaRPr>
          </a:p>
          <a:p>
            <a:pPr marL="341313" indent="-341313" eaLnBrk="1" hangingPunct="1">
              <a:buNone/>
            </a:pP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D: </a:t>
            </a:r>
            <a:r>
              <a:rPr lang="en-US" sz="2800" dirty="0">
                <a:sym typeface="Symbol" pitchFamily="18" charset="2"/>
              </a:rPr>
              <a:t>(p  q  r)  </a:t>
            </a:r>
            <a:r>
              <a:rPr lang="en-US" sz="2800" b="1" dirty="0">
                <a:sym typeface="Symbol" pitchFamily="18" charset="2"/>
              </a:rPr>
              <a:t>(p  r)  (p  q)  (r  r)  (r  q)  (t  r)  (t  q)		     </a:t>
            </a:r>
            <a:r>
              <a:rPr lang="en-US" sz="2800" i="1" dirty="0">
                <a:solidFill>
                  <a:srgbClr val="00B0F0"/>
                </a:solidFill>
                <a:sym typeface="Symbol" pitchFamily="18" charset="2"/>
              </a:rPr>
              <a:t>//</a:t>
            </a:r>
            <a:r>
              <a:rPr lang="en-US" sz="2800" i="1" dirty="0" err="1">
                <a:solidFill>
                  <a:srgbClr val="00B0F0"/>
                </a:solidFill>
                <a:sym typeface="Symbol" pitchFamily="18" charset="2"/>
              </a:rPr>
              <a:t>luật</a:t>
            </a:r>
            <a:r>
              <a:rPr lang="en-US" sz="2800" i="1" dirty="0">
                <a:solidFill>
                  <a:srgbClr val="00B0F0"/>
                </a:solidFill>
                <a:sym typeface="Symbol" pitchFamily="18" charset="2"/>
              </a:rPr>
              <a:t> </a:t>
            </a:r>
            <a:r>
              <a:rPr lang="en-US" sz="2800" i="1" dirty="0" err="1">
                <a:solidFill>
                  <a:srgbClr val="00B0F0"/>
                </a:solidFill>
                <a:sym typeface="Symbol" pitchFamily="18" charset="2"/>
              </a:rPr>
              <a:t>phân</a:t>
            </a:r>
            <a:r>
              <a:rPr lang="en-US" sz="2800" i="1" dirty="0">
                <a:solidFill>
                  <a:srgbClr val="00B0F0"/>
                </a:solidFill>
                <a:sym typeface="Symbol" pitchFamily="18" charset="2"/>
              </a:rPr>
              <a:t> </a:t>
            </a:r>
            <a:r>
              <a:rPr lang="en-US" sz="2800" i="1" dirty="0" err="1">
                <a:solidFill>
                  <a:srgbClr val="00B0F0"/>
                </a:solidFill>
                <a:sym typeface="Symbol" pitchFamily="18" charset="2"/>
              </a:rPr>
              <a:t>phối</a:t>
            </a:r>
            <a:endParaRPr lang="en-US" sz="2800" i="1" dirty="0">
              <a:solidFill>
                <a:srgbClr val="00B0F0"/>
              </a:solidFill>
              <a:sym typeface="Symbol" pitchFamily="18" charset="2"/>
            </a:endParaRPr>
          </a:p>
          <a:p>
            <a:pPr marL="341313" indent="-341313" eaLnBrk="1" hangingPunct="1">
              <a:buNone/>
            </a:pP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O: </a:t>
            </a:r>
            <a:r>
              <a:rPr lang="en-US" b="1" dirty="0">
                <a:highlight>
                  <a:srgbClr val="FFFF00"/>
                </a:highlight>
                <a:sym typeface="Symbol" pitchFamily="18" charset="2"/>
              </a:rPr>
              <a:t>{p  q  r, p  r, p  q, r  r, r  q, t  r, t  q}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02758" name="Rectangle 2"/>
          <p:cNvSpPr>
            <a:spLocks noChangeArrowheads="1"/>
          </p:cNvSpPr>
          <p:nvPr/>
        </p:nvSpPr>
        <p:spPr bwMode="auto">
          <a:xfrm>
            <a:off x="457200" y="157666"/>
            <a:ext cx="70866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Ví</a:t>
            </a:r>
            <a:r>
              <a:rPr lang="en-US" sz="44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lang="en-US" sz="44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dụ</a:t>
            </a:r>
            <a:r>
              <a:rPr lang="en-US" sz="44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2 </a:t>
            </a:r>
            <a:r>
              <a:rPr lang="en-US" sz="44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về</a:t>
            </a:r>
            <a:r>
              <a:rPr lang="en-US" sz="44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qui </a:t>
            </a:r>
            <a:r>
              <a:rPr lang="en-US" sz="44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trình</a:t>
            </a:r>
            <a:r>
              <a:rPr lang="en-US" sz="44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INDO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D10DE3-78EB-4F86-BDB6-531422EB5B4F}"/>
              </a:ext>
            </a:extLst>
          </p:cNvPr>
          <p:cNvSpPr/>
          <p:nvPr/>
        </p:nvSpPr>
        <p:spPr>
          <a:xfrm>
            <a:off x="1638300" y="992691"/>
            <a:ext cx="8458200" cy="12954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1313" indent="-341313" algn="ctr"/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Chuyển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phát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biểu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sau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về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dạng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tuyển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cs typeface="Times New Roman" pitchFamily="18" charset="0"/>
              </a:rPr>
              <a:t>chuẩn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</a:rPr>
              <a:t> </a:t>
            </a:r>
          </a:p>
          <a:p>
            <a:pPr marL="341313" indent="-341313" algn="ctr"/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(p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q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2800" b="1" dirty="0">
                <a:solidFill>
                  <a:srgbClr val="FF0000"/>
                </a:solidFill>
              </a:rPr>
              <a:t> r)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 [</a:t>
            </a:r>
            <a:r>
              <a:rPr lang="en-US" sz="2800" b="1" dirty="0">
                <a:solidFill>
                  <a:srgbClr val="FF0000"/>
                </a:solidFill>
              </a:rPr>
              <a:t>(p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2800" b="1" dirty="0">
                <a:solidFill>
                  <a:srgbClr val="FF0000"/>
                </a:solidFill>
              </a:rPr>
              <a:t> r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 t</a:t>
            </a:r>
            <a:r>
              <a:rPr lang="en-US" sz="2800" b="1" dirty="0">
                <a:solidFill>
                  <a:srgbClr val="FF0000"/>
                </a:solidFill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 </a:t>
            </a:r>
            <a:r>
              <a:rPr lang="en-US" sz="2800" b="1" dirty="0">
                <a:solidFill>
                  <a:srgbClr val="FF0000"/>
                </a:solidFill>
              </a:rPr>
              <a:t>(r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2800" b="1" dirty="0">
                <a:solidFill>
                  <a:srgbClr val="FF0000"/>
                </a:solidFill>
              </a:rPr>
              <a:t> q)]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57843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Qui </a:t>
            </a:r>
            <a:r>
              <a:rPr lang="en-US" dirty="0" err="1">
                <a:solidFill>
                  <a:srgbClr val="0070C0"/>
                </a:solidFill>
              </a:rPr>
              <a:t>tắc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676400"/>
            <a:ext cx="10134600" cy="3733800"/>
          </a:xfrm>
        </p:spPr>
        <p:txBody>
          <a:bodyPr/>
          <a:lstStyle/>
          <a:p>
            <a:pPr marL="3175" indent="6350" algn="just" eaLnBrk="1" hangingPunct="1">
              <a:spcBef>
                <a:spcPct val="0"/>
              </a:spcBef>
              <a:buNone/>
              <a:tabLst>
                <a:tab pos="2286000" algn="l"/>
              </a:tabLst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	  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p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q</a:t>
            </a:r>
          </a:p>
          <a:p>
            <a:pPr marL="3175" indent="6350" algn="just" eaLnBrk="1" hangingPunct="1">
              <a:spcBef>
                <a:spcPct val="0"/>
              </a:spcBef>
              <a:buNone/>
              <a:tabLst>
                <a:tab pos="2286000" algn="l"/>
              </a:tabLst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q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r</a:t>
            </a:r>
          </a:p>
          <a:p>
            <a:pPr marL="3175" indent="6350" algn="just" eaLnBrk="1" hangingPunct="1">
              <a:spcBef>
                <a:spcPct val="0"/>
              </a:spcBef>
              <a:buNone/>
              <a:tabLst>
                <a:tab pos="2286000" algn="l"/>
              </a:tabLst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	-----------</a:t>
            </a:r>
          </a:p>
          <a:p>
            <a:pPr marL="2286000" lvl="1" indent="0" algn="just" eaLnBrk="1" hangingPunct="1">
              <a:spcBef>
                <a:spcPct val="0"/>
              </a:spcBef>
              <a:buFont typeface="Symbol" pitchFamily="18" charset="2"/>
              <a:buChar char="\"/>
              <a:tabLst>
                <a:tab pos="2286000" algn="l"/>
              </a:tabLst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r</a:t>
            </a:r>
          </a:p>
          <a:p>
            <a:pPr marL="2286000" lvl="1" indent="0" algn="just" eaLnBrk="1" hangingPunct="1">
              <a:spcBef>
                <a:spcPct val="0"/>
              </a:spcBef>
              <a:buFont typeface="Symbol" pitchFamily="18" charset="2"/>
              <a:buChar char="\"/>
              <a:tabLst>
                <a:tab pos="2286000" algn="l"/>
              </a:tabLst>
            </a:pPr>
            <a:endParaRPr lang="en-US" sz="26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</a:endParaRPr>
          </a:p>
          <a:p>
            <a:pPr marL="3175" indent="6350" algn="just" eaLnBrk="1" hangingPunct="1">
              <a:spcBef>
                <a:spcPct val="0"/>
              </a:spcBef>
              <a:buNone/>
              <a:tabLst>
                <a:tab pos="2286000" algn="l"/>
              </a:tabLst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muốn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..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 Q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đúng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ta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chứng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minh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..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baseline="-250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Q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sai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! </a:t>
            </a:r>
          </a:p>
          <a:p>
            <a:pPr marL="3175" indent="6350" algn="just" eaLnBrk="1" hangingPunct="1">
              <a:spcBef>
                <a:spcPct val="0"/>
              </a:spcBef>
              <a:buNone/>
              <a:tabLst>
                <a:tab pos="2286000" algn="l"/>
              </a:tabLst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Nghĩa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thêm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Q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vế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của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sẽ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tạo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mâu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thuẫn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798E82-B968-407E-80FA-3BA13E00E4FC}"/>
              </a:ext>
            </a:extLst>
          </p:cNvPr>
          <p:cNvSpPr/>
          <p:nvPr/>
        </p:nvSpPr>
        <p:spPr>
          <a:xfrm>
            <a:off x="2971800" y="1384467"/>
            <a:ext cx="1752600" cy="1981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toán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33475"/>
            <a:ext cx="11201400" cy="4953000"/>
          </a:xfrm>
        </p:spPr>
        <p:txBody>
          <a:bodyPr/>
          <a:lstStyle/>
          <a:p>
            <a:pPr marL="514350" indent="-514350" algn="just" eaLnBrk="1" hangingPunct="1">
              <a:buFontTx/>
              <a:buAutoNum type="arabi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vế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Danh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sách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 (Knowledge Base).</a:t>
            </a:r>
          </a:p>
          <a:p>
            <a:pPr marL="514350" indent="-514350" algn="just">
              <a:buFontTx/>
              <a:buAutoNum type="arabi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CNF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 algn="just" eaLnBrk="1" hangingPunct="1">
              <a:buFontTx/>
              <a:buAutoNum type="arabi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Lặp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qui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tắc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hợp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endParaRPr lang="en-US" sz="27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1" indent="-514350" algn="just" eaLnBrk="1" hangingPunct="1">
              <a:buFontTx/>
              <a:buAutoNum type="alphaL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chẳng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p,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(True).</a:t>
            </a:r>
          </a:p>
          <a:p>
            <a:pPr marL="914400" lvl="1" indent="-514350" algn="just" eaLnBrk="1" hangingPunct="1">
              <a:buFontTx/>
              <a:buAutoNum type="alphaL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tử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Vd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sz="2700" b="1" dirty="0" err="1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qui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tắc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hợp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14350" indent="-514350" algn="just" eaLnBrk="1" hangingPunct="1">
              <a:buFontTx/>
              <a:buAutoNum type="arabicPeriod"/>
            </a:pP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thất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bại</a:t>
            </a:r>
            <a:r>
              <a:rPr lang="en-US" sz="27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(False)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38DFA1-46E5-D5C5-8BBB-927783F92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2525"/>
            <a:ext cx="12192000" cy="550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152875"/>
            <a:ext cx="8229600" cy="7588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51284" y="2594450"/>
            <a:ext cx="9721516" cy="3049084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[(p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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q)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(q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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r)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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 )]</a:t>
            </a:r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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t)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{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q,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r,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t, p 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</a:t>
            </a:r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}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b) Ta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thấy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2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mệnh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q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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q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q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mâu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thuẫn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nhau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áp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dụng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qui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tắc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hợp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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p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đưa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tập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hợp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như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sau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vi-VN" dirty="0">
                <a:solidFill>
                  <a:srgbClr val="66CCFF"/>
                </a:solidFill>
              </a:rPr>
              <a:t>{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rgbClr val="FF0000"/>
                </a:solidFill>
              </a:rPr>
              <a:t>p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rgbClr val="FF0000"/>
                </a:solidFill>
              </a:rPr>
              <a:t> q,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rgbClr val="FF0000"/>
                </a:solidFill>
              </a:rPr>
              <a:t>q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rgbClr val="FF0000"/>
                </a:solidFill>
              </a:rPr>
              <a:t> r</a:t>
            </a:r>
            <a:r>
              <a:rPr lang="en-US" dirty="0">
                <a:solidFill>
                  <a:srgbClr val="66CCFF"/>
                </a:solidFill>
              </a:rPr>
              <a:t>, 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rgbClr val="66CCFF"/>
                </a:solidFill>
              </a:rPr>
              <a:t>r 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dirty="0">
                <a:solidFill>
                  <a:srgbClr val="66CCFF"/>
                </a:solidFill>
              </a:rPr>
              <a:t> t, p , 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dirty="0">
                <a:solidFill>
                  <a:srgbClr val="66CCFF"/>
                </a:solidFill>
              </a:rPr>
              <a:t>t,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  <a:sym typeface="Symbol" pitchFamily="18" charset="2"/>
              </a:rPr>
              <a:t>p  </a:t>
            </a:r>
            <a:r>
              <a:rPr lang="en-US" b="1" dirty="0">
                <a:solidFill>
                  <a:srgbClr val="00B050"/>
                </a:solidFill>
                <a:highlight>
                  <a:srgbClr val="FFFF00"/>
                </a:highlight>
              </a:rPr>
              <a:t>r</a:t>
            </a:r>
            <a:r>
              <a:rPr lang="vi-VN" dirty="0">
                <a:solidFill>
                  <a:srgbClr val="66CCFF"/>
                </a:solidFill>
              </a:rPr>
              <a:t>}</a:t>
            </a:r>
            <a:endParaRPr lang="en-US" dirty="0">
              <a:solidFill>
                <a:srgbClr val="66CCFF"/>
              </a:solidFill>
              <a:sym typeface="Symbol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7D3DD-B8F7-4BC5-99EF-5A113D85012B}"/>
              </a:ext>
            </a:extLst>
          </p:cNvPr>
          <p:cNvSpPr txBox="1"/>
          <p:nvPr/>
        </p:nvSpPr>
        <p:spPr>
          <a:xfrm>
            <a:off x="1905000" y="1214466"/>
            <a:ext cx="7239000" cy="1077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3200" dirty="0">
                <a:solidFill>
                  <a:srgbClr val="FF0000"/>
                </a:solidFill>
              </a:rPr>
              <a:t>Cho </a:t>
            </a:r>
            <a:r>
              <a:rPr lang="en-US" sz="3200" dirty="0" err="1">
                <a:solidFill>
                  <a:srgbClr val="FF0000"/>
                </a:solidFill>
              </a:rPr>
              <a:t>biết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suy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luận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sau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đúng</a:t>
            </a:r>
            <a:r>
              <a:rPr lang="en-US" sz="3200" dirty="0">
                <a:solidFill>
                  <a:srgbClr val="FF0000"/>
                </a:solidFill>
              </a:rPr>
              <a:t> hay </a:t>
            </a:r>
            <a:r>
              <a:rPr lang="en-US" sz="3200" dirty="0" err="1">
                <a:solidFill>
                  <a:srgbClr val="FF0000"/>
                </a:solidFill>
              </a:rPr>
              <a:t>sai</a:t>
            </a:r>
            <a:r>
              <a:rPr lang="en-US" sz="3200" dirty="0">
                <a:solidFill>
                  <a:srgbClr val="FF0000"/>
                </a:solidFill>
              </a:rPr>
              <a:t>?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3200" b="1" dirty="0">
                <a:solidFill>
                  <a:srgbClr val="FF0000"/>
                </a:solidFill>
              </a:rPr>
              <a:t>[(p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q)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3200" b="1" dirty="0">
                <a:solidFill>
                  <a:srgbClr val="FF0000"/>
                </a:solidFill>
              </a:rPr>
              <a:t> (q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r)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3200" b="1" dirty="0">
                <a:solidFill>
                  <a:srgbClr val="FF0000"/>
                </a:solidFill>
              </a:rPr>
              <a:t> (r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t )]</a:t>
            </a:r>
            <a:r>
              <a:rPr lang="vi-VN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(p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152400"/>
            <a:ext cx="8229600" cy="7588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 (2)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95400"/>
            <a:ext cx="10515600" cy="44958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66CCFF"/>
                </a:solidFill>
              </a:rPr>
              <a:t>b) </a:t>
            </a: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p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q</a:t>
            </a:r>
            <a:r>
              <a:rPr lang="en-US" sz="2800" dirty="0">
                <a:solidFill>
                  <a:srgbClr val="66CCFF"/>
                </a:solidFill>
              </a:rPr>
              <a:t>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q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r,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r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t,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  <a:endParaRPr lang="en-US" sz="2800" dirty="0">
              <a:solidFill>
                <a:srgbClr val="66CCFF"/>
              </a:solidFill>
            </a:endParaRP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p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q,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q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r,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r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t,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r, </a:t>
            </a:r>
            <a:r>
              <a:rPr lang="en-US" sz="2800" b="1" dirty="0">
                <a:solidFill>
                  <a:srgbClr val="00B050"/>
                </a:solidFill>
              </a:rPr>
              <a:t>q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2800" dirty="0">
              <a:solidFill>
                <a:srgbClr val="66CCFF"/>
              </a:solidFill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>
                <a:solidFill>
                  <a:srgbClr val="66CCFF"/>
                </a:solidFill>
              </a:rPr>
              <a:t>b) </a:t>
            </a: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p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q,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q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r</a:t>
            </a:r>
            <a:r>
              <a:rPr lang="en-US" sz="2800" dirty="0">
                <a:solidFill>
                  <a:srgbClr val="66CCFF"/>
                </a:solidFill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r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t</a:t>
            </a:r>
            <a:r>
              <a:rPr lang="en-US" sz="2800" dirty="0">
                <a:solidFill>
                  <a:srgbClr val="66CCFF"/>
                </a:solidFill>
              </a:rPr>
              <a:t>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r, q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  <a:endParaRPr lang="en-US" sz="2800" dirty="0">
              <a:solidFill>
                <a:srgbClr val="66CCFF"/>
              </a:solidFill>
            </a:endParaRP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p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q,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q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r,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r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t,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r, q,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q  t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endParaRPr lang="en-US" sz="2800" dirty="0">
              <a:solidFill>
                <a:srgbClr val="66CCFF"/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2800" b="1" dirty="0">
                <a:solidFill>
                  <a:srgbClr val="66CCFF"/>
                </a:solidFill>
              </a:rPr>
              <a:t>b)</a:t>
            </a: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p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q,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q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r,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r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t,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r,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q,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q  t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  <a:endParaRPr lang="en-US" sz="2800" dirty="0">
              <a:solidFill>
                <a:srgbClr val="66CCFF"/>
              </a:solidFill>
            </a:endParaRP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dirty="0">
                <a:solidFill>
                  <a:srgbClr val="66CCFF"/>
                </a:solidFill>
              </a:rPr>
              <a:t>{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p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q,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q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r,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r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</a:rPr>
              <a:t> t, p 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</a:rPr>
              <a:t>t,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</a:rPr>
              <a:t>r, q, </a:t>
            </a:r>
            <a:r>
              <a:rPr lang="en-US" sz="2800" dirty="0">
                <a:solidFill>
                  <a:srgbClr val="66CCFF"/>
                </a:solidFill>
                <a:sym typeface="Symbol" pitchFamily="18" charset="2"/>
              </a:rPr>
              <a:t>q  t,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t</a:t>
            </a:r>
            <a:r>
              <a:rPr lang="vi-VN" sz="2800" dirty="0">
                <a:solidFill>
                  <a:srgbClr val="66CCFF"/>
                </a:solidFill>
              </a:rPr>
              <a:t>}</a:t>
            </a:r>
          </a:p>
          <a:p>
            <a:pPr marL="0" indent="0" eaLnBrk="1" hangingPunct="1">
              <a:spcBef>
                <a:spcPct val="0"/>
              </a:spcBef>
              <a:buNone/>
            </a:pPr>
            <a:endParaRPr lang="en-US" sz="2800" dirty="0">
              <a:solidFill>
                <a:srgbClr val="66CCFF"/>
              </a:solidFill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b="1" dirty="0">
                <a:solidFill>
                  <a:srgbClr val="66CCFF"/>
                </a:solidFill>
                <a:highlight>
                  <a:srgbClr val="FFFF00"/>
                </a:highlight>
              </a:rPr>
              <a:t>a</a:t>
            </a:r>
            <a:r>
              <a:rPr lang="en-US" sz="2800" b="1" dirty="0">
                <a:solidFill>
                  <a:srgbClr val="66CCFF"/>
                </a:solidFill>
                <a:highlight>
                  <a:srgbClr val="FFFF00"/>
                </a:highlight>
              </a:rPr>
              <a:t>)</a:t>
            </a:r>
            <a:r>
              <a:rPr lang="vi-VN" sz="2800" dirty="0">
                <a:solidFill>
                  <a:srgbClr val="66CCFF"/>
                </a:solidFill>
                <a:highlight>
                  <a:srgbClr val="FFFF00"/>
                </a:highlight>
              </a:rPr>
              <a:t>{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p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 q,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q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 r,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r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 t, p , </a:t>
            </a:r>
            <a:r>
              <a:rPr lang="en-US" sz="2800" b="1" dirty="0">
                <a:solidFill>
                  <a:srgbClr val="405FFF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405FFF"/>
                </a:solidFill>
                <a:highlight>
                  <a:srgbClr val="FFFF00"/>
                </a:highlight>
              </a:rPr>
              <a:t>t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,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p 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r, q, 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q  t,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>
                <a:solidFill>
                  <a:srgbClr val="405FFF"/>
                </a:solidFill>
                <a:highlight>
                  <a:srgbClr val="FFFF00"/>
                </a:highlight>
                <a:sym typeface="Symbol" pitchFamily="18" charset="2"/>
              </a:rPr>
              <a:t>t</a:t>
            </a:r>
            <a:r>
              <a:rPr lang="vi-VN" sz="2800" dirty="0">
                <a:solidFill>
                  <a:srgbClr val="66CCFF"/>
                </a:solidFill>
                <a:highlight>
                  <a:srgbClr val="FFFF00"/>
                </a:highlight>
              </a:rPr>
              <a:t>}</a:t>
            </a: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</a:rPr>
              <a:t> </a:t>
            </a: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en-US" sz="2800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 </a:t>
            </a:r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{} // true</a:t>
            </a:r>
            <a:endParaRPr lang="en-US" sz="2800" dirty="0">
              <a:solidFill>
                <a:srgbClr val="66CCFF"/>
              </a:solidFill>
              <a:highlight>
                <a:srgbClr val="FFFF00"/>
              </a:highlight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44383"/>
            <a:ext cx="8229600" cy="7588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 (3)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3255287"/>
            <a:ext cx="9651332" cy="261302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None/>
            </a:pPr>
            <a:r>
              <a:rPr lang="en-US" sz="2800" b="1" kern="1200" dirty="0">
                <a:latin typeface="Times New Roman" pitchFamily="18" charset="0"/>
                <a:cs typeface="Arial" pitchFamily="34" charset="0"/>
              </a:rPr>
              <a:t>b)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{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p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q,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q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 r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t, p 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t,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p  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r,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q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q  t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}</a:t>
            </a:r>
            <a:endParaRPr lang="en-US" sz="2800" kern="1200" dirty="0">
              <a:latin typeface="Times New Roman" pitchFamily="18" charset="0"/>
              <a:cs typeface="Arial" pitchFamily="34" charset="0"/>
            </a:endParaRP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{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p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q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r,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t, p 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t,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p  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r,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q  t, </a:t>
            </a:r>
            <a:r>
              <a:rPr lang="en-US" sz="2800" b="1" kern="1200" dirty="0">
                <a:solidFill>
                  <a:srgbClr val="00B05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r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}</a:t>
            </a:r>
            <a:endParaRPr lang="en-US" sz="2800" kern="1200" dirty="0">
              <a:latin typeface="Times New Roman" pitchFamily="18" charset="0"/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2800" b="1" kern="1200" dirty="0">
                <a:latin typeface="Times New Roman" pitchFamily="18" charset="0"/>
                <a:cs typeface="Arial" pitchFamily="34" charset="0"/>
              </a:rPr>
              <a:t>b)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{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p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q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r,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r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</a:rPr>
              <a:t> t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, p 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t,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p  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r,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q  t,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2800" kern="1200" dirty="0">
                <a:solidFill>
                  <a:srgbClr val="FF0000"/>
                </a:solidFill>
                <a:latin typeface="Times New Roman" pitchFamily="18" charset="0"/>
                <a:cs typeface="Arial" pitchFamily="34" charset="0"/>
                <a:sym typeface="Symbol" pitchFamily="18" charset="2"/>
              </a:rPr>
              <a:t>r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}</a:t>
            </a:r>
            <a:endParaRPr lang="en-US" sz="2800" kern="1200" dirty="0">
              <a:latin typeface="Times New Roman" pitchFamily="18" charset="0"/>
              <a:cs typeface="Arial" pitchFamily="34" charset="0"/>
            </a:endParaRPr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{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p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q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r,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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t, p 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t,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p  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r, q,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q  t,</a:t>
            </a:r>
            <a:r>
              <a:rPr lang="en-US" sz="2800" kern="1200" dirty="0">
                <a:latin typeface="Times New Roman" pitchFamily="18" charset="0"/>
                <a:cs typeface="Arial" pitchFamily="34" charset="0"/>
              </a:rPr>
              <a:t> </a:t>
            </a:r>
            <a:r>
              <a:rPr lang="en-US" sz="2800" kern="1200" dirty="0">
                <a:latin typeface="Times New Roman" pitchFamily="18" charset="0"/>
                <a:cs typeface="Arial" pitchFamily="34" charset="0"/>
                <a:sym typeface="Symbol" pitchFamily="18" charset="2"/>
              </a:rPr>
              <a:t>r, t</a:t>
            </a:r>
            <a:r>
              <a:rPr lang="vi-VN" sz="2800" kern="1200" dirty="0">
                <a:latin typeface="Times New Roman" pitchFamily="18" charset="0"/>
                <a:cs typeface="Arial" pitchFamily="34" charset="0"/>
              </a:rPr>
              <a:t>}</a:t>
            </a:r>
            <a:endParaRPr lang="en-US" sz="2800" kern="1200" dirty="0">
              <a:latin typeface="Times New Roman" pitchFamily="18" charset="0"/>
              <a:cs typeface="Arial" pitchFamily="34" charset="0"/>
            </a:endParaRPr>
          </a:p>
          <a:p>
            <a:pPr marL="0" indent="0" eaLnBrk="1" hangingPunct="1">
              <a:spcBef>
                <a:spcPct val="0"/>
              </a:spcBef>
              <a:buNone/>
            </a:pPr>
            <a:r>
              <a:rPr lang="en-US" sz="2800" b="1" dirty="0">
                <a:highlight>
                  <a:srgbClr val="FFFF00"/>
                </a:highlight>
              </a:rPr>
              <a:t>b)</a:t>
            </a:r>
            <a:r>
              <a:rPr lang="vi-VN" sz="2800" dirty="0">
                <a:highlight>
                  <a:srgbClr val="FFFF00"/>
                </a:highlight>
              </a:rPr>
              <a:t>{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highlight>
                  <a:srgbClr val="FFFF00"/>
                </a:highlight>
              </a:rPr>
              <a:t>p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highlight>
                  <a:srgbClr val="FFFF00"/>
                </a:highlight>
              </a:rPr>
              <a:t> q,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highlight>
                  <a:srgbClr val="FFFF00"/>
                </a:highlight>
              </a:rPr>
              <a:t>q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highlight>
                  <a:srgbClr val="FFFF00"/>
                </a:highlight>
              </a:rPr>
              <a:t> r,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sz="2800" dirty="0">
                <a:highlight>
                  <a:srgbClr val="FFFF00"/>
                </a:highlight>
              </a:rPr>
              <a:t>r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</a:t>
            </a:r>
            <a:r>
              <a:rPr lang="en-US" sz="2800" dirty="0">
                <a:highlight>
                  <a:srgbClr val="FFFF00"/>
                </a:highlight>
              </a:rPr>
              <a:t> t, p , 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70C0"/>
                </a:solidFill>
                <a:highlight>
                  <a:srgbClr val="FFFF00"/>
                </a:highlight>
              </a:rPr>
              <a:t>t</a:t>
            </a:r>
            <a:r>
              <a:rPr lang="en-US" sz="2800" dirty="0">
                <a:highlight>
                  <a:srgbClr val="FFFF00"/>
                </a:highlight>
              </a:rPr>
              <a:t>,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p  </a:t>
            </a:r>
            <a:r>
              <a:rPr lang="en-US" sz="2800" dirty="0">
                <a:highlight>
                  <a:srgbClr val="FFFF00"/>
                </a:highlight>
              </a:rPr>
              <a:t>r, q, </a:t>
            </a: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q  t,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  <a:r>
              <a:rPr lang="en-US" sz="2800" dirty="0" err="1">
                <a:highlight>
                  <a:srgbClr val="FFFF00"/>
                </a:highlight>
                <a:sym typeface="Symbol" pitchFamily="18" charset="2"/>
              </a:rPr>
              <a:t>r,</a:t>
            </a:r>
            <a:r>
              <a:rPr lang="en-US" b="1" dirty="0" err="1">
                <a:solidFill>
                  <a:srgbClr val="0070C0"/>
                </a:solidFill>
                <a:highlight>
                  <a:srgbClr val="FFFF00"/>
                </a:highlight>
                <a:sym typeface="Symbol" pitchFamily="18" charset="2"/>
              </a:rPr>
              <a:t>t</a:t>
            </a:r>
            <a:r>
              <a:rPr lang="vi-VN" sz="2800" dirty="0">
                <a:highlight>
                  <a:srgbClr val="FFFF00"/>
                </a:highlight>
              </a:rPr>
              <a:t>}</a:t>
            </a:r>
            <a:r>
              <a:rPr lang="en-US" sz="2800" dirty="0">
                <a:highlight>
                  <a:srgbClr val="FFFF00"/>
                </a:highlight>
              </a:rPr>
              <a:t> </a:t>
            </a:r>
          </a:p>
          <a:p>
            <a:pPr>
              <a:spcBef>
                <a:spcPct val="0"/>
              </a:spcBef>
              <a:buFont typeface="Symbol" pitchFamily="18" charset="2"/>
              <a:buChar char="Þ"/>
            </a:pPr>
            <a:r>
              <a:rPr lang="en-US" sz="2800" dirty="0">
                <a:highlight>
                  <a:srgbClr val="FFFF00"/>
                </a:highlight>
                <a:sym typeface="Symbol" pitchFamily="18" charset="2"/>
              </a:rPr>
              <a:t> {}</a:t>
            </a:r>
            <a:r>
              <a:rPr lang="en-US" dirty="0">
                <a:solidFill>
                  <a:srgbClr val="66CCFF"/>
                </a:solidFill>
                <a:highlight>
                  <a:srgbClr val="FFFF00"/>
                </a:highlight>
                <a:sym typeface="Symbol" pitchFamily="18" charset="2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sym typeface="Symbol" pitchFamily="18" charset="2"/>
              </a:rPr>
              <a:t>// true</a:t>
            </a:r>
            <a:endParaRPr lang="en-US" sz="2800" dirty="0">
              <a:solidFill>
                <a:schemeClr val="accent1">
                  <a:lumMod val="75000"/>
                </a:schemeClr>
              </a:solidFill>
              <a:highlight>
                <a:srgbClr val="FFFF00"/>
              </a:highlight>
              <a:sym typeface="Symbol" pitchFamily="18" charset="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87BEF8-DCB1-42EC-A215-169B1CEB5B88}"/>
              </a:ext>
            </a:extLst>
          </p:cNvPr>
          <p:cNvSpPr/>
          <p:nvPr/>
        </p:nvSpPr>
        <p:spPr>
          <a:xfrm>
            <a:off x="537410" y="3149977"/>
            <a:ext cx="9651331" cy="26130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sz="2400" b="1" dirty="0" err="1">
                <a:solidFill>
                  <a:srgbClr val="FF0000"/>
                </a:solidFill>
              </a:rPr>
              <a:t>Cách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kết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hợp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khác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9306F-672A-4DD0-BBE8-508F4D454C47}"/>
              </a:ext>
            </a:extLst>
          </p:cNvPr>
          <p:cNvSpPr txBox="1"/>
          <p:nvPr/>
        </p:nvSpPr>
        <p:spPr>
          <a:xfrm>
            <a:off x="685800" y="1232118"/>
            <a:ext cx="94869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/>
              <a:t>b) </a:t>
            </a:r>
            <a:r>
              <a:rPr lang="vi-VN" sz="2800" dirty="0"/>
              <a:t>{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p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q</a:t>
            </a:r>
            <a:r>
              <a:rPr lang="en-US" sz="2800" dirty="0"/>
              <a:t>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q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r,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r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t, </a:t>
            </a:r>
            <a:r>
              <a:rPr lang="en-US" sz="2800" dirty="0">
                <a:solidFill>
                  <a:srgbClr val="FF0000"/>
                </a:solidFill>
              </a:rPr>
              <a:t>p</a:t>
            </a:r>
            <a:r>
              <a:rPr lang="en-US" sz="2800" dirty="0"/>
              <a:t> 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t, </a:t>
            </a:r>
            <a:r>
              <a:rPr lang="en-US" sz="2800" dirty="0">
                <a:sym typeface="Symbol" pitchFamily="18" charset="2"/>
              </a:rPr>
              <a:t>p  </a:t>
            </a:r>
            <a:r>
              <a:rPr lang="en-US" sz="2800" dirty="0"/>
              <a:t>r</a:t>
            </a:r>
            <a:r>
              <a:rPr lang="vi-VN" sz="2800" dirty="0"/>
              <a:t>}</a:t>
            </a:r>
            <a:endParaRPr lang="en-US" sz="2800" dirty="0"/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dirty="0"/>
              <a:t>{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p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q,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q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r,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r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t, p 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t, </a:t>
            </a:r>
            <a:r>
              <a:rPr lang="en-US" sz="2800" dirty="0">
                <a:sym typeface="Symbol" pitchFamily="18" charset="2"/>
              </a:rPr>
              <a:t>p  </a:t>
            </a:r>
            <a:r>
              <a:rPr lang="en-US" sz="2800" dirty="0"/>
              <a:t>r, </a:t>
            </a:r>
            <a:r>
              <a:rPr lang="en-US" sz="2800" b="1" dirty="0">
                <a:solidFill>
                  <a:srgbClr val="00B050"/>
                </a:solidFill>
              </a:rPr>
              <a:t>q</a:t>
            </a:r>
            <a:r>
              <a:rPr lang="vi-VN" sz="2800" dirty="0"/>
              <a:t>}</a:t>
            </a:r>
            <a:endParaRPr lang="en-US" sz="280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2800" b="1" dirty="0"/>
              <a:t>b) </a:t>
            </a:r>
            <a:r>
              <a:rPr lang="vi-VN" sz="2800" dirty="0"/>
              <a:t>{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p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q,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q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r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FF0000"/>
                </a:solidFill>
              </a:rPr>
              <a:t>r </a:t>
            </a:r>
            <a:r>
              <a:rPr lang="en-US" sz="2800" dirty="0">
                <a:solidFill>
                  <a:srgbClr val="FF0000"/>
                </a:solidFill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t</a:t>
            </a:r>
            <a:r>
              <a:rPr lang="en-US" sz="2800" dirty="0"/>
              <a:t>, p 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t, </a:t>
            </a:r>
            <a:r>
              <a:rPr lang="en-US" sz="2800" dirty="0">
                <a:sym typeface="Symbol" pitchFamily="18" charset="2"/>
              </a:rPr>
              <a:t>p  </a:t>
            </a:r>
            <a:r>
              <a:rPr lang="en-US" sz="2800" dirty="0"/>
              <a:t>r, q</a:t>
            </a:r>
            <a:r>
              <a:rPr lang="vi-VN" sz="2800" dirty="0"/>
              <a:t>}</a:t>
            </a:r>
            <a:endParaRPr lang="en-US" sz="2800" dirty="0"/>
          </a:p>
          <a:p>
            <a:pPr eaLnBrk="1" hangingPunct="1">
              <a:spcBef>
                <a:spcPct val="0"/>
              </a:spcBef>
              <a:buFont typeface="Symbol" pitchFamily="18" charset="2"/>
              <a:buChar char="Þ"/>
            </a:pPr>
            <a:r>
              <a:rPr lang="vi-VN" sz="2800" dirty="0"/>
              <a:t>{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p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q,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q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r,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r </a:t>
            </a:r>
            <a:r>
              <a:rPr lang="en-US" sz="2800" dirty="0">
                <a:sym typeface="Symbol" pitchFamily="18" charset="2"/>
              </a:rPr>
              <a:t></a:t>
            </a:r>
            <a:r>
              <a:rPr lang="en-US" sz="2800" dirty="0"/>
              <a:t> t, p , </a:t>
            </a:r>
            <a:r>
              <a:rPr lang="en-US" sz="2800" dirty="0">
                <a:sym typeface="Symbol" pitchFamily="18" charset="2"/>
              </a:rPr>
              <a:t></a:t>
            </a:r>
            <a:r>
              <a:rPr lang="en-US" sz="2800" dirty="0"/>
              <a:t>t, </a:t>
            </a:r>
            <a:r>
              <a:rPr lang="en-US" sz="2800" dirty="0">
                <a:sym typeface="Symbol" pitchFamily="18" charset="2"/>
              </a:rPr>
              <a:t>p  </a:t>
            </a:r>
            <a:r>
              <a:rPr lang="en-US" sz="2800" dirty="0"/>
              <a:t>r, q,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00B050"/>
                </a:solidFill>
                <a:sym typeface="Symbol" pitchFamily="18" charset="2"/>
              </a:rPr>
              <a:t>q  t</a:t>
            </a:r>
            <a:r>
              <a:rPr lang="vi-VN" sz="2800" dirty="0"/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315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5221" y="304800"/>
            <a:ext cx="8229600" cy="68262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-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2821" y="3168316"/>
            <a:ext cx="8534400" cy="2822575"/>
          </a:xfrm>
        </p:spPr>
        <p:txBody>
          <a:bodyPr/>
          <a:lstStyle/>
          <a:p>
            <a:pPr eaLnBrk="1" hangingPunct="1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2. I: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[((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)r)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t]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N: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[((p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q)r)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t]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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</a:p>
          <a:p>
            <a:pPr eaLnBrk="1" hangingPunct="1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D: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[(p r)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t]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 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(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8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>
              <a:buNone/>
            </a:pPr>
            <a:r>
              <a:rPr lang="en-US" sz="2800" b="1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O:</a:t>
            </a:r>
            <a:r>
              <a:rPr lang="en-US" sz="28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{p r,</a:t>
            </a:r>
            <a:r>
              <a:rPr lang="en-US" sz="28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8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8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8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8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8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</a:t>
            </a:r>
            <a:r>
              <a:rPr lang="en-US" sz="28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8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E0903-C95D-45E5-AA4E-F0E31296ADF3}"/>
              </a:ext>
            </a:extLst>
          </p:cNvPr>
          <p:cNvSpPr txBox="1"/>
          <p:nvPr/>
        </p:nvSpPr>
        <p:spPr>
          <a:xfrm>
            <a:off x="2209800" y="1066801"/>
            <a:ext cx="7391400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3200" b="1">
                <a:solidFill>
                  <a:srgbClr val="FF0000"/>
                </a:solidFill>
                <a:cs typeface="Times New Roman" pitchFamily="18" charset="0"/>
              </a:rPr>
              <a:t>Cho biết phát biểu sau là đúng hay sai?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b="1">
                <a:solidFill>
                  <a:srgbClr val="FF0000"/>
                </a:solidFill>
                <a:cs typeface="Times New Roman" pitchFamily="18" charset="0"/>
              </a:rPr>
              <a:t>[(p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qr) </a:t>
            </a:r>
            <a:r>
              <a:rPr lang="en-US" sz="2800" b="1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(rs) </a:t>
            </a:r>
            <a:r>
              <a:rPr lang="en-US" sz="2800" b="1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(st) </a:t>
            </a:r>
            <a:r>
              <a:rPr lang="en-US" sz="2800" b="1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t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[(pq)]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AFA09-568B-4E26-82F3-2CF912AD6337}"/>
              </a:ext>
            </a:extLst>
          </p:cNvPr>
          <p:cNvSpPr txBox="1"/>
          <p:nvPr/>
        </p:nvSpPr>
        <p:spPr>
          <a:xfrm>
            <a:off x="304800" y="2371801"/>
            <a:ext cx="76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sz="2800" b="1" dirty="0">
                <a:cs typeface="Times New Roman" pitchFamily="18" charset="0"/>
              </a:rPr>
              <a:t>1. </a:t>
            </a:r>
            <a:r>
              <a:rPr lang="en-US" sz="2800" dirty="0">
                <a:cs typeface="Times New Roman" pitchFamily="18" charset="0"/>
              </a:rPr>
              <a:t>[(</a:t>
            </a:r>
            <a:r>
              <a:rPr lang="en-US" sz="2800" dirty="0" err="1">
                <a:cs typeface="Times New Roman" pitchFamily="18" charset="0"/>
              </a:rPr>
              <a:t>p</a:t>
            </a:r>
            <a:r>
              <a:rPr lang="en-US" sz="2800" dirty="0" err="1">
                <a:cs typeface="Times New Roman" pitchFamily="18" charset="0"/>
                <a:sym typeface="Symbol" pitchFamily="18" charset="2"/>
              </a:rPr>
              <a:t>qr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dirty="0" err="1">
                <a:cs typeface="Times New Roman" pitchFamily="18" charset="0"/>
                <a:sym typeface="Symbol" pitchFamily="18" charset="2"/>
              </a:rPr>
              <a:t>rs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dirty="0" err="1">
                <a:cs typeface="Times New Roman" pitchFamily="18" charset="0"/>
                <a:sym typeface="Symbol" pitchFamily="18" charset="2"/>
              </a:rPr>
              <a:t>st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t</a:t>
            </a:r>
            <a:r>
              <a:rPr lang="en-US" sz="2800" dirty="0">
                <a:cs typeface="Times New Roman" pitchFamily="18" charset="0"/>
              </a:rPr>
              <a:t>]</a:t>
            </a:r>
            <a:r>
              <a:rPr lang="en-US" sz="2800" dirty="0">
                <a:sym typeface="Symbol" pitchFamily="18" charset="2"/>
              </a:rPr>
              <a:t> 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[(</a:t>
            </a:r>
            <a:r>
              <a:rPr lang="en-US" sz="2800" dirty="0" err="1">
                <a:cs typeface="Times New Roman" pitchFamily="18" charset="0"/>
                <a:sym typeface="Symbol" pitchFamily="18" charset="2"/>
              </a:rPr>
              <a:t>pq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25677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97956"/>
            <a:ext cx="8229600" cy="68262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-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2 (2)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0600" y="2057400"/>
            <a:ext cx="9448800" cy="4041775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None/>
            </a:pP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O: {p r,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</a:t>
            </a:r>
            <a:r>
              <a:rPr lang="en-US" sz="2000" dirty="0" err="1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pq</a:t>
            </a:r>
            <a:r>
              <a:rPr lang="en-US" sz="2000" dirty="0"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3.b) {p r,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 p  q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=&gt;{p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b){p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=&gt;{p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p r ,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b){p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p r 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=&gt;{p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p r ,p s, 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b){p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,  p  q, p r ,p s,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 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=&gt;{p r,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qr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rs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st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,t ,  p  q, p r ,p s, p t, </a:t>
            </a:r>
            <a:r>
              <a:rPr lang="en-US" sz="20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}</a:t>
            </a:r>
          </a:p>
          <a:p>
            <a:pPr eaLnBrk="1" hangingPunct="1">
              <a:buNone/>
            </a:pP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Kết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hợp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tất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cả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các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mệnh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đề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đều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không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tìm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ra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mệnh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đề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phủ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định</a:t>
            </a:r>
            <a:endParaRPr lang="en-US" sz="20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=&gt;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Không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tìm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ra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mệnh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đề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phủ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định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.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Vậy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phát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trên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là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sai</a:t>
            </a: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!</a:t>
            </a: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Wingdings" pitchFamily="2" charset="2"/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E0903-C95D-45E5-AA4E-F0E31296ADF3}"/>
              </a:ext>
            </a:extLst>
          </p:cNvPr>
          <p:cNvSpPr txBox="1"/>
          <p:nvPr/>
        </p:nvSpPr>
        <p:spPr>
          <a:xfrm>
            <a:off x="2209800" y="965538"/>
            <a:ext cx="7391400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Cho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biết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phát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biểu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sau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là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đúng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 hay </a:t>
            </a:r>
            <a:r>
              <a:rPr lang="en-US" sz="3200" b="1" dirty="0" err="1">
                <a:solidFill>
                  <a:srgbClr val="FF0000"/>
                </a:solidFill>
                <a:cs typeface="Times New Roman" pitchFamily="18" charset="0"/>
              </a:rPr>
              <a:t>sai</a:t>
            </a:r>
            <a:r>
              <a:rPr lang="en-US" sz="3200" b="1" dirty="0">
                <a:solidFill>
                  <a:srgbClr val="FF0000"/>
                </a:solidFill>
                <a:cs typeface="Times New Roman" pitchFamily="18" charset="0"/>
              </a:rPr>
              <a:t>?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[(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p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qr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rs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st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[(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pq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203003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5" name="Title 1"/>
          <p:cNvSpPr>
            <a:spLocks noGrp="1"/>
          </p:cNvSpPr>
          <p:nvPr>
            <p:ph type="title" idx="4294967295"/>
          </p:nvPr>
        </p:nvSpPr>
        <p:spPr>
          <a:xfrm>
            <a:off x="304800" y="139145"/>
            <a:ext cx="8229600" cy="838200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09926" name="Content Placeholder 2"/>
          <p:cNvSpPr>
            <a:spLocks noGrp="1"/>
          </p:cNvSpPr>
          <p:nvPr>
            <p:ph idx="4294967295"/>
          </p:nvPr>
        </p:nvSpPr>
        <p:spPr>
          <a:xfrm>
            <a:off x="2350168" y="615102"/>
            <a:ext cx="9677400" cy="1118496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pPr algn="ctr" eaLnBrk="1" hangingPunct="1"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3000" b="1" dirty="0">
                <a:solidFill>
                  <a:srgbClr val="0070C0"/>
                </a:solidFill>
              </a:rPr>
              <a:t>{ s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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 err="1">
                <a:solidFill>
                  <a:srgbClr val="0070C0"/>
                </a:solidFill>
              </a:rPr>
              <a:t>q</a:t>
            </a:r>
            <a:r>
              <a:rPr lang="en-US" sz="3000" b="1" dirty="0" err="1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sz="3000" b="1" dirty="0" err="1">
                <a:solidFill>
                  <a:srgbClr val="0070C0"/>
                </a:solidFill>
              </a:rPr>
              <a:t>r,p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</a:t>
            </a:r>
            <a:r>
              <a:rPr lang="en-US" sz="3000" b="1" dirty="0">
                <a:solidFill>
                  <a:srgbClr val="0070C0"/>
                </a:solidFill>
              </a:rPr>
              <a:t> q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 err="1">
                <a:solidFill>
                  <a:srgbClr val="0070C0"/>
                </a:solidFill>
              </a:rPr>
              <a:t>r,q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</a:t>
            </a:r>
            <a:r>
              <a:rPr lang="en-US" sz="3000" b="1" dirty="0">
                <a:solidFill>
                  <a:srgbClr val="0070C0"/>
                </a:solidFill>
              </a:rPr>
              <a:t> r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sz="3000" b="1" dirty="0" err="1">
                <a:solidFill>
                  <a:srgbClr val="0070C0"/>
                </a:solidFill>
              </a:rPr>
              <a:t>s,r</a:t>
            </a:r>
            <a:r>
              <a:rPr lang="en-US" sz="3000" b="1" dirty="0">
                <a:solidFill>
                  <a:srgbClr val="0070C0"/>
                </a:solidFill>
              </a:rPr>
              <a:t> 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</a:t>
            </a:r>
            <a:r>
              <a:rPr lang="en-US" sz="3000" b="1" dirty="0">
                <a:solidFill>
                  <a:srgbClr val="0070C0"/>
                </a:solidFill>
              </a:rPr>
              <a:t> s</a:t>
            </a:r>
            <a:r>
              <a:rPr lang="en-US" sz="3000" b="1" dirty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sz="3000" b="1" dirty="0">
                <a:solidFill>
                  <a:srgbClr val="0070C0"/>
                </a:solidFill>
              </a:rPr>
              <a:t> t }</a:t>
            </a:r>
            <a:r>
              <a:rPr lang="en-US" sz="3000" dirty="0">
                <a:sym typeface="Symbol" pitchFamily="18" charset="2"/>
              </a:rPr>
              <a:t></a:t>
            </a:r>
            <a:r>
              <a:rPr lang="en-US" sz="3000" b="1" dirty="0">
                <a:solidFill>
                  <a:srgbClr val="FF0000"/>
                </a:solidFill>
              </a:rPr>
              <a:t>{ p </a:t>
            </a:r>
            <a:r>
              <a:rPr lang="en-US" sz="30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3000" b="1" dirty="0">
                <a:solidFill>
                  <a:srgbClr val="FF0000"/>
                </a:solidFill>
              </a:rPr>
              <a:t> q</a:t>
            </a:r>
            <a:r>
              <a:rPr lang="en-US" sz="30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000" b="1" dirty="0">
                <a:solidFill>
                  <a:srgbClr val="FF0000"/>
                </a:solidFill>
              </a:rPr>
              <a:t> t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B50AC-6D63-4CFD-97B9-47E3FFB17002}"/>
              </a:ext>
            </a:extLst>
          </p:cNvPr>
          <p:cNvSpPr txBox="1"/>
          <p:nvPr/>
        </p:nvSpPr>
        <p:spPr>
          <a:xfrm>
            <a:off x="978568" y="1911846"/>
            <a:ext cx="10210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400" b="1" dirty="0">
                <a:latin typeface="+mn-lt"/>
                <a:cs typeface="Times New Roman" pitchFamily="18" charset="0"/>
              </a:rPr>
              <a:t>1&amp;2: </a:t>
            </a:r>
            <a:r>
              <a:rPr lang="en-US" sz="2400" dirty="0">
                <a:latin typeface="+mn-lt"/>
                <a:cs typeface="Times New Roman" pitchFamily="18" charset="0"/>
              </a:rPr>
              <a:t>{(</a:t>
            </a:r>
            <a:r>
              <a:rPr lang="en-US" sz="2400" dirty="0">
                <a:latin typeface="+mn-lt"/>
                <a:cs typeface="Times New Roman" pitchFamily="18" charset="0"/>
                <a:sym typeface="Symbol" pitchFamily="18" charset="2"/>
              </a:rPr>
              <a:t>s  q)  r,</a:t>
            </a:r>
            <a:r>
              <a:rPr lang="en-US" sz="2400" dirty="0">
                <a:latin typeface="+mn-lt"/>
                <a:cs typeface="Times New Roman" pitchFamily="18" charset="0"/>
              </a:rPr>
              <a:t>(</a:t>
            </a:r>
            <a:r>
              <a:rPr lang="en-US" sz="2400" dirty="0">
                <a:latin typeface="+mn-lt"/>
                <a:cs typeface="Times New Roman" pitchFamily="18" charset="0"/>
                <a:sym typeface="Symbol" pitchFamily="18" charset="2"/>
              </a:rPr>
              <a:t>p  q)  r, </a:t>
            </a:r>
            <a:r>
              <a:rPr lang="en-US" sz="2400" dirty="0">
                <a:latin typeface="+mn-lt"/>
                <a:cs typeface="Times New Roman" pitchFamily="18" charset="0"/>
              </a:rPr>
              <a:t>(</a:t>
            </a:r>
            <a:r>
              <a:rPr lang="en-US" sz="2400" dirty="0">
                <a:latin typeface="+mn-lt"/>
                <a:cs typeface="Times New Roman" pitchFamily="18" charset="0"/>
                <a:sym typeface="Symbol" pitchFamily="18" charset="2"/>
              </a:rPr>
              <a:t>q  r)  s, </a:t>
            </a:r>
            <a:r>
              <a:rPr lang="en-US" sz="2400" dirty="0">
                <a:latin typeface="+mn-lt"/>
                <a:cs typeface="Times New Roman" pitchFamily="18" charset="0"/>
              </a:rPr>
              <a:t>(</a:t>
            </a:r>
            <a:r>
              <a:rPr lang="en-US" sz="2400" dirty="0">
                <a:latin typeface="+mn-lt"/>
                <a:cs typeface="Times New Roman" pitchFamily="18" charset="0"/>
                <a:sym typeface="Symbol" pitchFamily="18" charset="2"/>
              </a:rPr>
              <a:t>r  s)  t, [</a:t>
            </a:r>
            <a:r>
              <a:rPr lang="en-US" sz="2400" dirty="0">
                <a:latin typeface="+mn-lt"/>
                <a:cs typeface="Times New Roman" pitchFamily="18" charset="0"/>
              </a:rPr>
              <a:t>(</a:t>
            </a:r>
            <a:r>
              <a:rPr lang="en-US" sz="2400" dirty="0">
                <a:latin typeface="+mn-lt"/>
                <a:cs typeface="Times New Roman" pitchFamily="18" charset="0"/>
                <a:sym typeface="Symbol" pitchFamily="18" charset="2"/>
              </a:rPr>
              <a:t>p  q)  t]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{(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s</a:t>
            </a: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 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q) </a:t>
            </a: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 r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q)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r, 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r)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s, 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s)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t, (p  q) 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t}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=&gt;{(r 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s) </a:t>
            </a:r>
            <a:r>
              <a:rPr lang="en-US" sz="2400" dirty="0">
                <a:solidFill>
                  <a:srgbClr val="FF0000"/>
                </a:solidFill>
                <a:sym typeface="Symbol" pitchFamily="18" charset="2"/>
              </a:rPr>
              <a:t> (r 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q),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q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r, 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r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s, 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s 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 t, p  q </a:t>
            </a:r>
            <a:r>
              <a:rPr lang="en-US" sz="24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</a:t>
            </a:r>
            <a:r>
              <a:rPr lang="en-US" sz="2400" dirty="0">
                <a:solidFill>
                  <a:srgbClr val="00B050"/>
                </a:solidFill>
                <a:sym typeface="Symbol" pitchFamily="18" charset="2"/>
              </a:rPr>
              <a:t>t}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=&gt;{r 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s,</a:t>
            </a:r>
            <a:r>
              <a:rPr lang="en-US" sz="2400" dirty="0">
                <a:sym typeface="Symbol" pitchFamily="18" charset="2"/>
              </a:rPr>
              <a:t> r 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q,</a:t>
            </a:r>
            <a:r>
              <a:rPr lang="en-US" sz="2400" dirty="0"/>
              <a:t>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400" dirty="0">
                <a:sym typeface="Symbol" pitchFamily="18" charset="2"/>
              </a:rPr>
              <a:t> 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q </a:t>
            </a:r>
            <a:r>
              <a:rPr lang="en-US" sz="2400" dirty="0">
                <a:sym typeface="Symbol" pitchFamily="18" charset="2"/>
              </a:rPr>
              <a:t> r,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400" dirty="0">
                <a:sym typeface="Symbol" pitchFamily="18" charset="2"/>
              </a:rPr>
              <a:t> 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r </a:t>
            </a:r>
            <a:r>
              <a:rPr lang="en-US" sz="2400" dirty="0">
                <a:sym typeface="Symbol" pitchFamily="18" charset="2"/>
              </a:rPr>
              <a:t> s, 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400" dirty="0">
                <a:sym typeface="Symbol" pitchFamily="18" charset="2"/>
              </a:rPr>
              <a:t> 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s </a:t>
            </a:r>
            <a:r>
              <a:rPr lang="en-US" sz="2400" dirty="0">
                <a:sym typeface="Symbol" pitchFamily="18" charset="2"/>
              </a:rPr>
              <a:t> t, p, q,</a:t>
            </a:r>
            <a:r>
              <a:rPr lang="en-US" sz="2400" dirty="0">
                <a:cs typeface="Times New Roman" pitchFamily="18" charset="0"/>
                <a:sym typeface="Symbol" pitchFamily="18" charset="2"/>
              </a:rPr>
              <a:t> </a:t>
            </a:r>
            <a:r>
              <a:rPr lang="en-US" sz="2400" dirty="0">
                <a:sym typeface="Symbol" pitchFamily="18" charset="2"/>
              </a:rPr>
              <a:t>t}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>
              <a:latin typeface="+mn-lt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8568" y="3071842"/>
            <a:ext cx="8458200" cy="52124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9FE43-DD0A-46A7-792D-7BB80F50FF81}"/>
              </a:ext>
            </a:extLst>
          </p:cNvPr>
          <p:cNvSpPr txBox="1">
            <a:spLocks/>
          </p:cNvSpPr>
          <p:nvPr/>
        </p:nvSpPr>
        <p:spPr>
          <a:xfrm>
            <a:off x="978568" y="3780848"/>
            <a:ext cx="11049000" cy="23913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Wingdings" pitchFamily="2" charset="2"/>
              <a:buNone/>
            </a:pPr>
            <a:r>
              <a:rPr lang="en-US" b="1" dirty="0">
                <a:sym typeface="Symbol" pitchFamily="18" charset="2"/>
              </a:rPr>
              <a:t>3:b)</a:t>
            </a:r>
            <a:r>
              <a:rPr lang="en-US" dirty="0">
                <a:sym typeface="Symbol" pitchFamily="18" charset="2"/>
              </a:rPr>
              <a:t>{r 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 s,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r </a:t>
            </a:r>
            <a:r>
              <a:rPr lang="en-US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,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p</a:t>
            </a:r>
            <a:r>
              <a:rPr lang="en-US" dirty="0">
                <a:sym typeface="Symbol" pitchFamily="18" charset="2"/>
              </a:rPr>
              <a:t> 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 q </a:t>
            </a:r>
            <a:r>
              <a:rPr lang="en-US" dirty="0">
                <a:sym typeface="Symbol" pitchFamily="18" charset="2"/>
              </a:rPr>
              <a:t> r, </a:t>
            </a:r>
            <a:r>
              <a:rPr lang="en-US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r </a:t>
            </a:r>
            <a:r>
              <a:rPr lang="en-US" dirty="0">
                <a:solidFill>
                  <a:srgbClr val="00B050"/>
                </a:solidFill>
                <a:sym typeface="Symbol" pitchFamily="18" charset="2"/>
              </a:rPr>
              <a:t> s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r</a:t>
            </a:r>
            <a:r>
              <a:rPr lang="en-US" dirty="0">
                <a:sym typeface="Symbol" pitchFamily="18" charset="2"/>
              </a:rPr>
              <a:t> 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 s </a:t>
            </a:r>
            <a:r>
              <a:rPr lang="en-US" dirty="0">
                <a:sym typeface="Symbol" pitchFamily="18" charset="2"/>
              </a:rPr>
              <a:t> t, p, </a:t>
            </a:r>
            <a:r>
              <a:rPr lang="en-US" dirty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dirty="0">
                <a:sym typeface="Symbol" pitchFamily="18" charset="2"/>
              </a:rPr>
              <a:t>,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solidFill>
                  <a:srgbClr val="0070C0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70C0"/>
                </a:solidFill>
                <a:sym typeface="Symbol" pitchFamily="18" charset="2"/>
              </a:rPr>
              <a:t>t</a:t>
            </a:r>
            <a:r>
              <a:rPr lang="en-US" dirty="0">
                <a:sym typeface="Symbol" pitchFamily="18" charset="2"/>
              </a:rPr>
              <a:t>}</a:t>
            </a: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FF0000"/>
                </a:solidFill>
                <a:sym typeface="Symbol" pitchFamily="18" charset="2"/>
              </a:rPr>
              <a:t>r </a:t>
            </a:r>
            <a:r>
              <a:rPr lang="en-US" sz="26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q, </a:t>
            </a:r>
            <a:r>
              <a:rPr lang="en-US" sz="2600" dirty="0">
                <a:solidFill>
                  <a:srgbClr val="FF0000"/>
                </a:solidFill>
                <a:sym typeface="Symbol" pitchFamily="18" charset="2"/>
              </a:rPr>
              <a:t>q </a:t>
            </a:r>
            <a:r>
              <a:rPr lang="en-US" sz="2600" dirty="0">
                <a:sym typeface="Symbol" pitchFamily="18" charset="2"/>
              </a:rPr>
              <a:t>=&gt; </a:t>
            </a:r>
            <a:r>
              <a:rPr lang="en-US" sz="2600" b="1" dirty="0">
                <a:solidFill>
                  <a:srgbClr val="00B050"/>
                </a:solidFill>
                <a:sym typeface="Symbol" pitchFamily="18" charset="2"/>
              </a:rPr>
              <a:t>r</a:t>
            </a:r>
            <a:r>
              <a:rPr lang="en-US" sz="2600" dirty="0">
                <a:sym typeface="Symbol" pitchFamily="18" charset="2"/>
              </a:rPr>
              <a:t>,		</a:t>
            </a:r>
            <a:r>
              <a:rPr lang="en-US" sz="1800" dirty="0">
                <a:sym typeface="Symbol" pitchFamily="18" charset="2"/>
              </a:rPr>
              <a:t>//Giao </a:t>
            </a:r>
            <a:r>
              <a:rPr lang="en-US" sz="1800" dirty="0" err="1">
                <a:sym typeface="Symbol" pitchFamily="18" charset="2"/>
              </a:rPr>
              <a:t>hoán+Khẳng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định</a:t>
            </a:r>
            <a:endParaRPr lang="en-US" sz="1800" dirty="0">
              <a:sym typeface="Symbol" pitchFamily="18" charset="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6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6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r </a:t>
            </a:r>
            <a:r>
              <a:rPr lang="en-US" sz="2600" dirty="0">
                <a:solidFill>
                  <a:srgbClr val="00B050"/>
                </a:solidFill>
                <a:sym typeface="Symbol" pitchFamily="18" charset="2"/>
              </a:rPr>
              <a:t> s, r </a:t>
            </a:r>
            <a:r>
              <a:rPr lang="en-US" sz="2600" dirty="0">
                <a:sym typeface="Symbol" pitchFamily="18" charset="2"/>
              </a:rPr>
              <a:t>=&gt; </a:t>
            </a:r>
            <a:r>
              <a:rPr lang="en-US" sz="2600" b="1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600" b="1" dirty="0">
                <a:solidFill>
                  <a:srgbClr val="7030A0"/>
                </a:solidFill>
                <a:sym typeface="Symbol" pitchFamily="18" charset="2"/>
              </a:rPr>
              <a:t> </a:t>
            </a:r>
            <a:r>
              <a:rPr lang="en-US" sz="2600" b="1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600" b="1" dirty="0">
                <a:solidFill>
                  <a:srgbClr val="7030A0"/>
                </a:solidFill>
                <a:sym typeface="Symbol" pitchFamily="18" charset="2"/>
              </a:rPr>
              <a:t>s	</a:t>
            </a:r>
            <a:r>
              <a:rPr lang="en-US" sz="1800" dirty="0">
                <a:sym typeface="Symbol" pitchFamily="18" charset="2"/>
              </a:rPr>
              <a:t>//Giao </a:t>
            </a:r>
            <a:r>
              <a:rPr lang="en-US" sz="1800" dirty="0" err="1">
                <a:sym typeface="Symbol" pitchFamily="18" charset="2"/>
              </a:rPr>
              <a:t>hoán+Kết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hợp+Khẳng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định</a:t>
            </a:r>
            <a:endParaRPr lang="en-US" sz="1800" dirty="0">
              <a:sym typeface="Symbol" pitchFamily="18" charset="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600" dirty="0">
                <a:solidFill>
                  <a:srgbClr val="7030A0"/>
                </a:solidFill>
                <a:sym typeface="Symbol" pitchFamily="18" charset="2"/>
              </a:rPr>
              <a:t> </a:t>
            </a:r>
            <a:r>
              <a:rPr lang="en-US" sz="2600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600" dirty="0">
                <a:solidFill>
                  <a:srgbClr val="7030A0"/>
                </a:solidFill>
                <a:sym typeface="Symbol" pitchFamily="18" charset="2"/>
              </a:rPr>
              <a:t>s</a:t>
            </a:r>
            <a:r>
              <a:rPr lang="en-US" sz="2600" dirty="0">
                <a:sym typeface="Symbol" pitchFamily="18" charset="2"/>
              </a:rPr>
              <a:t>, </a:t>
            </a:r>
            <a:r>
              <a:rPr lang="en-US" sz="2600" dirty="0">
                <a:solidFill>
                  <a:srgbClr val="FF0000"/>
                </a:solidFill>
                <a:sym typeface="Symbol" pitchFamily="18" charset="2"/>
              </a:rPr>
              <a:t>q</a:t>
            </a:r>
            <a:r>
              <a:rPr lang="en-US" sz="2600" dirty="0">
                <a:sym typeface="Symbol" pitchFamily="18" charset="2"/>
              </a:rPr>
              <a:t> =&gt; </a:t>
            </a:r>
            <a:r>
              <a:rPr lang="en-US" sz="2600" b="1" dirty="0">
                <a:solidFill>
                  <a:srgbClr val="0000FF"/>
                </a:solidFill>
                <a:sym typeface="Symbol" pitchFamily="18" charset="2"/>
              </a:rPr>
              <a:t>s</a:t>
            </a:r>
            <a:r>
              <a:rPr lang="en-US" sz="2600" dirty="0">
                <a:sym typeface="Symbol" pitchFamily="18" charset="2"/>
              </a:rPr>
              <a:t>,		</a:t>
            </a:r>
            <a:r>
              <a:rPr lang="en-US" sz="1800" dirty="0">
                <a:sym typeface="Symbol" pitchFamily="18" charset="2"/>
              </a:rPr>
              <a:t>//</a:t>
            </a:r>
            <a:r>
              <a:rPr lang="en-US" sz="1800" dirty="0" err="1">
                <a:sym typeface="Symbol" pitchFamily="18" charset="2"/>
              </a:rPr>
              <a:t>Khẳng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định</a:t>
            </a:r>
            <a:endParaRPr lang="en-US" sz="1800" dirty="0">
              <a:sym typeface="Symbol" pitchFamily="18" charset="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600" dirty="0">
                <a:solidFill>
                  <a:srgbClr val="00B050"/>
                </a:solidFill>
                <a:sym typeface="Symbol" pitchFamily="18" charset="2"/>
              </a:rPr>
              <a:t> </a:t>
            </a:r>
            <a:r>
              <a:rPr lang="en-US" sz="26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s </a:t>
            </a:r>
            <a:r>
              <a:rPr lang="en-US" sz="2600" dirty="0">
                <a:solidFill>
                  <a:srgbClr val="00B050"/>
                </a:solidFill>
                <a:sym typeface="Symbol" pitchFamily="18" charset="2"/>
              </a:rPr>
              <a:t> t</a:t>
            </a:r>
            <a:r>
              <a:rPr lang="en-US" sz="2600" dirty="0">
                <a:sym typeface="Symbol" pitchFamily="18" charset="2"/>
              </a:rPr>
              <a:t>, </a:t>
            </a:r>
            <a:r>
              <a:rPr lang="en-US" sz="2600" dirty="0">
                <a:solidFill>
                  <a:srgbClr val="0000FF"/>
                </a:solidFill>
                <a:sym typeface="Symbol" pitchFamily="18" charset="2"/>
              </a:rPr>
              <a:t>s</a:t>
            </a:r>
            <a:r>
              <a:rPr lang="en-US" sz="2600" dirty="0">
                <a:sym typeface="Symbol" pitchFamily="18" charset="2"/>
              </a:rPr>
              <a:t> =&gt; </a:t>
            </a:r>
            <a:r>
              <a:rPr lang="en-US" sz="2600" b="1" dirty="0">
                <a:solidFill>
                  <a:srgbClr val="FFCCCC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600" b="1" dirty="0">
                <a:solidFill>
                  <a:srgbClr val="FFCCCC"/>
                </a:solidFill>
                <a:sym typeface="Symbol" pitchFamily="18" charset="2"/>
              </a:rPr>
              <a:t>  t</a:t>
            </a:r>
            <a:r>
              <a:rPr lang="en-US" sz="2800" b="1" dirty="0">
                <a:solidFill>
                  <a:srgbClr val="7030A0"/>
                </a:solidFill>
                <a:sym typeface="Symbol" pitchFamily="18" charset="2"/>
              </a:rPr>
              <a:t> 	</a:t>
            </a:r>
            <a:r>
              <a:rPr lang="en-US" sz="1800" dirty="0">
                <a:sym typeface="Symbol" pitchFamily="18" charset="2"/>
              </a:rPr>
              <a:t>//Giao </a:t>
            </a:r>
            <a:r>
              <a:rPr lang="en-US" sz="1800" dirty="0" err="1">
                <a:sym typeface="Symbol" pitchFamily="18" charset="2"/>
              </a:rPr>
              <a:t>hoán+Kết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hợp+Khẳng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định</a:t>
            </a:r>
            <a:endParaRPr lang="en-US" sz="1800" dirty="0">
              <a:sym typeface="Symbol" pitchFamily="18" charset="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FFCCCC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600" dirty="0">
                <a:solidFill>
                  <a:srgbClr val="FFCCCC"/>
                </a:solidFill>
                <a:sym typeface="Symbol" pitchFamily="18" charset="2"/>
              </a:rPr>
              <a:t>  t</a:t>
            </a:r>
            <a:r>
              <a:rPr lang="en-US" sz="2600" dirty="0">
                <a:sym typeface="Symbol" pitchFamily="18" charset="2"/>
              </a:rPr>
              <a:t>, </a:t>
            </a:r>
            <a:r>
              <a:rPr lang="en-US" sz="2600" dirty="0">
                <a:solidFill>
                  <a:srgbClr val="00B050"/>
                </a:solidFill>
                <a:sym typeface="Symbol" pitchFamily="18" charset="2"/>
              </a:rPr>
              <a:t>r</a:t>
            </a:r>
            <a:r>
              <a:rPr lang="en-US" sz="2600" dirty="0">
                <a:sym typeface="Symbol" pitchFamily="18" charset="2"/>
              </a:rPr>
              <a:t> = &gt; </a:t>
            </a:r>
            <a:r>
              <a:rPr lang="en-US" sz="2600" b="1" dirty="0">
                <a:solidFill>
                  <a:srgbClr val="0070C0"/>
                </a:solidFill>
                <a:sym typeface="Symbol" pitchFamily="18" charset="2"/>
              </a:rPr>
              <a:t>t		</a:t>
            </a:r>
            <a:r>
              <a:rPr lang="en-US" sz="1800" dirty="0">
                <a:sym typeface="Symbol" pitchFamily="18" charset="2"/>
              </a:rPr>
              <a:t>//</a:t>
            </a:r>
            <a:r>
              <a:rPr lang="en-US" sz="1800" dirty="0" err="1">
                <a:sym typeface="Symbol" pitchFamily="18" charset="2"/>
              </a:rPr>
              <a:t>Khẳng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dirty="0" err="1">
                <a:sym typeface="Symbol" pitchFamily="18" charset="2"/>
              </a:rPr>
              <a:t>định</a:t>
            </a:r>
            <a:endParaRPr lang="en-US" b="1" dirty="0">
              <a:solidFill>
                <a:srgbClr val="0070C0"/>
              </a:solidFill>
              <a:sym typeface="Symbol" pitchFamily="18" charset="2"/>
            </a:endParaRPr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r>
              <a:rPr lang="en-US" sz="2600" dirty="0">
                <a:solidFill>
                  <a:srgbClr val="0070C0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600" dirty="0">
                <a:solidFill>
                  <a:srgbClr val="0070C0"/>
                </a:solidFill>
                <a:sym typeface="Symbol" pitchFamily="18" charset="2"/>
              </a:rPr>
              <a:t>t, t </a:t>
            </a:r>
            <a:r>
              <a:rPr lang="en-US" sz="2600" dirty="0">
                <a:sym typeface="Symbol" pitchFamily="18" charset="2"/>
              </a:rPr>
              <a:t>=&gt; {} 			</a:t>
            </a:r>
            <a:r>
              <a:rPr lang="en-US" sz="1800" dirty="0">
                <a:sym typeface="Symbol" pitchFamily="18" charset="2"/>
              </a:rPr>
              <a:t>//PT </a:t>
            </a:r>
            <a:r>
              <a:rPr lang="en-US" sz="1800" dirty="0" err="1">
                <a:sym typeface="Symbol" pitchFamily="18" charset="2"/>
              </a:rPr>
              <a:t>bù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710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BE02-513B-E0C0-7DFC-AA627448015F}"/>
              </a:ext>
            </a:extLst>
          </p:cNvPr>
          <p:cNvSpPr txBox="1">
            <a:spLocks/>
          </p:cNvSpPr>
          <p:nvPr/>
        </p:nvSpPr>
        <p:spPr>
          <a:xfrm>
            <a:off x="304800" y="3429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r>
              <a:rPr lang="en-US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001C676-BFEB-C688-52D6-2EE609D884CE}"/>
              </a:ext>
            </a:extLst>
          </p:cNvPr>
          <p:cNvSpPr txBox="1">
            <a:spLocks noChangeArrowheads="1"/>
          </p:cNvSpPr>
          <p:nvPr/>
        </p:nvSpPr>
        <p:spPr>
          <a:xfrm>
            <a:off x="821355" y="1600200"/>
            <a:ext cx="9721516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Cho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tập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các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câu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sau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: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marL="0" indent="0" fontAlgn="auto">
              <a:spcBef>
                <a:spcPct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Chứng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minh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mệnh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đề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¬A ⋀ B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dùng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hợp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giải</a:t>
            </a: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A0EEDE-80CC-699F-BF61-BD72E482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09800"/>
            <a:ext cx="38227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5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3145-C399-7AFF-45B0-4F28D9F66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854E9-79BF-2A26-599F-0F43A193E4A4}"/>
              </a:ext>
            </a:extLst>
          </p:cNvPr>
          <p:cNvSpPr txBox="1">
            <a:spLocks/>
          </p:cNvSpPr>
          <p:nvPr/>
        </p:nvSpPr>
        <p:spPr>
          <a:xfrm>
            <a:off x="304800" y="3429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r>
              <a:rPr lang="en-US" dirty="0">
                <a:solidFill>
                  <a:srgbClr val="0070C0"/>
                </a:solidFill>
              </a:rPr>
              <a:t> 3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AAF25D-7947-565C-E9A1-256C2AE99A10}"/>
              </a:ext>
            </a:extLst>
          </p:cNvPr>
          <p:cNvSpPr txBox="1">
            <a:spLocks noChangeArrowheads="1"/>
          </p:cNvSpPr>
          <p:nvPr/>
        </p:nvSpPr>
        <p:spPr>
          <a:xfrm>
            <a:off x="821355" y="1600200"/>
            <a:ext cx="9721516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Bef>
                <a:spcPct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Cho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tập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các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câu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 </a:t>
            </a:r>
            <a:r>
              <a:rPr lang="en-US" dirty="0" err="1">
                <a:solidFill>
                  <a:srgbClr val="66CCFF"/>
                </a:solidFill>
                <a:sym typeface="Symbol" pitchFamily="18" charset="2"/>
              </a:rPr>
              <a:t>sau</a:t>
            </a:r>
            <a:r>
              <a:rPr lang="en-US" dirty="0">
                <a:solidFill>
                  <a:srgbClr val="66CCFF"/>
                </a:solidFill>
                <a:sym typeface="Symbol" pitchFamily="18" charset="2"/>
              </a:rPr>
              <a:t>:</a:t>
            </a: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  <a:p>
            <a:pPr fontAlgn="auto">
              <a:spcBef>
                <a:spcPct val="0"/>
              </a:spcBef>
              <a:spcAft>
                <a:spcPts val="0"/>
              </a:spcAft>
              <a:buFontTx/>
              <a:buAutoNum type="arabicPeriod"/>
            </a:pPr>
            <a:endParaRPr lang="en-US" dirty="0">
              <a:solidFill>
                <a:srgbClr val="66CCFF"/>
              </a:solidFill>
              <a:sym typeface="Symbol" pitchFamily="18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26F50E-DF6C-EE35-E364-F95DC23E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13" y="2133600"/>
            <a:ext cx="6781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6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12976"/>
            <a:ext cx="8229600" cy="68262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Cây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139825"/>
            <a:ext cx="11049000" cy="175577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toán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hợp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cây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ra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thiết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eaLnBrk="1" hangingPunct="1">
              <a:buNone/>
            </a:pP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Chẳng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hạn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sang CNF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q,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r,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t, p , 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828800" y="2971800"/>
            <a:ext cx="2286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q,    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76800" y="2971800"/>
            <a:ext cx="16764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r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t,    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t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 rot="5400000">
            <a:off x="2286000" y="3733800"/>
            <a:ext cx="838200" cy="76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 rot="5400000">
            <a:off x="2781300" y="3543300"/>
            <a:ext cx="762000" cy="533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209800" y="4191000"/>
            <a:ext cx="10668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 rot="5400000">
            <a:off x="5105400" y="3657600"/>
            <a:ext cx="838200" cy="228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 rot="5400000">
            <a:off x="5524500" y="3467100"/>
            <a:ext cx="8382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5181600" y="41910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>
            <a:cxnSpLocks noChangeShapeType="1"/>
            <a:stCxn id="11" idx="2"/>
          </p:cNvCxnSpPr>
          <p:nvPr/>
        </p:nvCxnSpPr>
        <p:spPr bwMode="auto">
          <a:xfrm>
            <a:off x="2743200" y="4648200"/>
            <a:ext cx="381002" cy="83820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/>
          <p:cNvCxnSpPr>
            <a:cxnSpLocks noChangeShapeType="1"/>
            <a:stCxn id="16" idx="2"/>
            <a:endCxn id="18" idx="0"/>
          </p:cNvCxnSpPr>
          <p:nvPr/>
        </p:nvCxnSpPr>
        <p:spPr bwMode="auto">
          <a:xfrm flipH="1">
            <a:off x="3124200" y="4648200"/>
            <a:ext cx="2438400" cy="838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2590800" y="5486400"/>
            <a:ext cx="10668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 </a:t>
            </a: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7543800" y="29718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p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>
            <a:cxnSpLocks noChangeShapeType="1"/>
            <a:endCxn id="30" idx="3"/>
          </p:cNvCxnSpPr>
          <p:nvPr/>
        </p:nvCxnSpPr>
        <p:spPr bwMode="auto">
          <a:xfrm flipH="1">
            <a:off x="5638800" y="3429000"/>
            <a:ext cx="2438400" cy="2133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/>
          <p:cNvCxnSpPr>
            <a:cxnSpLocks noChangeShapeType="1"/>
            <a:stCxn id="18" idx="3"/>
            <a:endCxn id="30" idx="1"/>
          </p:cNvCxnSpPr>
          <p:nvPr/>
        </p:nvCxnSpPr>
        <p:spPr bwMode="auto">
          <a:xfrm flipV="1">
            <a:off x="3657600" y="5562600"/>
            <a:ext cx="1219200" cy="152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4876800" y="53340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{}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animBg="1"/>
      <p:bldP spid="11" grpId="0" animBg="1"/>
      <p:bldP spid="16" grpId="0" animBg="1"/>
      <p:bldP spid="18" grpId="0" animBg="1"/>
      <p:bldP spid="25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76201"/>
            <a:ext cx="8229600" cy="682625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tập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Cây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676400" y="1905000"/>
            <a:ext cx="22098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q,    q 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191000" y="1905000"/>
            <a:ext cx="18288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q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 r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 s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2209800" y="2362201"/>
            <a:ext cx="381000" cy="60960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 flipH="1">
            <a:off x="2895600" y="2362201"/>
            <a:ext cx="457200" cy="60960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209800" y="2971801"/>
            <a:ext cx="10668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cxnSpLocks noChangeShapeType="1"/>
            <a:endCxn id="16" idx="0"/>
          </p:cNvCxnSpPr>
          <p:nvPr/>
        </p:nvCxnSpPr>
        <p:spPr bwMode="auto">
          <a:xfrm flipH="1">
            <a:off x="4838700" y="2364470"/>
            <a:ext cx="114300" cy="75973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229100" y="3124200"/>
            <a:ext cx="12192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q  s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>
            <a:off x="3276600" y="3200402"/>
            <a:ext cx="952500" cy="15239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6"/>
          <p:cNvCxnSpPr>
            <a:cxnSpLocks noChangeShapeType="1"/>
            <a:stCxn id="16" idx="3"/>
            <a:endCxn id="18" idx="1"/>
          </p:cNvCxnSpPr>
          <p:nvPr/>
        </p:nvCxnSpPr>
        <p:spPr bwMode="auto">
          <a:xfrm>
            <a:off x="5448300" y="3352800"/>
            <a:ext cx="952500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6400800" y="3124200"/>
            <a:ext cx="5334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6324600" y="19050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q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Straight Arrow Connector 25"/>
          <p:cNvCxnSpPr>
            <a:cxnSpLocks noChangeShapeType="1"/>
            <a:stCxn id="25" idx="2"/>
          </p:cNvCxnSpPr>
          <p:nvPr/>
        </p:nvCxnSpPr>
        <p:spPr bwMode="auto">
          <a:xfrm flipH="1">
            <a:off x="6667500" y="2362200"/>
            <a:ext cx="38100" cy="83820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/>
          <p:cNvCxnSpPr>
            <a:cxnSpLocks noChangeShapeType="1"/>
            <a:stCxn id="11" idx="2"/>
            <a:endCxn id="56" idx="1"/>
          </p:cNvCxnSpPr>
          <p:nvPr/>
        </p:nvCxnSpPr>
        <p:spPr bwMode="auto">
          <a:xfrm>
            <a:off x="2743200" y="3429002"/>
            <a:ext cx="4343400" cy="1828799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8915400" y="3723023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{}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838201"/>
            <a:ext cx="10820400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=&gt;{r 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s,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 r 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q,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p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 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q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 r,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 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r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 s,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 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s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 t, p, q,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t}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 bwMode="auto">
          <a:xfrm>
            <a:off x="7315200" y="1905000"/>
            <a:ext cx="16002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>
            <a:defPPr>
              <a:defRPr lang="en-US"/>
            </a:defPPr>
            <a:lvl1pPr algn="ctr">
              <a:spcBef>
                <a:spcPct val="20000"/>
              </a:spcBef>
              <a:defRPr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>
                <a:sym typeface="Symbol" pitchFamily="18" charset="2"/>
              </a:rPr>
              <a:t>r  s  t</a:t>
            </a:r>
            <a:endParaRPr lang="en-US" dirty="0"/>
          </a:p>
          <a:p>
            <a:endParaRPr lang="en-US" dirty="0"/>
          </a:p>
        </p:txBody>
      </p: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7173058" y="3714892"/>
            <a:ext cx="9906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>
                <a:sym typeface="Symbol" pitchFamily="18" charset="2"/>
              </a:rPr>
              <a:t>r  t</a:t>
            </a:r>
            <a:endParaRPr lang="en-US" sz="2400"/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>
            <a:cxnSpLocks noChangeShapeType="1"/>
            <a:stCxn id="39" idx="2"/>
            <a:endCxn id="41" idx="0"/>
          </p:cNvCxnSpPr>
          <p:nvPr/>
        </p:nvCxnSpPr>
        <p:spPr bwMode="auto">
          <a:xfrm flipH="1">
            <a:off x="7668358" y="2362200"/>
            <a:ext cx="446942" cy="135269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42"/>
          <p:cNvCxnSpPr>
            <a:cxnSpLocks noChangeShapeType="1"/>
            <a:stCxn id="18" idx="3"/>
          </p:cNvCxnSpPr>
          <p:nvPr/>
        </p:nvCxnSpPr>
        <p:spPr bwMode="auto">
          <a:xfrm>
            <a:off x="6934200" y="3352800"/>
            <a:ext cx="457200" cy="36209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Rectangle 3"/>
          <p:cNvSpPr txBox="1">
            <a:spLocks noChangeArrowheads="1"/>
          </p:cNvSpPr>
          <p:nvPr/>
        </p:nvSpPr>
        <p:spPr bwMode="auto">
          <a:xfrm>
            <a:off x="7086600" y="50292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 flipH="1">
            <a:off x="7543801" y="4172092"/>
            <a:ext cx="48359" cy="85710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Rectangle 3"/>
          <p:cNvSpPr txBox="1">
            <a:spLocks noChangeArrowheads="1"/>
          </p:cNvSpPr>
          <p:nvPr/>
        </p:nvSpPr>
        <p:spPr bwMode="auto">
          <a:xfrm>
            <a:off x="9296400" y="1905000"/>
            <a:ext cx="762000" cy="457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>
              <a:spcBef>
                <a:spcPct val="20000"/>
              </a:spcBef>
              <a:defRPr/>
            </a:pPr>
            <a:r>
              <a:rPr lang="en-US" sz="2400">
                <a:sym typeface="Symbol" pitchFamily="18" charset="2"/>
              </a:rPr>
              <a:t></a:t>
            </a:r>
            <a:r>
              <a:rPr lang="en-US" sz="2400" ker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4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ct val="20000"/>
              </a:spcBef>
              <a:defRPr/>
            </a:pPr>
            <a:endParaRPr lang="en-US" sz="2800" kern="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0" name="Straight Arrow Connector 69"/>
          <p:cNvCxnSpPr>
            <a:cxnSpLocks noChangeShapeType="1"/>
          </p:cNvCxnSpPr>
          <p:nvPr/>
        </p:nvCxnSpPr>
        <p:spPr bwMode="auto">
          <a:xfrm flipH="1">
            <a:off x="9230458" y="2364469"/>
            <a:ext cx="446942" cy="135269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Straight Arrow Connector 70"/>
          <p:cNvCxnSpPr>
            <a:cxnSpLocks noChangeShapeType="1"/>
            <a:endCxn id="30" idx="2"/>
          </p:cNvCxnSpPr>
          <p:nvPr/>
        </p:nvCxnSpPr>
        <p:spPr bwMode="auto">
          <a:xfrm flipV="1">
            <a:off x="7837612" y="4180224"/>
            <a:ext cx="1458789" cy="107757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4754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6" grpId="0" animBg="1"/>
      <p:bldP spid="18" grpId="0" animBg="1"/>
      <p:bldP spid="25" grpId="0" animBg="1"/>
      <p:bldP spid="30" grpId="0" animBg="1"/>
      <p:bldP spid="39" grpId="0" animBg="1"/>
      <p:bldP spid="41" grpId="0" animBg="1"/>
      <p:bldP spid="56" grpId="0" animBg="1"/>
      <p:bldP spid="6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184981"/>
            <a:ext cx="8229600" cy="9112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Hợp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tuyến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tính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096206"/>
            <a:ext cx="10896600" cy="4542594"/>
          </a:xfrm>
        </p:spPr>
        <p:txBody>
          <a:bodyPr/>
          <a:lstStyle/>
          <a:p>
            <a:pPr marL="400050" indent="-400050" algn="just">
              <a:lnSpc>
                <a:spcPct val="110000"/>
              </a:lnSpc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chính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hợp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(HGTT) ở 2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vấn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400050" indent="-400050" algn="just">
              <a:lnSpc>
                <a:spcPct val="110000"/>
              </a:lnSpc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HGTT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luôn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sang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 (Knowledge Base).</a:t>
            </a:r>
          </a:p>
          <a:p>
            <a:pPr marL="400050" indent="-400050" algn="just" eaLnBrk="1" hangingPunct="1">
              <a:lnSpc>
                <a:spcPct val="110000"/>
              </a:lnSpc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HGTT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quả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3b)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“hợp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quay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áp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nhất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00050" indent="-400050" algn="just" eaLnBrk="1" hangingPunct="1">
              <a:lnSpc>
                <a:spcPct val="110000"/>
              </a:lnSpc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HGTT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gũi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niệm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đệ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qui quay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93AC1B-BEEE-14FC-FE1C-3B2E4CDF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4006"/>
            <a:ext cx="12192000" cy="5507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16832"/>
            <a:ext cx="8229600" cy="941388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HGTT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217094" name="Content Placeholder 19"/>
          <p:cNvSpPr>
            <a:spLocks noGrp="1"/>
          </p:cNvSpPr>
          <p:nvPr>
            <p:ph idx="4294967295"/>
          </p:nvPr>
        </p:nvSpPr>
        <p:spPr>
          <a:xfrm>
            <a:off x="762000" y="4286880"/>
            <a:ext cx="8001000" cy="685800"/>
          </a:xfrm>
          <a:solidFill>
            <a:srgbClr val="FFFF00"/>
          </a:solidFill>
          <a:ln>
            <a:solidFill>
              <a:srgbClr val="FF0000"/>
            </a:solidFill>
          </a:ln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>
                <a:cs typeface="Times New Roman" pitchFamily="18" charset="0"/>
                <a:sym typeface="Symbol" pitchFamily="18" charset="2"/>
              </a:rPr>
              <a:t>{p  r, q  r,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r  s, s  t, t, p  q}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90BC0-ED4E-48E4-8F87-986D835EB683}"/>
              </a:ext>
            </a:extLst>
          </p:cNvPr>
          <p:cNvSpPr txBox="1"/>
          <p:nvPr/>
        </p:nvSpPr>
        <p:spPr>
          <a:xfrm>
            <a:off x="791308" y="1386980"/>
            <a:ext cx="796290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Phát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biểu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sau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đúng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 hay 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sai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?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[(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</a:rPr>
              <a:t>p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qr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rs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st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 </a:t>
            </a:r>
            <a:r>
              <a:rPr lang="en-US" sz="28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t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</a:rPr>
              <a:t>]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[(</a:t>
            </a:r>
            <a:r>
              <a:rPr lang="en-US" sz="2800" b="1" dirty="0" err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pq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)]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667001"/>
            <a:ext cx="883040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[[(p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q)  r] 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(r  s) 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(s  t) 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t]  (p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q)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377881"/>
            <a:ext cx="98679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[(p  r)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(q  r)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(r  s) 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(s  t) 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t]  (p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sym typeface="Symbol" pitchFamily="18" charset="2"/>
              </a:rPr>
              <a:t> </a:t>
            </a:r>
            <a:r>
              <a:rPr lang="en-US" sz="3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q)</a:t>
            </a:r>
            <a:endParaRPr lang="en-US" sz="30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A65D88-3C07-ADA9-3F9D-7CE9513A5DCD}"/>
              </a:ext>
            </a:extLst>
          </p:cNvPr>
          <p:cNvGrpSpPr/>
          <p:nvPr/>
        </p:nvGrpSpPr>
        <p:grpSpPr>
          <a:xfrm>
            <a:off x="1524000" y="3810000"/>
            <a:ext cx="7912754" cy="581340"/>
            <a:chOff x="1524000" y="3810000"/>
            <a:chExt cx="7912754" cy="5813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E85089EF-96C2-63FB-6A26-705A5F3CE618}"/>
                </a:ext>
              </a:extLst>
            </p:cNvPr>
            <p:cNvCxnSpPr/>
            <p:nvPr/>
          </p:nvCxnSpPr>
          <p:spPr>
            <a:xfrm>
              <a:off x="1524000" y="3931879"/>
              <a:ext cx="0" cy="3550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A3BEBAA-143A-3318-7732-C72FFE75F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7000" y="3810000"/>
              <a:ext cx="457200" cy="476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BF913AA-38CE-DB61-9A01-7C23A67E0A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86200" y="3870940"/>
              <a:ext cx="876300" cy="4159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5D350E-B629-EA04-8AE1-C0DE1FDEE3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8251" y="3810000"/>
              <a:ext cx="1476934" cy="476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14C9474-D374-BD0C-659D-D44C80A2AA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3810000"/>
              <a:ext cx="1776692" cy="476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0295507-D540-E519-4DA6-51A125FDE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4346" y="3891569"/>
              <a:ext cx="2452408" cy="499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4" grpId="0" uiExpand="1" build="p" animBg="1"/>
      <p:bldP spid="3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44450"/>
            <a:ext cx="8229600" cy="941388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HGTT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218118" name="Content Placeholder 19"/>
          <p:cNvSpPr>
            <a:spLocks noGrp="1"/>
          </p:cNvSpPr>
          <p:nvPr>
            <p:ph idx="4294967295"/>
          </p:nvPr>
        </p:nvSpPr>
        <p:spPr>
          <a:xfrm>
            <a:off x="914400" y="1600200"/>
            <a:ext cx="9829800" cy="46482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  <a:sym typeface="Symbol" pitchFamily="18" charset="2"/>
              </a:rPr>
              <a:t>{p  r, 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q  r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,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r  s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, 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s  t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, </a:t>
            </a:r>
            <a:r>
              <a:rPr lang="en-US" sz="2800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t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, 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p  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  <a:sym typeface="Symbol" pitchFamily="18" charset="2"/>
              </a:rPr>
              <a:t>p  q, q  r =&gt; </a:t>
            </a:r>
            <a:r>
              <a:rPr lang="en-US" sz="28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p  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  <a:sym typeface="Symbol" pitchFamily="18" charset="2"/>
              </a:rPr>
              <a:t>p  r, r  s =&gt; 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p  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  <a:sym typeface="Symbol" pitchFamily="18" charset="2"/>
              </a:rPr>
              <a:t>p  s, s  t =&gt; </a:t>
            </a:r>
            <a:r>
              <a:rPr lang="en-US" sz="2800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p  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800" dirty="0">
                <a:cs typeface="Times New Roman" pitchFamily="18" charset="0"/>
                <a:sym typeface="Symbol" pitchFamily="18" charset="2"/>
              </a:rPr>
              <a:t>p  t, t =&gt;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cs typeface="Times New Roman" pitchFamily="18" charset="0"/>
                <a:sym typeface="Symbol" pitchFamily="18" charset="2"/>
              </a:rPr>
              <a:t>p</a:t>
            </a:r>
            <a:endParaRPr lang="en-US" sz="2800" b="1" dirty="0">
              <a:solidFill>
                <a:srgbClr val="C00000"/>
              </a:solidFill>
              <a:highlight>
                <a:srgbClr val="FFFF00"/>
              </a:highlight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Symbol" panose="05050102010706020507" pitchFamily="18" charset="2"/>
              <a:buChar char="Þ"/>
            </a:pP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Thất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bại</a:t>
            </a:r>
            <a:endParaRPr lang="en-US" sz="2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  <a:sym typeface="Symbol" pitchFamily="18" charset="2"/>
            </a:endParaRPr>
          </a:p>
          <a:p>
            <a:pPr eaLnBrk="1" hangingPunct="1">
              <a:buFont typeface="Symbol" panose="05050102010706020507" pitchFamily="18" charset="2"/>
              <a:buChar char="Þ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Quay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lui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các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con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đường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khác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đều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thất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bại</a:t>
            </a:r>
            <a:endParaRPr lang="en-US" sz="2800" dirty="0">
              <a:solidFill>
                <a:schemeClr val="accent1">
                  <a:lumMod val="75000"/>
                </a:schemeClr>
              </a:solidFill>
              <a:cs typeface="Times New Roman" pitchFamily="18" charset="0"/>
              <a:sym typeface="Symbol" pitchFamily="18" charset="2"/>
            </a:endParaRPr>
          </a:p>
          <a:p>
            <a:pPr marL="0" indent="0" eaLnBrk="1" hangingPunct="1">
              <a:buNone/>
            </a:pP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Vậy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phát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trên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là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sai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  <a:sym typeface="Symbol" pitchFamily="18" charset="2"/>
              </a:rPr>
              <a:t>!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85838"/>
            <a:ext cx="6629400" cy="53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44814" y="1676400"/>
            <a:ext cx="1143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596206"/>
            <a:ext cx="8229600" cy="941388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HGTT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7D3DD-B8F7-4BC5-99EF-5A113D85012B}"/>
              </a:ext>
            </a:extLst>
          </p:cNvPr>
          <p:cNvSpPr txBox="1"/>
          <p:nvPr/>
        </p:nvSpPr>
        <p:spPr>
          <a:xfrm>
            <a:off x="4724400" y="729734"/>
            <a:ext cx="7239000" cy="1077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3200" dirty="0">
                <a:solidFill>
                  <a:srgbClr val="FF0000"/>
                </a:solidFill>
              </a:rPr>
              <a:t>Cho </a:t>
            </a:r>
            <a:r>
              <a:rPr lang="en-US" sz="3200" dirty="0" err="1">
                <a:solidFill>
                  <a:srgbClr val="FF0000"/>
                </a:solidFill>
              </a:rPr>
              <a:t>biết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suy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luận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sau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đúng</a:t>
            </a:r>
            <a:r>
              <a:rPr lang="en-US" sz="3200" dirty="0">
                <a:solidFill>
                  <a:srgbClr val="FF0000"/>
                </a:solidFill>
              </a:rPr>
              <a:t> hay </a:t>
            </a:r>
            <a:r>
              <a:rPr lang="en-US" sz="3200" dirty="0" err="1">
                <a:solidFill>
                  <a:srgbClr val="FF0000"/>
                </a:solidFill>
              </a:rPr>
              <a:t>sai</a:t>
            </a:r>
            <a:r>
              <a:rPr lang="en-US" sz="3200" dirty="0">
                <a:solidFill>
                  <a:srgbClr val="FF0000"/>
                </a:solidFill>
              </a:rPr>
              <a:t>?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3200" b="1" dirty="0">
                <a:solidFill>
                  <a:srgbClr val="FF0000"/>
                </a:solidFill>
              </a:rPr>
              <a:t>[(p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q)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3200" b="1" dirty="0">
                <a:solidFill>
                  <a:srgbClr val="FF0000"/>
                </a:solidFill>
              </a:rPr>
              <a:t> (q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r)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</a:t>
            </a:r>
            <a:r>
              <a:rPr lang="en-US" sz="3200" b="1" dirty="0">
                <a:solidFill>
                  <a:srgbClr val="FF0000"/>
                </a:solidFill>
              </a:rPr>
              <a:t> (r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t )]</a:t>
            </a:r>
            <a:r>
              <a:rPr lang="vi-VN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(p </a:t>
            </a:r>
            <a:r>
              <a:rPr lang="en-US" sz="32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3200" b="1" dirty="0">
                <a:solidFill>
                  <a:srgbClr val="FF0000"/>
                </a:solidFill>
              </a:rPr>
              <a:t> 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7D3DD-B8F7-4BC5-99EF-5A113D85012B}"/>
              </a:ext>
            </a:extLst>
          </p:cNvPr>
          <p:cNvSpPr txBox="1"/>
          <p:nvPr/>
        </p:nvSpPr>
        <p:spPr>
          <a:xfrm>
            <a:off x="1066800" y="1889220"/>
            <a:ext cx="8686800" cy="18158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[(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q)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/>
              <a:t> (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 dirty="0"/>
              <a:t> r) </a:t>
            </a:r>
            <a:r>
              <a:rPr lang="en-US" sz="2800" dirty="0">
                <a:sym typeface="Symbol" pitchFamily="18" charset="2"/>
              </a:rPr>
              <a:t></a:t>
            </a:r>
            <a:r>
              <a:rPr lang="en-US" sz="2800" dirty="0"/>
              <a:t> (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r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 )]</a:t>
            </a:r>
            <a:r>
              <a:rPr lang="vi-VN" sz="2800" dirty="0"/>
              <a:t> </a:t>
            </a:r>
            <a:r>
              <a:rPr lang="en-US" sz="2800" dirty="0">
                <a:sym typeface="Symbol" pitchFamily="18" charset="2"/>
              </a:rPr>
              <a:t></a:t>
            </a:r>
            <a:r>
              <a:rPr lang="en-US" sz="2800" dirty="0"/>
              <a:t> (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t)</a:t>
            </a:r>
          </a:p>
          <a:p>
            <a:pPr marL="457200" indent="-457200" algn="just">
              <a:buFont typeface="Symbol"/>
              <a:buChar char="Ø"/>
            </a:pP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q</a:t>
            </a:r>
            <a:r>
              <a:rPr lang="en-US" sz="2800" dirty="0">
                <a:sym typeface="Symbol" pitchFamily="18" charset="2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 dirty="0"/>
              <a:t> r,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r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 </a:t>
            </a:r>
            <a:r>
              <a:rPr lang="en-US" sz="2800" dirty="0">
                <a:sym typeface="Symbol" pitchFamily="18" charset="2"/>
              </a:rPr>
              <a:t>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</a:t>
            </a:r>
          </a:p>
          <a:p>
            <a:pPr algn="just"/>
            <a:r>
              <a:rPr lang="en-US" sz="2800" dirty="0">
                <a:cs typeface="Times New Roman" pitchFamily="18" charset="0"/>
                <a:sym typeface="Symbol" pitchFamily="18" charset="2"/>
              </a:rPr>
              <a:t>{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q</a:t>
            </a:r>
            <a:r>
              <a:rPr lang="en-US" sz="2800" dirty="0">
                <a:sym typeface="Symbol" pitchFamily="18" charset="2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 dirty="0"/>
              <a:t> r,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r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 ,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(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t)}</a:t>
            </a:r>
          </a:p>
          <a:p>
            <a:pPr algn="just"/>
            <a:r>
              <a:rPr lang="en-US" sz="2800" dirty="0">
                <a:cs typeface="Times New Roman" pitchFamily="18" charset="0"/>
                <a:sym typeface="Symbol" pitchFamily="18" charset="2"/>
              </a:rPr>
              <a:t>{ </a:t>
            </a:r>
            <a:r>
              <a:rPr lang="en-US" sz="2800" dirty="0"/>
              <a:t>p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q</a:t>
            </a:r>
            <a:r>
              <a:rPr lang="en-US" sz="2800" dirty="0">
                <a:sym typeface="Symbol" pitchFamily="18" charset="2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q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 dirty="0"/>
              <a:t> r,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r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/>
              <a:t> t , p, 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/>
              <a:t>t}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5706518"/>
            <a:ext cx="19992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>
                <a:solidFill>
                  <a:srgbClr val="7030A0"/>
                </a:solidFill>
              </a:rPr>
              <a:t>p, p </a:t>
            </a:r>
            <a:r>
              <a:rPr lang="en-US" sz="2800" dirty="0"/>
              <a:t>=&gt;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{}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872" y="4311185"/>
            <a:ext cx="29113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r 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FF0000"/>
                </a:solidFill>
              </a:rPr>
              <a:t> t,</a:t>
            </a:r>
            <a:r>
              <a:rPr lang="en-US" sz="28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 </a:t>
            </a:r>
            <a:r>
              <a:rPr lang="en-US" sz="2800" dirty="0">
                <a:solidFill>
                  <a:srgbClr val="FF0000"/>
                </a:solidFill>
              </a:rPr>
              <a:t>t </a:t>
            </a:r>
            <a:r>
              <a:rPr lang="en-US" sz="2800" dirty="0"/>
              <a:t>=&gt;</a:t>
            </a:r>
            <a:r>
              <a:rPr lang="en-US" sz="2800" dirty="0"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>
                <a:solidFill>
                  <a:srgbClr val="0000FF"/>
                </a:solidFill>
              </a:rPr>
              <a:t>r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6799" y="4792118"/>
            <a:ext cx="30573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00FF"/>
                </a:solidFill>
              </a:rPr>
              <a:t>q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>
                <a:solidFill>
                  <a:srgbClr val="0000FF"/>
                </a:solidFill>
              </a:rPr>
              <a:t> r, 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00FF"/>
                </a:solidFill>
              </a:rPr>
              <a:t>r </a:t>
            </a:r>
            <a:r>
              <a:rPr lang="en-US" sz="2800"/>
              <a:t>=&gt; 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B050"/>
                </a:solidFill>
              </a:rPr>
              <a:t>q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 </a:t>
            </a:r>
            <a:endParaRPr lang="en-US" sz="280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66800" y="5249318"/>
            <a:ext cx="3190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B050"/>
                </a:solidFill>
              </a:rPr>
              <a:t>p 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>
                <a:solidFill>
                  <a:srgbClr val="00B050"/>
                </a:solidFill>
              </a:rPr>
              <a:t> q, 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B050"/>
                </a:solidFill>
              </a:rPr>
              <a:t>q</a:t>
            </a:r>
            <a:r>
              <a:rPr lang="en-US" sz="2800">
                <a:cs typeface="Times New Roman" pitchFamily="18" charset="0"/>
                <a:sym typeface="Symbol" pitchFamily="18" charset="2"/>
              </a:rPr>
              <a:t> =&gt; </a:t>
            </a:r>
            <a:r>
              <a:rPr lang="en-US" sz="2800">
                <a:solidFill>
                  <a:srgbClr val="7030A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7030A0"/>
                </a:solidFill>
              </a:rPr>
              <a:t>p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873" y="3725318"/>
            <a:ext cx="5128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>
                <a:cs typeface="Times New Roman" pitchFamily="18" charset="0"/>
                <a:sym typeface="Symbol" pitchFamily="18" charset="2"/>
              </a:rPr>
              <a:t>{ </a:t>
            </a:r>
            <a:r>
              <a:rPr lang="en-US" sz="2800"/>
              <a:t>p </a:t>
            </a:r>
            <a:r>
              <a:rPr lang="en-US" sz="280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/>
              <a:t> q</a:t>
            </a:r>
            <a:r>
              <a:rPr lang="en-US" sz="2800">
                <a:sym typeface="Symbol" pitchFamily="18" charset="2"/>
              </a:rPr>
              <a:t>,</a:t>
            </a:r>
            <a:r>
              <a:rPr lang="en-US" sz="2800"/>
              <a:t> </a:t>
            </a:r>
            <a:r>
              <a:rPr lang="en-US" sz="2800"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/>
              <a:t>q</a:t>
            </a:r>
            <a:r>
              <a:rPr lang="en-US" sz="2800"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/>
              <a:t> r,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r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>
                <a:solidFill>
                  <a:srgbClr val="FF0000"/>
                </a:solidFill>
              </a:rPr>
              <a:t> t </a:t>
            </a:r>
            <a:r>
              <a:rPr lang="en-US" sz="2800"/>
              <a:t>, p,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t</a:t>
            </a:r>
            <a:r>
              <a:rPr lang="en-US" sz="2800"/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3873" y="3729636"/>
            <a:ext cx="5128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>
                <a:cs typeface="Times New Roman" pitchFamily="18" charset="0"/>
                <a:sym typeface="Symbol" pitchFamily="18" charset="2"/>
              </a:rPr>
              <a:t>{ </a:t>
            </a:r>
            <a:r>
              <a:rPr lang="en-US" sz="2800"/>
              <a:t>p </a:t>
            </a:r>
            <a:r>
              <a:rPr lang="en-US" sz="280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/>
              <a:t> q</a:t>
            </a:r>
            <a:r>
              <a:rPr lang="en-US" sz="2800">
                <a:sym typeface="Symbol" pitchFamily="18" charset="2"/>
              </a:rPr>
              <a:t>,</a:t>
            </a:r>
            <a:r>
              <a:rPr lang="en-US" sz="2800"/>
              <a:t> 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00FF"/>
                </a:solidFill>
              </a:rPr>
              <a:t>q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>
                <a:solidFill>
                  <a:srgbClr val="0000FF"/>
                </a:solidFill>
              </a:rPr>
              <a:t> r</a:t>
            </a:r>
            <a:r>
              <a:rPr lang="en-US" sz="2800"/>
              <a:t>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r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>
                <a:solidFill>
                  <a:srgbClr val="FF0000"/>
                </a:solidFill>
              </a:rPr>
              <a:t> t </a:t>
            </a:r>
            <a:r>
              <a:rPr lang="en-US" sz="2800"/>
              <a:t>, p,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t</a:t>
            </a:r>
            <a:r>
              <a:rPr lang="en-US" sz="2800"/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3873" y="3735498"/>
            <a:ext cx="5128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>
                <a:cs typeface="Times New Roman" pitchFamily="18" charset="0"/>
                <a:sym typeface="Symbol" pitchFamily="18" charset="2"/>
              </a:rPr>
              <a:t>{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B050"/>
                </a:solidFill>
              </a:rPr>
              <a:t>p </a:t>
            </a:r>
            <a:r>
              <a:rPr lang="en-US" sz="280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>
                <a:solidFill>
                  <a:srgbClr val="00B050"/>
                </a:solidFill>
              </a:rPr>
              <a:t> q</a:t>
            </a:r>
            <a:r>
              <a:rPr lang="en-US" sz="2800">
                <a:sym typeface="Symbol" pitchFamily="18" charset="2"/>
              </a:rPr>
              <a:t>,</a:t>
            </a:r>
            <a:r>
              <a:rPr lang="en-US" sz="2800"/>
              <a:t> 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>
                <a:solidFill>
                  <a:srgbClr val="0000FF"/>
                </a:solidFill>
              </a:rPr>
              <a:t>q</a:t>
            </a:r>
            <a:r>
              <a:rPr lang="en-US" sz="280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>
                <a:solidFill>
                  <a:srgbClr val="0000FF"/>
                </a:solidFill>
              </a:rPr>
              <a:t> r</a:t>
            </a:r>
            <a:r>
              <a:rPr lang="en-US" sz="2800"/>
              <a:t>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r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>
                <a:solidFill>
                  <a:srgbClr val="FF0000"/>
                </a:solidFill>
              </a:rPr>
              <a:t> t </a:t>
            </a:r>
            <a:r>
              <a:rPr lang="en-US" sz="2800"/>
              <a:t>, p, </a:t>
            </a:r>
            <a:r>
              <a:rPr lang="en-US" sz="2800" b="1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>
                <a:solidFill>
                  <a:srgbClr val="FF0000"/>
                </a:solidFill>
              </a:rPr>
              <a:t>t</a:t>
            </a:r>
            <a:r>
              <a:rPr lang="en-US" sz="2800"/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873" y="3725318"/>
            <a:ext cx="5128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800" dirty="0">
                <a:cs typeface="Times New Roman" pitchFamily="18" charset="0"/>
                <a:sym typeface="Symbol" pitchFamily="18" charset="2"/>
              </a:rPr>
              <a:t>{</a:t>
            </a:r>
            <a:r>
              <a:rPr lang="en-US" sz="28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>
                <a:solidFill>
                  <a:srgbClr val="00B050"/>
                </a:solidFill>
              </a:rPr>
              <a:t>p </a:t>
            </a:r>
            <a:r>
              <a:rPr lang="en-US" sz="2800" dirty="0">
                <a:solidFill>
                  <a:srgbClr val="00B05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dirty="0">
                <a:solidFill>
                  <a:srgbClr val="00B050"/>
                </a:solidFill>
              </a:rPr>
              <a:t> q</a:t>
            </a:r>
            <a:r>
              <a:rPr lang="en-US" sz="2800" dirty="0">
                <a:sym typeface="Symbol" pitchFamily="18" charset="2"/>
              </a:rPr>
              <a:t>,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dirty="0">
                <a:solidFill>
                  <a:srgbClr val="0000FF"/>
                </a:solidFill>
              </a:rPr>
              <a:t>q</a:t>
            </a:r>
            <a:r>
              <a:rPr lang="en-US" sz="28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 </a:t>
            </a:r>
            <a:r>
              <a:rPr lang="en-US" sz="2800" dirty="0">
                <a:solidFill>
                  <a:srgbClr val="0000FF"/>
                </a:solidFill>
              </a:rPr>
              <a:t> r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 dirty="0">
                <a:solidFill>
                  <a:srgbClr val="FF0000"/>
                </a:solidFill>
              </a:rPr>
              <a:t>r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800" b="1" dirty="0">
                <a:solidFill>
                  <a:srgbClr val="FF0000"/>
                </a:solidFill>
              </a:rPr>
              <a:t> t 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7030A0"/>
                </a:solidFill>
              </a:rPr>
              <a:t>p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800" b="1" dirty="0">
                <a:solidFill>
                  <a:srgbClr val="FF0000"/>
                </a:solidFill>
              </a:rPr>
              <a:t>t</a:t>
            </a:r>
            <a:r>
              <a:rPr lang="en-US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299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7" grpId="0"/>
      <p:bldP spid="10" grpId="0"/>
      <p:bldP spid="11" grpId="0"/>
      <p:bldP spid="16" grpId="0"/>
      <p:bldP spid="16" grpId="1"/>
      <p:bldP spid="17" grpId="0"/>
      <p:bldP spid="17" grpId="1"/>
      <p:bldP spid="18" grpId="0"/>
      <p:bldP spid="18" grpId="1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5" name="Rectangle 2"/>
          <p:cNvSpPr>
            <a:spLocks noGrp="1" noChangeArrowheads="1"/>
          </p:cNvSpPr>
          <p:nvPr>
            <p:ph type="title"/>
          </p:nvPr>
        </p:nvSpPr>
        <p:spPr>
          <a:xfrm>
            <a:off x="176464" y="0"/>
            <a:ext cx="11243388" cy="1005539"/>
          </a:xfrm>
        </p:spPr>
        <p:txBody>
          <a:bodyPr/>
          <a:lstStyle/>
          <a:p>
            <a:pPr eaLnBrk="1" hangingPunct="1"/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Robinson – Heuristic</a:t>
            </a:r>
            <a:endParaRPr lang="en-US" dirty="0"/>
          </a:p>
        </p:txBody>
      </p:sp>
      <p:sp>
        <p:nvSpPr>
          <p:cNvPr id="22016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828800"/>
            <a:ext cx="11734800" cy="4343400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b="1" dirty="0"/>
              <a:t>B1: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giả</a:t>
            </a:r>
            <a:r>
              <a:rPr lang="en-US" sz="2400" dirty="0"/>
              <a:t> </a:t>
            </a:r>
            <a:r>
              <a:rPr lang="en-US" sz="2400" dirty="0" err="1"/>
              <a:t>thuyết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luận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dưới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chuẩn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</a:t>
            </a:r>
          </a:p>
          <a:p>
            <a:pPr algn="ctr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b="1" dirty="0">
                <a:sym typeface="Symbol" pitchFamily="18" charset="2"/>
              </a:rPr>
              <a:t>gt</a:t>
            </a:r>
            <a:r>
              <a:rPr lang="en-US" sz="2400" b="1" baseline="-25000" dirty="0">
                <a:sym typeface="Symbol" pitchFamily="18" charset="2"/>
              </a:rPr>
              <a:t>1</a:t>
            </a:r>
            <a:r>
              <a:rPr lang="en-US" sz="2400" b="1" dirty="0">
                <a:sym typeface="Symbol" pitchFamily="18" charset="2"/>
              </a:rPr>
              <a:t>, gt</a:t>
            </a:r>
            <a:r>
              <a:rPr lang="en-US" sz="2400" b="1" baseline="-25000" dirty="0">
                <a:sym typeface="Symbol" pitchFamily="18" charset="2"/>
              </a:rPr>
              <a:t>2</a:t>
            </a:r>
            <a:r>
              <a:rPr lang="en-US" sz="2400" b="1" dirty="0">
                <a:sym typeface="Symbol" pitchFamily="18" charset="2"/>
              </a:rPr>
              <a:t>, …, </a:t>
            </a:r>
            <a:r>
              <a:rPr lang="en-US" sz="2400" b="1" dirty="0" err="1">
                <a:sym typeface="Symbol" pitchFamily="18" charset="2"/>
              </a:rPr>
              <a:t>gt</a:t>
            </a:r>
            <a:r>
              <a:rPr lang="en-US" sz="2400" b="1" baseline="-25000" dirty="0" err="1">
                <a:sym typeface="Symbol" pitchFamily="18" charset="2"/>
              </a:rPr>
              <a:t>n</a:t>
            </a:r>
            <a:r>
              <a:rPr lang="en-US" sz="2400" b="1" dirty="0">
                <a:sym typeface="Symbol" pitchFamily="18" charset="2"/>
              </a:rPr>
              <a:t>  kl</a:t>
            </a:r>
            <a:r>
              <a:rPr lang="en-US" sz="2400" b="1" baseline="-25000" dirty="0">
                <a:sym typeface="Symbol" pitchFamily="18" charset="2"/>
              </a:rPr>
              <a:t>1</a:t>
            </a:r>
            <a:r>
              <a:rPr lang="en-US" sz="2400" b="1" dirty="0">
                <a:sym typeface="Symbol" pitchFamily="18" charset="2"/>
              </a:rPr>
              <a:t>, kl</a:t>
            </a:r>
            <a:r>
              <a:rPr lang="en-US" sz="2400" b="1" baseline="-25000" dirty="0">
                <a:sym typeface="Symbol" pitchFamily="18" charset="2"/>
              </a:rPr>
              <a:t>2</a:t>
            </a:r>
            <a:r>
              <a:rPr lang="en-US" sz="2400" b="1" dirty="0">
                <a:sym typeface="Symbol" pitchFamily="18" charset="2"/>
              </a:rPr>
              <a:t>, …, </a:t>
            </a:r>
            <a:r>
              <a:rPr lang="en-US" sz="2400" b="1" dirty="0" err="1">
                <a:sym typeface="Symbol" pitchFamily="18" charset="2"/>
              </a:rPr>
              <a:t>kl</a:t>
            </a:r>
            <a:r>
              <a:rPr lang="en-US" sz="2400" b="1" baseline="-25000" dirty="0" err="1">
                <a:sym typeface="Symbol" pitchFamily="18" charset="2"/>
              </a:rPr>
              <a:t>n</a:t>
            </a:r>
            <a:r>
              <a:rPr lang="en-US" sz="2400" b="1" dirty="0">
                <a:sym typeface="Symbol" pitchFamily="18" charset="2"/>
              </a:rPr>
              <a:t></a:t>
            </a:r>
          </a:p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dirty="0">
                <a:sym typeface="Symbol" pitchFamily="18" charset="2"/>
              </a:rPr>
              <a:t>Trong </a:t>
            </a:r>
            <a:r>
              <a:rPr lang="en-US" sz="2400" dirty="0" err="1">
                <a:sym typeface="Symbol" pitchFamily="18" charset="2"/>
              </a:rPr>
              <a:t>đó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gt</a:t>
            </a:r>
            <a:r>
              <a:rPr lang="en-US" sz="2400" baseline="-25000" dirty="0" err="1">
                <a:sym typeface="Symbol" pitchFamily="18" charset="2"/>
              </a:rPr>
              <a:t>i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kl</a:t>
            </a:r>
            <a:r>
              <a:rPr lang="en-US" sz="2400" baseline="-25000" dirty="0" err="1">
                <a:sym typeface="Symbol" pitchFamily="18" charset="2"/>
              </a:rPr>
              <a:t>j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được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xây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dựng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từ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các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biến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mệnh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đề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các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phép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kết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nối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tuyển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hội</a:t>
            </a:r>
            <a:r>
              <a:rPr lang="en-US" sz="2400" dirty="0">
                <a:sym typeface="Symbol" pitchFamily="18" charset="2"/>
              </a:rPr>
              <a:t>, </a:t>
            </a:r>
            <a:r>
              <a:rPr lang="en-US" sz="2400" dirty="0" err="1">
                <a:sym typeface="Symbol" pitchFamily="18" charset="2"/>
              </a:rPr>
              <a:t>phủ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định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b="1" dirty="0">
                <a:sym typeface="Symbol" pitchFamily="18" charset="2"/>
              </a:rPr>
              <a:t>B2: </a:t>
            </a:r>
            <a:r>
              <a:rPr lang="en-US" sz="2400" dirty="0" err="1">
                <a:sym typeface="Symbol" pitchFamily="18" charset="2"/>
              </a:rPr>
              <a:t>Xây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dựng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dòng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trên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thành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danh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sách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các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mệnh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dirty="0" err="1">
                <a:sym typeface="Symbol" pitchFamily="18" charset="2"/>
              </a:rPr>
              <a:t>đề</a:t>
            </a:r>
            <a:r>
              <a:rPr lang="en-US" sz="2400" dirty="0">
                <a:sym typeface="Symbol" pitchFamily="18" charset="2"/>
              </a:rPr>
              <a:t>.</a:t>
            </a:r>
          </a:p>
          <a:p>
            <a:pPr algn="ctr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en-US" sz="2400" b="1" dirty="0">
                <a:sym typeface="Symbol" pitchFamily="18" charset="2"/>
              </a:rPr>
              <a:t>gt</a:t>
            </a:r>
            <a:r>
              <a:rPr lang="en-US" sz="2400" b="1" baseline="-25000" dirty="0">
                <a:sym typeface="Symbol" pitchFamily="18" charset="2"/>
              </a:rPr>
              <a:t>1</a:t>
            </a:r>
            <a:r>
              <a:rPr lang="en-US" sz="2400" b="1" dirty="0">
                <a:sym typeface="Symbol" pitchFamily="18" charset="2"/>
              </a:rPr>
              <a:t>, gt</a:t>
            </a:r>
            <a:r>
              <a:rPr lang="en-US" sz="2400" b="1" baseline="-25000" dirty="0">
                <a:sym typeface="Symbol" pitchFamily="18" charset="2"/>
              </a:rPr>
              <a:t>2</a:t>
            </a:r>
            <a:r>
              <a:rPr lang="en-US" sz="2400" b="1" dirty="0">
                <a:sym typeface="Symbol" pitchFamily="18" charset="2"/>
              </a:rPr>
              <a:t>, …, </a:t>
            </a:r>
            <a:r>
              <a:rPr lang="en-US" sz="2400" b="1" dirty="0" err="1">
                <a:sym typeface="Symbol" pitchFamily="18" charset="2"/>
              </a:rPr>
              <a:t>gt</a:t>
            </a:r>
            <a:r>
              <a:rPr lang="en-US" sz="2400" b="1" baseline="-25000" dirty="0" err="1">
                <a:sym typeface="Symbol" pitchFamily="18" charset="2"/>
              </a:rPr>
              <a:t>n</a:t>
            </a:r>
            <a:r>
              <a:rPr lang="en-US" sz="2400" b="1" dirty="0">
                <a:sym typeface="Symbol" pitchFamily="18" charset="2"/>
              </a:rPr>
              <a:t>, kl</a:t>
            </a:r>
            <a:r>
              <a:rPr lang="en-US" sz="2400" b="1" baseline="-25000" dirty="0">
                <a:sym typeface="Symbol" pitchFamily="18" charset="2"/>
              </a:rPr>
              <a:t>1</a:t>
            </a:r>
            <a:r>
              <a:rPr lang="en-US" sz="2400" b="1" dirty="0">
                <a:sym typeface="Symbol" pitchFamily="18" charset="2"/>
              </a:rPr>
              <a:t>, kl</a:t>
            </a:r>
            <a:r>
              <a:rPr lang="en-US" sz="2400" b="1" baseline="-25000" dirty="0">
                <a:sym typeface="Symbol" pitchFamily="18" charset="2"/>
              </a:rPr>
              <a:t>2</a:t>
            </a:r>
            <a:r>
              <a:rPr lang="en-US" sz="2400" b="1" dirty="0">
                <a:sym typeface="Symbol" pitchFamily="18" charset="2"/>
              </a:rPr>
              <a:t>, …, </a:t>
            </a:r>
            <a:r>
              <a:rPr lang="en-US" sz="2400" b="1" dirty="0" err="1">
                <a:sym typeface="Symbol" pitchFamily="18" charset="2"/>
              </a:rPr>
              <a:t>kl</a:t>
            </a:r>
            <a:r>
              <a:rPr lang="en-US" sz="2400" b="1" baseline="-25000" dirty="0" err="1">
                <a:sym typeface="Symbol" pitchFamily="18" charset="2"/>
              </a:rPr>
              <a:t>n</a:t>
            </a:r>
            <a:r>
              <a:rPr lang="en-US" sz="2400" b="1" dirty="0">
                <a:sym typeface="Symbol" pitchFamily="18" charset="2"/>
              </a:rPr>
              <a:t></a:t>
            </a:r>
          </a:p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B3: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2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ngẫu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CM.</a:t>
            </a:r>
          </a:p>
          <a:p>
            <a:pPr algn="just"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/>
              <a:t>B4: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tuyển</a:t>
            </a:r>
            <a:r>
              <a:rPr lang="en-US" sz="2400" dirty="0"/>
              <a:t> 2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.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b="1" dirty="0"/>
              <a:t>B5: </a:t>
            </a:r>
            <a:r>
              <a:rPr lang="en-US" sz="2400" dirty="0" err="1"/>
              <a:t>Bổ</a:t>
            </a:r>
            <a:r>
              <a:rPr lang="en-US" sz="2400" dirty="0"/>
              <a:t> sung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2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khỏi</a:t>
            </a:r>
            <a:r>
              <a:rPr lang="en-US" sz="2400" dirty="0"/>
              <a:t>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. Quay </a:t>
            </a:r>
            <a:r>
              <a:rPr lang="en-US" sz="2400" dirty="0" err="1"/>
              <a:t>lại</a:t>
            </a:r>
            <a:r>
              <a:rPr lang="en-US" sz="2400" dirty="0"/>
              <a:t> B3.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sz="2400" b="1" dirty="0"/>
              <a:t>B6: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xây</a:t>
            </a:r>
            <a:r>
              <a:rPr lang="en-US" sz="2400" dirty="0"/>
              <a:t> </a:t>
            </a:r>
            <a:r>
              <a:rPr lang="en-US" sz="2400" dirty="0" err="1"/>
              <a:t>dựng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nữa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cũng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2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ngẫu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mệnh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ban </a:t>
            </a:r>
            <a:r>
              <a:rPr lang="en-US" sz="2400" dirty="0" err="1"/>
              <a:t>đầu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CM.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E1C7F-8A31-D7B7-6DBD-14D3864199F7}"/>
              </a:ext>
            </a:extLst>
          </p:cNvPr>
          <p:cNvSpPr txBox="1"/>
          <p:nvPr/>
        </p:nvSpPr>
        <p:spPr>
          <a:xfrm>
            <a:off x="284747" y="797353"/>
            <a:ext cx="9468853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eaLnBrk="1" hangingPunct="1">
              <a:lnSpc>
                <a:spcPct val="15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Robinson - Heuristic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mẹo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minh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Khi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ở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3b,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ta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bỏ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luôn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khỏi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KB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TRÁNH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bùng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nổ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231775"/>
            <a:ext cx="8229600" cy="7588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990600"/>
            <a:ext cx="10820400" cy="4876800"/>
          </a:xfrm>
        </p:spPr>
        <p:txBody>
          <a:bodyPr>
            <a:normAutofit lnSpcReduction="10000"/>
          </a:bodyPr>
          <a:lstStyle/>
          <a:p>
            <a:pPr marL="0" indent="0" algn="ctr" eaLnBrk="1" hangingPunct="1">
              <a:buNone/>
            </a:pPr>
            <a:r>
              <a:rPr lang="en-US" sz="2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CM: </a:t>
            </a:r>
            <a:r>
              <a:rPr lang="vi-V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q, q 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r, r 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t, p </a:t>
            </a:r>
            <a:r>
              <a:rPr lang="vi-VN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sz="27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sz="27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7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7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b="1" dirty="0">
              <a:solidFill>
                <a:srgbClr val="FF0000"/>
              </a:solidFill>
              <a:highlight>
                <a:srgbClr val="00FF00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B1: 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q,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t, p</a:t>
            </a:r>
            <a:r>
              <a:rPr lang="en-US" sz="2700" b="1" dirty="0">
                <a:solidFill>
                  <a:srgbClr val="0070C0"/>
                </a:solidFill>
                <a:sym typeface="Symbol" pitchFamily="18" charset="2"/>
              </a:rPr>
              <a:t> </a:t>
            </a:r>
            <a:r>
              <a:rPr lang="en-US" sz="2700" b="1" dirty="0">
                <a:solidFill>
                  <a:srgbClr val="FF0000"/>
                </a:solidFill>
                <a:sym typeface="Symbol" pitchFamily="18" charset="2"/>
              </a:rPr>
              <a:t>}</a:t>
            </a:r>
            <a:r>
              <a:rPr lang="en-US" sz="2700" b="1" dirty="0">
                <a:solidFill>
                  <a:srgbClr val="0070C0"/>
                </a:solidFill>
                <a:sym typeface="Symbol" pitchFamily="18" charset="2"/>
              </a:rPr>
              <a:t></a:t>
            </a:r>
            <a:r>
              <a:rPr lang="en-US" sz="2700" b="1" dirty="0">
                <a:solidFill>
                  <a:srgbClr val="FF0000"/>
                </a:solidFill>
                <a:sym typeface="Symbol" pitchFamily="18" charset="2"/>
              </a:rPr>
              <a:t> {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B2: 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q,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r,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t, p,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B4,5: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  </a:t>
            </a:r>
            <a:endParaRPr lang="en-US" sz="27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Ta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DS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mệnh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đề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: 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t, p ,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B4,5: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t </a:t>
            </a:r>
          </a:p>
          <a:p>
            <a:pPr marL="0" indent="0" eaLnBrk="1" hangingPunct="1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Ta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DS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mệnh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đề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anose="05000000000000000000" pitchFamily="2" charset="2"/>
              </a:rPr>
              <a:t>: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7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7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p ,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B4,5: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7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7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Ta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DS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{</a:t>
            </a:r>
            <a:r>
              <a:rPr lang="en-US" sz="27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vi-VN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sz="27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r>
              <a:rPr lang="en-US" sz="27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B3: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dừng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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Phát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7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7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83497"/>
            <a:ext cx="4467808" cy="1249078"/>
          </a:xfrm>
        </p:spPr>
        <p:txBody>
          <a:bodyPr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  <a:cs typeface="+mj-cs"/>
              </a:rPr>
              <a:t>Ví</a:t>
            </a:r>
            <a:r>
              <a:rPr lang="en-US" dirty="0">
                <a:solidFill>
                  <a:srgbClr val="0070C0"/>
                </a:solidFill>
                <a:cs typeface="+mj-cs"/>
              </a:rPr>
              <a:t> </a:t>
            </a:r>
            <a:r>
              <a:rPr lang="en-US" dirty="0" err="1">
                <a:solidFill>
                  <a:srgbClr val="0070C0"/>
                </a:solidFill>
                <a:cs typeface="+mj-cs"/>
              </a:rPr>
              <a:t>dụ</a:t>
            </a:r>
            <a:r>
              <a:rPr lang="en-US" dirty="0">
                <a:solidFill>
                  <a:srgbClr val="0070C0"/>
                </a:solidFill>
                <a:cs typeface="+mj-cs"/>
              </a:rPr>
              <a:t> 2</a:t>
            </a:r>
          </a:p>
        </p:txBody>
      </p:sp>
      <p:sp>
        <p:nvSpPr>
          <p:cNvPr id="815107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524001"/>
            <a:ext cx="8229600" cy="4525963"/>
          </a:xfrm>
        </p:spPr>
        <p:txBody>
          <a:bodyPr>
            <a:normAutofit lnSpcReduction="10000"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vi-V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 q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r, q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 r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vi-VN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1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 q</a:t>
            </a: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400" b="1" dirty="0">
                <a:solidFill>
                  <a:srgbClr val="FF0000"/>
                </a:solidFill>
                <a:highlight>
                  <a:srgbClr val="00FF00"/>
                </a:highlight>
                <a:sym typeface="Symbol" pitchFamily="18" charset="2"/>
              </a:rPr>
              <a:t></a:t>
            </a:r>
            <a:r>
              <a:rPr lang="en-US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vi-VN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itchFamily="18" charset="0"/>
                <a:cs typeface="Times New Roman" pitchFamily="18" charset="0"/>
              </a:rPr>
              <a:t>}</a:t>
            </a:r>
            <a:endParaRPr lang="en-US" b="1" dirty="0">
              <a:solidFill>
                <a:srgbClr val="FF0000"/>
              </a:solidFill>
              <a:highlight>
                <a:srgbClr val="00FF00"/>
              </a:highlight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1,2: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vi-V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vi-V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s,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4:{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	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vi-VN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p; </a:t>
            </a: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5,4:{</a:t>
            </a:r>
            <a:r>
              <a:rPr lang="vi-VN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r,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		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vi-VN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5,4:{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			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vi-VN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vi-VN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r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5: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vi-VN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q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6: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Phát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biểu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không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5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1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15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5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510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5220" y="167286"/>
            <a:ext cx="10659979" cy="911225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Nhược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điểm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của</a:t>
            </a:r>
            <a:r>
              <a:rPr lang="en-US" dirty="0">
                <a:solidFill>
                  <a:srgbClr val="0070C0"/>
                </a:solidFill>
              </a:rPr>
              <a:t> Robinson–Heuristic</a:t>
            </a:r>
          </a:p>
        </p:txBody>
      </p:sp>
      <p:sp>
        <p:nvSpPr>
          <p:cNvPr id="2252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171347"/>
            <a:ext cx="10972800" cy="1858115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mạnh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Robinson-Heuristic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tránh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bùng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nổ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tổ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mất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tính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 algn="ctr" eaLnBrk="1" hangingPunct="1">
              <a:lnSpc>
                <a:spcPct val="110000"/>
              </a:lnSpc>
              <a:buNone/>
            </a:pPr>
            <a:r>
              <a:rPr lang="vi-V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q, 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q 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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q , </a:t>
            </a:r>
            <a:r>
              <a:rPr lang="en-US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r</a:t>
            </a:r>
            <a:r>
              <a:rPr lang="vi-VN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0C0869-F3BF-4110-9C7D-293F46953EF7}"/>
              </a:ext>
            </a:extLst>
          </p:cNvPr>
          <p:cNvSpPr txBox="1"/>
          <p:nvPr/>
        </p:nvSpPr>
        <p:spPr>
          <a:xfrm>
            <a:off x="457200" y="3726859"/>
            <a:ext cx="5334000" cy="46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vi-VN" sz="2400" dirty="0">
                <a:solidFill>
                  <a:srgbClr val="66CCFF"/>
                </a:solidFill>
                <a:cs typeface="Times New Roman" pitchFamily="18" charset="0"/>
              </a:rPr>
              <a:t>{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p 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q, q ,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q</a:t>
            </a:r>
            <a:r>
              <a:rPr lang="vi-VN" sz="2400" dirty="0">
                <a:solidFill>
                  <a:srgbClr val="66CCFF"/>
                </a:solidFill>
                <a:cs typeface="Times New Roman" pitchFamily="18" charset="0"/>
              </a:rPr>
              <a:t>}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//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q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r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5F7D8-A721-4E32-83B2-A73FC7384D2C}"/>
              </a:ext>
            </a:extLst>
          </p:cNvPr>
          <p:cNvSpPr txBox="1"/>
          <p:nvPr/>
        </p:nvSpPr>
        <p:spPr>
          <a:xfrm>
            <a:off x="457200" y="4486884"/>
            <a:ext cx="5334000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Font typeface="Symbol" pitchFamily="18" charset="2"/>
              <a:buChar char="Þ"/>
            </a:pPr>
            <a:r>
              <a:rPr lang="vi-VN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</a:rPr>
              <a:t>{}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	//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Xuất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hiện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cặp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đối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ngẫu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q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q</a:t>
            </a:r>
          </a:p>
          <a:p>
            <a:pPr algn="just">
              <a:lnSpc>
                <a:spcPct val="110000"/>
              </a:lnSpc>
            </a:pP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Vậy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phát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biểu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đúng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07FCBB-BDAC-4138-BC37-993FE45E2014}"/>
              </a:ext>
            </a:extLst>
          </p:cNvPr>
          <p:cNvSpPr/>
          <p:nvPr/>
        </p:nvSpPr>
        <p:spPr>
          <a:xfrm>
            <a:off x="381000" y="3029462"/>
            <a:ext cx="189987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u="sng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Cách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b="1" u="sng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giải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06E41-70BE-FBE6-221E-6570B5E531DB}"/>
              </a:ext>
            </a:extLst>
          </p:cNvPr>
          <p:cNvSpPr txBox="1"/>
          <p:nvPr/>
        </p:nvSpPr>
        <p:spPr>
          <a:xfrm>
            <a:off x="6324600" y="3733800"/>
            <a:ext cx="5791200" cy="468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vi-VN" sz="2400" dirty="0">
                <a:solidFill>
                  <a:srgbClr val="66CCFF"/>
                </a:solidFill>
                <a:cs typeface="Times New Roman" pitchFamily="18" charset="0"/>
              </a:rPr>
              <a:t>{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p 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r, q , 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  <a:sym typeface="Symbol" pitchFamily="18" charset="2"/>
              </a:rPr>
              <a:t>r</a:t>
            </a:r>
            <a:r>
              <a:rPr lang="vi-VN" sz="2400" dirty="0">
                <a:solidFill>
                  <a:srgbClr val="66CCFF"/>
                </a:solidFill>
                <a:cs typeface="Times New Roman" pitchFamily="18" charset="0"/>
              </a:rPr>
              <a:t>}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//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p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q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và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q 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0000FF"/>
                </a:solidFill>
                <a:cs typeface="Times New Roman" pitchFamily="18" charset="0"/>
              </a:rPr>
              <a:t> 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11F59-48B8-F3C7-7375-8383319037F3}"/>
              </a:ext>
            </a:extLst>
          </p:cNvPr>
          <p:cNvSpPr txBox="1"/>
          <p:nvPr/>
        </p:nvSpPr>
        <p:spPr>
          <a:xfrm>
            <a:off x="6340642" y="4495800"/>
            <a:ext cx="5334000" cy="128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buFont typeface="Symbol" pitchFamily="18" charset="2"/>
              <a:buChar char="Þ"/>
            </a:pPr>
            <a:r>
              <a:rPr lang="vi-VN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</a:rPr>
              <a:t>{</a:t>
            </a:r>
            <a:r>
              <a:rPr lang="en-US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</a:rPr>
              <a:t>p, q </a:t>
            </a:r>
            <a:r>
              <a:rPr lang="vi-VN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</a:rPr>
              <a:t>}</a:t>
            </a:r>
            <a:r>
              <a:rPr lang="en-US" sz="2400" dirty="0">
                <a:solidFill>
                  <a:srgbClr val="66CCFF"/>
                </a:solidFill>
                <a:highlight>
                  <a:srgbClr val="FFFF00"/>
                </a:highlight>
                <a:cs typeface="Times New Roman" pitchFamily="18" charset="0"/>
              </a:rPr>
              <a:t>	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//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p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 r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với</a:t>
            </a:r>
            <a:r>
              <a:rPr lang="en-US" sz="2400" dirty="0"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r</a:t>
            </a:r>
            <a:endParaRPr lang="en-US" sz="2400" dirty="0">
              <a:solidFill>
                <a:srgbClr val="FF0000"/>
              </a:solidFill>
              <a:highlight>
                <a:srgbClr val="FFFF00"/>
              </a:highlight>
              <a:cs typeface="Times New Roman" pitchFamily="18" charset="0"/>
            </a:endParaRPr>
          </a:p>
          <a:p>
            <a:pPr algn="just">
              <a:lnSpc>
                <a:spcPct val="110000"/>
              </a:lnSpc>
            </a:pP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Đến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đây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không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thể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nữa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. </a:t>
            </a:r>
          </a:p>
          <a:p>
            <a:pPr algn="just">
              <a:lnSpc>
                <a:spcPct val="110000"/>
              </a:lnSpc>
            </a:pP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Vậy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: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phát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biểu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66CCFF"/>
                </a:solidFill>
                <a:cs typeface="Times New Roman" pitchFamily="18" charset="0"/>
              </a:rPr>
              <a:t>sai</a:t>
            </a:r>
            <a:r>
              <a:rPr lang="en-US" sz="2400" dirty="0">
                <a:solidFill>
                  <a:srgbClr val="66CCFF"/>
                </a:solidFill>
                <a:cs typeface="Times New Roman" pitchFamily="18" charset="0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89BDA-8D2B-02D5-2D8B-D4F01A9259FF}"/>
              </a:ext>
            </a:extLst>
          </p:cNvPr>
          <p:cNvSpPr/>
          <p:nvPr/>
        </p:nvSpPr>
        <p:spPr>
          <a:xfrm>
            <a:off x="5867401" y="3029462"/>
            <a:ext cx="189988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u="sng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Cách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800" b="1" u="sng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giải</a:t>
            </a:r>
            <a:r>
              <a:rPr lang="en-US" sz="2800" b="1" u="sng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28600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Vương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Hạo</a:t>
            </a:r>
            <a:r>
              <a:rPr lang="en-US" dirty="0">
                <a:solidFill>
                  <a:srgbClr val="0070C0"/>
                </a:solidFill>
              </a:rPr>
              <a:t> (1960)</a:t>
            </a:r>
          </a:p>
        </p:txBody>
      </p:sp>
      <p:sp>
        <p:nvSpPr>
          <p:cNvPr id="22938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333500"/>
            <a:ext cx="8977164" cy="4838700"/>
          </a:xfrm>
        </p:spPr>
        <p:txBody>
          <a:bodyPr>
            <a:normAutofit/>
          </a:bodyPr>
          <a:lstStyle/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chuẩn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vế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“,”.</a:t>
            </a:r>
          </a:p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4: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thuyết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tách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con 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từng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trường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5: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vế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(VD: ….p….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.…p….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 eaLnBrk="1" hangingPunct="1">
              <a:buNone/>
            </a:pP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6: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nếu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tuyển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hội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phủ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cũng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chung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mệnh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đề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cả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vế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chứng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minh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CM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thì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57200" indent="-457200" algn="just" eaLnBrk="1" hangingPunct="1">
              <a:buNone/>
            </a:pP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bước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4: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không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cần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làm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theo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thứ</a:t>
            </a:r>
            <a:r>
              <a:rPr lang="en-US" sz="24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tự</a:t>
            </a:r>
            <a:endParaRPr lang="en-US" sz="24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229600" y="4698623"/>
            <a:ext cx="351513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E59AADBF-978A-4143-9840-CB02160B0A37}" type="slidenum">
              <a:rPr lang="en-US" altLang="en-US" smtClean="0">
                <a:latin typeface="Garamond" pitchFamily="18" charset="0"/>
              </a:rPr>
              <a:pPr eaLnBrk="1" hangingPunct="1"/>
              <a:t>37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3142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199" y="327923"/>
            <a:ext cx="8229600" cy="609600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Vương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Hạo</a:t>
            </a:r>
            <a:r>
              <a:rPr lang="en-US" dirty="0">
                <a:solidFill>
                  <a:srgbClr val="0070C0"/>
                </a:solidFill>
              </a:rPr>
              <a:t> – </a:t>
            </a:r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1</a:t>
            </a:r>
          </a:p>
        </p:txBody>
      </p:sp>
      <p:sp>
        <p:nvSpPr>
          <p:cNvPr id="23143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71799" y="1155148"/>
            <a:ext cx="3962400" cy="422275"/>
          </a:xfrm>
          <a:solidFill>
            <a:srgbClr val="FFFF00"/>
          </a:solidFill>
        </p:spPr>
        <p:txBody>
          <a:bodyPr vert="horz" wrap="square" lIns="9144" tIns="9144" rIns="9144" bIns="9144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ctr" eaLnBrk="1" hangingPunct="1">
              <a:buNone/>
            </a:pP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p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q,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q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r,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r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t, p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400" b="1" dirty="0">
                <a:cs typeface="Times New Roman" pitchFamily="18" charset="0"/>
              </a:rPr>
              <a:t>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43100" y="1986330"/>
            <a:ext cx="31242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p,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</a:t>
            </a:r>
            <a:r>
              <a:rPr lang="en-US" sz="2200" kern="0" dirty="0" err="1">
                <a:ea typeface="+mj-ea"/>
                <a:cs typeface="Times New Roman" pitchFamily="18" charset="0"/>
              </a:rPr>
              <a:t>p</a:t>
            </a:r>
            <a:r>
              <a:rPr lang="en-US" sz="2200" kern="0" dirty="0" err="1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 err="1">
                <a:ea typeface="+mj-ea"/>
                <a:cs typeface="Times New Roman" pitchFamily="18" charset="0"/>
              </a:rPr>
              <a:t>t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146800" y="2261914"/>
            <a:ext cx="28194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</a:rPr>
              <a:t>q,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>
                <a:ea typeface="+mj-ea"/>
                <a:cs typeface="Times New Roman" pitchFamily="18" charset="0"/>
              </a:rPr>
              <a:t>t</a:t>
            </a:r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 flipH="1">
            <a:off x="2286000" y="1557124"/>
            <a:ext cx="1295400" cy="42148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  <a:stCxn id="231430" idx="3"/>
            <a:endCxn id="6" idx="0"/>
          </p:cNvCxnSpPr>
          <p:nvPr/>
        </p:nvCxnSpPr>
        <p:spPr bwMode="auto">
          <a:xfrm>
            <a:off x="6934199" y="1366286"/>
            <a:ext cx="622301" cy="89562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0"/>
          <p:cNvCxnSpPr>
            <a:cxnSpLocks noChangeShapeType="1"/>
            <a:endCxn id="19" idx="0"/>
          </p:cNvCxnSpPr>
          <p:nvPr/>
        </p:nvCxnSpPr>
        <p:spPr bwMode="auto">
          <a:xfrm flipH="1">
            <a:off x="2705100" y="3107686"/>
            <a:ext cx="1257300" cy="69707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11"/>
          <p:cNvCxnSpPr>
            <a:cxnSpLocks noChangeShapeType="1"/>
            <a:endCxn id="19" idx="0"/>
          </p:cNvCxnSpPr>
          <p:nvPr/>
        </p:nvCxnSpPr>
        <p:spPr bwMode="auto">
          <a:xfrm flipH="1">
            <a:off x="2705100" y="3107686"/>
            <a:ext cx="1866900" cy="69707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981200" y="3804764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810000" y="3804764"/>
            <a:ext cx="22860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>
                <a:ea typeface="+mj-ea"/>
                <a:cs typeface="Times New Roman" pitchFamily="18" charset="0"/>
              </a:rPr>
              <a:t>t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7696200" y="3804764"/>
            <a:ext cx="25146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</a:rPr>
              <a:t>q,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>
                <a:ea typeface="+mj-ea"/>
                <a:cs typeface="Times New Roman" pitchFamily="18" charset="0"/>
              </a:rPr>
              <a:t>t</a:t>
            </a:r>
          </a:p>
        </p:txBody>
      </p:sp>
      <p:cxnSp>
        <p:nvCxnSpPr>
          <p:cNvPr id="22" name="Straight Arrow Connector 21"/>
          <p:cNvCxnSpPr>
            <a:cxnSpLocks noChangeShapeType="1"/>
            <a:endCxn id="20" idx="0"/>
          </p:cNvCxnSpPr>
          <p:nvPr/>
        </p:nvCxnSpPr>
        <p:spPr bwMode="auto">
          <a:xfrm rot="10800000" flipV="1">
            <a:off x="4953000" y="2661763"/>
            <a:ext cx="2362200" cy="1143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/>
          <p:cNvCxnSpPr>
            <a:cxnSpLocks noChangeShapeType="1"/>
            <a:endCxn id="21" idx="0"/>
          </p:cNvCxnSpPr>
          <p:nvPr/>
        </p:nvCxnSpPr>
        <p:spPr bwMode="auto">
          <a:xfrm>
            <a:off x="7315200" y="2661763"/>
            <a:ext cx="1638300" cy="1143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31"/>
          <p:cNvCxnSpPr>
            <a:cxnSpLocks noChangeShapeType="1"/>
          </p:cNvCxnSpPr>
          <p:nvPr/>
        </p:nvCxnSpPr>
        <p:spPr bwMode="auto">
          <a:xfrm>
            <a:off x="8077201" y="4914639"/>
            <a:ext cx="1181101" cy="53340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32"/>
          <p:cNvCxnSpPr>
            <a:cxnSpLocks noChangeShapeType="1"/>
          </p:cNvCxnSpPr>
          <p:nvPr/>
        </p:nvCxnSpPr>
        <p:spPr bwMode="auto">
          <a:xfrm flipH="1">
            <a:off x="9525001" y="4914641"/>
            <a:ext cx="438150" cy="533401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8636000" y="5459156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cxnSpLocks noChangeShapeType="1"/>
            <a:endCxn id="41" idx="0"/>
          </p:cNvCxnSpPr>
          <p:nvPr/>
        </p:nvCxnSpPr>
        <p:spPr bwMode="auto">
          <a:xfrm flipH="1">
            <a:off x="2876096" y="4173064"/>
            <a:ext cx="2000704" cy="40934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/>
          <p:cNvCxnSpPr>
            <a:cxnSpLocks noChangeShapeType="1"/>
          </p:cNvCxnSpPr>
          <p:nvPr/>
        </p:nvCxnSpPr>
        <p:spPr bwMode="auto">
          <a:xfrm>
            <a:off x="4876800" y="4173064"/>
            <a:ext cx="1066800" cy="62843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1961696" y="4582411"/>
            <a:ext cx="1828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r, p 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>
                <a:ea typeface="+mj-ea"/>
                <a:cs typeface="Times New Roman" pitchFamily="18" charset="0"/>
              </a:rPr>
              <a:t>t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 bwMode="auto">
          <a:xfrm>
            <a:off x="5269787" y="4587382"/>
            <a:ext cx="16764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</a:rPr>
              <a:t>t</a:t>
            </a:r>
            <a:r>
              <a:rPr lang="en-US" sz="2200" kern="0" dirty="0">
                <a:ea typeface="+mj-ea"/>
                <a:cs typeface="Times New Roman" pitchFamily="18" charset="0"/>
              </a:rPr>
              <a:t>, p 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</a:rPr>
              <a:t>t</a:t>
            </a: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2037896" y="5795261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5339994" y="5377674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0A50427-8C41-4FD6-9DAC-6C2E2CD2B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2753673"/>
            <a:ext cx="31242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</a:t>
            </a:r>
            <a:r>
              <a:rPr lang="en-US" sz="2200" kern="0" dirty="0" err="1">
                <a:solidFill>
                  <a:srgbClr val="FF0000"/>
                </a:solidFill>
                <a:ea typeface="+mj-ea"/>
                <a:cs typeface="Times New Roman" pitchFamily="18" charset="0"/>
              </a:rPr>
              <a:t>p</a:t>
            </a:r>
            <a:r>
              <a:rPr lang="en-US" sz="2200" kern="0" err="1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>
                <a:ea typeface="+mj-ea"/>
                <a:cs typeface="Times New Roman" pitchFamily="18" charset="0"/>
              </a:rPr>
              <a:t>t, </a:t>
            </a:r>
            <a:r>
              <a:rPr lang="en-US" sz="2200" kern="0">
                <a:solidFill>
                  <a:srgbClr val="FF0000"/>
                </a:solidFill>
                <a:cs typeface="Times New Roman" pitchFamily="18" charset="0"/>
              </a:rPr>
              <a:t>p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448287-38F7-4A6F-A5C6-86B42B9A33A6}"/>
              </a:ext>
            </a:extLst>
          </p:cNvPr>
          <p:cNvCxnSpPr>
            <a:cxnSpLocks/>
          </p:cNvCxnSpPr>
          <p:nvPr/>
        </p:nvCxnSpPr>
        <p:spPr>
          <a:xfrm>
            <a:off x="3460750" y="2340342"/>
            <a:ext cx="0" cy="386188"/>
          </a:xfrm>
          <a:prstGeom prst="straightConnector1">
            <a:avLst/>
          </a:prstGeom>
          <a:ln w="57150" cmpd="dbl">
            <a:solidFill>
              <a:schemeClr val="accent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3">
            <a:extLst>
              <a:ext uri="{FF2B5EF4-FFF2-40B4-BE49-F238E27FC236}">
                <a16:creationId xmlns:a16="http://schemas.microsoft.com/office/drawing/2014/main" id="{D86E2E0A-9EF7-4D40-AF12-4CE7EA416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950" y="4560627"/>
            <a:ext cx="25146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>
                <a:solidFill>
                  <a:srgbClr val="FF0000"/>
                </a:solidFill>
                <a:ea typeface="+mj-ea"/>
                <a:cs typeface="Times New Roman" pitchFamily="18" charset="0"/>
              </a:rPr>
              <a:t>q</a:t>
            </a:r>
            <a:r>
              <a:rPr lang="en-US" sz="2200" kern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</a:t>
            </a:r>
            <a:r>
              <a:rPr lang="en-US" sz="2200" kern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>
                <a:ea typeface="+mj-ea"/>
                <a:cs typeface="Times New Roman" pitchFamily="18" charset="0"/>
              </a:rPr>
              <a:t>t, </a:t>
            </a:r>
            <a:r>
              <a:rPr lang="en-US" sz="2200" kern="0">
                <a:solidFill>
                  <a:srgbClr val="FF0000"/>
                </a:solidFill>
                <a:cs typeface="Times New Roman" pitchFamily="18" charset="0"/>
              </a:rPr>
              <a:t>q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31F343-7110-4AA4-BA62-2B991212DEB9}"/>
              </a:ext>
            </a:extLst>
          </p:cNvPr>
          <p:cNvCxnSpPr>
            <a:cxnSpLocks/>
          </p:cNvCxnSpPr>
          <p:nvPr/>
        </p:nvCxnSpPr>
        <p:spPr>
          <a:xfrm>
            <a:off x="8966200" y="4173063"/>
            <a:ext cx="0" cy="386188"/>
          </a:xfrm>
          <a:prstGeom prst="straightConnector1">
            <a:avLst/>
          </a:prstGeom>
          <a:ln w="57150" cmpd="dbl">
            <a:solidFill>
              <a:schemeClr val="accent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3">
            <a:extLst>
              <a:ext uri="{FF2B5EF4-FFF2-40B4-BE49-F238E27FC236}">
                <a16:creationId xmlns:a16="http://schemas.microsoft.com/office/drawing/2014/main" id="{C07CDEE9-19E0-4B5C-A05B-19C1154C2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296" y="5371398"/>
            <a:ext cx="1828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>
                <a:ea typeface="+mj-ea"/>
                <a:cs typeface="Times New Roman" pitchFamily="18" charset="0"/>
              </a:rPr>
              <a:t>, </a:t>
            </a:r>
            <a:r>
              <a:rPr lang="en-US" sz="2200" kern="0">
                <a:solidFill>
                  <a:srgbClr val="FF0000"/>
                </a:solidFill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</a:rPr>
              <a:t>p </a:t>
            </a:r>
            <a:r>
              <a:rPr lang="en-US" sz="2200" kern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200" kern="0">
                <a:ea typeface="+mj-ea"/>
                <a:cs typeface="Times New Roman" pitchFamily="18" charset="0"/>
              </a:rPr>
              <a:t>t, </a:t>
            </a:r>
            <a:r>
              <a:rPr lang="en-US" sz="2200" kern="0">
                <a:solidFill>
                  <a:srgbClr val="FF0000"/>
                </a:solidFill>
                <a:cs typeface="Times New Roman" pitchFamily="18" charset="0"/>
              </a:rPr>
              <a:t>r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EDF4B00-9D1B-412E-A92D-0D33D09F9158}"/>
              </a:ext>
            </a:extLst>
          </p:cNvPr>
          <p:cNvCxnSpPr>
            <a:cxnSpLocks/>
          </p:cNvCxnSpPr>
          <p:nvPr/>
        </p:nvCxnSpPr>
        <p:spPr>
          <a:xfrm flipH="1">
            <a:off x="6107987" y="4939246"/>
            <a:ext cx="26112" cy="370100"/>
          </a:xfrm>
          <a:prstGeom prst="straightConnector1">
            <a:avLst/>
          </a:prstGeom>
          <a:ln w="57150" cmpd="dbl">
            <a:solidFill>
              <a:schemeClr val="accent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F6C1563-1FAE-4108-901C-D21397D7CEFA}"/>
              </a:ext>
            </a:extLst>
          </p:cNvPr>
          <p:cNvCxnSpPr>
            <a:cxnSpLocks/>
          </p:cNvCxnSpPr>
          <p:nvPr/>
        </p:nvCxnSpPr>
        <p:spPr>
          <a:xfrm>
            <a:off x="2768145" y="4936423"/>
            <a:ext cx="0" cy="386188"/>
          </a:xfrm>
          <a:prstGeom prst="straightConnector1">
            <a:avLst/>
          </a:prstGeom>
          <a:ln w="57150" cmpd="dbl">
            <a:solidFill>
              <a:schemeClr val="accent2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81400" y="5883016"/>
            <a:ext cx="69342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 err="1"/>
              <a:t>Tất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trường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đều</a:t>
            </a:r>
            <a:r>
              <a:rPr lang="en-US" b="1" dirty="0"/>
              <a:t> </a:t>
            </a:r>
            <a:r>
              <a:rPr lang="en-US" b="1" dirty="0" err="1"/>
              <a:t>được</a:t>
            </a:r>
            <a:r>
              <a:rPr lang="en-US" b="1" dirty="0"/>
              <a:t> CM. </a:t>
            </a:r>
            <a:r>
              <a:rPr lang="en-US" b="1" dirty="0" err="1"/>
              <a:t>Vậy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là</a:t>
            </a:r>
            <a:r>
              <a:rPr lang="en-US" b="1" dirty="0"/>
              <a:t> 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9" grpId="0" animBg="1"/>
      <p:bldP spid="20" grpId="0" animBg="1"/>
      <p:bldP spid="21" grpId="0" animBg="1"/>
      <p:bldP spid="34" grpId="0" animBg="1"/>
      <p:bldP spid="41" grpId="0" animBg="1"/>
      <p:bldP spid="42" grpId="0" animBg="1"/>
      <p:bldP spid="43" grpId="0" animBg="1"/>
      <p:bldP spid="44" grpId="0" animBg="1"/>
      <p:bldP spid="35" grpId="0" animBg="1"/>
      <p:bldP spid="45" grpId="0" animBg="1"/>
      <p:bldP spid="48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221764" y="4726418"/>
            <a:ext cx="3515137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fld id="{38F00B30-DB7C-4DAD-BF09-F675958A4826}" type="slidenum">
              <a:rPr lang="en-US" altLang="en-US" smtClean="0">
                <a:latin typeface="Garamond" pitchFamily="18" charset="0"/>
              </a:rPr>
              <a:pPr eaLnBrk="1" hangingPunct="1"/>
              <a:t>38</a:t>
            </a:fld>
            <a:endParaRPr lang="en-US" altLang="en-US">
              <a:latin typeface="Garamond" pitchFamily="18" charset="0"/>
            </a:endParaRPr>
          </a:p>
        </p:txBody>
      </p:sp>
      <p:sp>
        <p:nvSpPr>
          <p:cNvPr id="2324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764275" y="289502"/>
            <a:ext cx="4343400" cy="422275"/>
          </a:xfrm>
          <a:solidFill>
            <a:srgbClr val="FFFF00"/>
          </a:solidFill>
        </p:spPr>
        <p:txBody>
          <a:bodyPr vert="horz" wrap="square" lIns="9144" tIns="9144" rIns="9144" bIns="9144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ctr" eaLnBrk="1" hangingPunct="1">
              <a:buNone/>
            </a:pP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p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q,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q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 r,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r 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 t, p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t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828800" y="2454359"/>
            <a:ext cx="3429000" cy="357021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>
                <a:ea typeface="+mj-ea"/>
                <a:cs typeface="Times New Roman" pitchFamily="18" charset="0"/>
              </a:rPr>
              <a:t> </a:t>
            </a:r>
            <a:r>
              <a:rPr lang="en-US" sz="2200" kern="0">
                <a:solidFill>
                  <a:srgbClr val="0000FF"/>
                </a:solidFill>
                <a:cs typeface="Times New Roman" pitchFamily="18" charset="0"/>
                <a:sym typeface="Symbol" pitchFamily="18" charset="2"/>
              </a:rPr>
              <a:t> p,</a:t>
            </a:r>
            <a:r>
              <a:rPr lang="en-US" sz="2200" kern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, </a:t>
            </a:r>
            <a:r>
              <a:rPr lang="en-US" sz="2200" kern="0" err="1">
                <a:ea typeface="+mj-ea"/>
                <a:cs typeface="Times New Roman" pitchFamily="18" charset="0"/>
              </a:rPr>
              <a:t>t</a:t>
            </a:r>
            <a:r>
              <a:rPr lang="en-US" sz="2200" kern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000" b="1" kern="0">
                <a:cs typeface="Times New Roman" pitchFamily="18" charset="0"/>
                <a:sym typeface="Symbol"/>
              </a:rPr>
              <a:t> </a:t>
            </a:r>
            <a:r>
              <a:rPr lang="en-US" sz="2000" kern="0">
                <a:cs typeface="Times New Roman" pitchFamily="18" charset="0"/>
                <a:sym typeface="Symbol"/>
              </a:rPr>
              <a:t>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324600" y="2455863"/>
            <a:ext cx="32766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solidFill>
                  <a:srgbClr val="0000FF"/>
                </a:solidFill>
                <a:ea typeface="+mj-ea"/>
                <a:cs typeface="Times New Roman" pitchFamily="18" charset="0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, t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 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cxnSpLocks noChangeShapeType="1"/>
            <a:stCxn id="28" idx="2"/>
            <a:endCxn id="5" idx="0"/>
          </p:cNvCxnSpPr>
          <p:nvPr/>
        </p:nvCxnSpPr>
        <p:spPr bwMode="auto">
          <a:xfrm flipH="1">
            <a:off x="3543300" y="1884178"/>
            <a:ext cx="2209800" cy="57018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  <a:stCxn id="28" idx="2"/>
            <a:endCxn id="6" idx="0"/>
          </p:cNvCxnSpPr>
          <p:nvPr/>
        </p:nvCxnSpPr>
        <p:spPr bwMode="auto">
          <a:xfrm>
            <a:off x="5753100" y="1884178"/>
            <a:ext cx="2209800" cy="57168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0"/>
          <p:cNvCxnSpPr>
            <a:cxnSpLocks noChangeShapeType="1"/>
          </p:cNvCxnSpPr>
          <p:nvPr/>
        </p:nvCxnSpPr>
        <p:spPr bwMode="auto">
          <a:xfrm flipH="1">
            <a:off x="2971801" y="3402806"/>
            <a:ext cx="952499" cy="57864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 flipH="1">
            <a:off x="3276600" y="3395662"/>
            <a:ext cx="1447800" cy="5715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1981200" y="3979863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3810000" y="3979863"/>
            <a:ext cx="28194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, t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 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7391400" y="3979863"/>
            <a:ext cx="28194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p , t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 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  <a:sym typeface="Symbol"/>
              </a:rPr>
              <a:t>q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cxnSpLocks noChangeShapeType="1"/>
            <a:endCxn id="20" idx="0"/>
          </p:cNvCxnSpPr>
          <p:nvPr/>
        </p:nvCxnSpPr>
        <p:spPr bwMode="auto">
          <a:xfrm rot="10800000" flipV="1">
            <a:off x="5219700" y="2836862"/>
            <a:ext cx="2095500" cy="1143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/>
          <p:cNvCxnSpPr>
            <a:cxnSpLocks noChangeShapeType="1"/>
            <a:endCxn id="21" idx="0"/>
          </p:cNvCxnSpPr>
          <p:nvPr/>
        </p:nvCxnSpPr>
        <p:spPr bwMode="auto">
          <a:xfrm>
            <a:off x="7315200" y="2836862"/>
            <a:ext cx="1485900" cy="1143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31"/>
          <p:cNvCxnSpPr>
            <a:cxnSpLocks noChangeShapeType="1"/>
            <a:endCxn id="34" idx="0"/>
          </p:cNvCxnSpPr>
          <p:nvPr/>
        </p:nvCxnSpPr>
        <p:spPr bwMode="auto">
          <a:xfrm>
            <a:off x="7924800" y="4351339"/>
            <a:ext cx="612650" cy="444497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32"/>
          <p:cNvCxnSpPr>
            <a:cxnSpLocks noChangeShapeType="1"/>
            <a:endCxn id="34" idx="3"/>
          </p:cNvCxnSpPr>
          <p:nvPr/>
        </p:nvCxnSpPr>
        <p:spPr bwMode="auto">
          <a:xfrm flipH="1">
            <a:off x="9261350" y="4333875"/>
            <a:ext cx="526492" cy="638968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7813550" y="4795836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cxnSpLocks noChangeShapeType="1"/>
            <a:endCxn id="41" idx="0"/>
          </p:cNvCxnSpPr>
          <p:nvPr/>
        </p:nvCxnSpPr>
        <p:spPr bwMode="auto">
          <a:xfrm flipH="1">
            <a:off x="3449575" y="4348162"/>
            <a:ext cx="1427225" cy="61869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/>
          <p:cNvCxnSpPr>
            <a:cxnSpLocks noChangeShapeType="1"/>
            <a:endCxn id="42" idx="0"/>
          </p:cNvCxnSpPr>
          <p:nvPr/>
        </p:nvCxnSpPr>
        <p:spPr bwMode="auto">
          <a:xfrm>
            <a:off x="4876800" y="4348162"/>
            <a:ext cx="1887475" cy="618694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Rectangle 3"/>
          <p:cNvSpPr txBox="1">
            <a:spLocks noChangeArrowheads="1"/>
          </p:cNvSpPr>
          <p:nvPr/>
        </p:nvSpPr>
        <p:spPr bwMode="auto">
          <a:xfrm>
            <a:off x="2268475" y="4966856"/>
            <a:ext cx="23622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p , t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 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  <a:sym typeface="Symbol"/>
              </a:rPr>
              <a:t>r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 bwMode="auto">
          <a:xfrm>
            <a:off x="5926075" y="4966856"/>
            <a:ext cx="16764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q</a:t>
            </a:r>
            <a:r>
              <a:rPr lang="en-US" sz="2200" kern="0" dirty="0">
                <a:ea typeface="+mj-ea"/>
                <a:cs typeface="Times New Roman" pitchFamily="18" charset="0"/>
              </a:rPr>
              <a:t>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r</a:t>
            </a:r>
            <a:r>
              <a:rPr lang="en-US" sz="2200" kern="0" dirty="0">
                <a:ea typeface="+mj-ea"/>
                <a:cs typeface="Times New Roman" pitchFamily="18" charset="0"/>
              </a:rPr>
              <a:t>, t, p</a:t>
            </a:r>
            <a:r>
              <a:rPr lang="en-US" sz="2200" kern="0" dirty="0">
                <a:ea typeface="+mj-ea"/>
                <a:cs typeface="Times New Roman" pitchFamily="18" charset="0"/>
                <a:sym typeface="Symbol"/>
              </a:rPr>
              <a:t> 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2420875" y="5433581"/>
            <a:ext cx="1447800" cy="354013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5568888" y="5390718"/>
            <a:ext cx="2195512" cy="354012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Không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200" kern="0" dirty="0" err="1">
                <a:ea typeface="+mj-ea"/>
                <a:cs typeface="Times New Roman" pitchFamily="18" charset="0"/>
                <a:sym typeface="Symbol" pitchFamily="18" charset="2"/>
              </a:rPr>
              <a:t>được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 CM</a:t>
            </a:r>
            <a:endParaRPr lang="en-US" sz="2200" kern="0" dirty="0">
              <a:ea typeface="+mj-ea"/>
              <a:cs typeface="Times New Roman" pitchFamily="18" charset="0"/>
            </a:endParaRPr>
          </a:p>
        </p:txBody>
      </p:sp>
      <p:sp>
        <p:nvSpPr>
          <p:cNvPr id="232474" name="Rectangle 2"/>
          <p:cNvSpPr>
            <a:spLocks noChangeArrowheads="1"/>
          </p:cNvSpPr>
          <p:nvPr/>
        </p:nvSpPr>
        <p:spPr bwMode="auto">
          <a:xfrm>
            <a:off x="235953" y="339719"/>
            <a:ext cx="533293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Vương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Hạo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– </a:t>
            </a:r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Ví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</a:t>
            </a:r>
            <a:r>
              <a:rPr lang="en-US" sz="4000" dirty="0" err="1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dụ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+mj-cs"/>
              </a:rPr>
              <a:t>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1300" y="5857875"/>
            <a:ext cx="66294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/>
              <a:t>Có 1 trường hợp không được CM. Vậy phát biểu trên là SAI</a:t>
            </a: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3581400" y="1462332"/>
            <a:ext cx="4343400" cy="42184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" tIns="9144" rIns="9144" bIns="9144" numCol="1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5028"/>
              </a:buClr>
              <a:buChar char="o"/>
              <a:defRPr sz="3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indent="-457200" algn="ctr" eaLnBrk="1" hangingPunct="1">
              <a:buNone/>
            </a:pP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p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q,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q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r,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400" b="1" dirty="0">
                <a:cs typeface="Times New Roman" pitchFamily="18" charset="0"/>
              </a:rPr>
              <a:t>r 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400" b="1" dirty="0">
                <a:cs typeface="Times New Roman" pitchFamily="18" charset="0"/>
              </a:rPr>
              <a:t> t, p,</a:t>
            </a:r>
            <a:r>
              <a:rPr lang="en-US" sz="2400" b="1" dirty="0">
                <a:solidFill>
                  <a:srgbClr val="0000FF"/>
                </a:solidFill>
                <a:cs typeface="Times New Roman" pitchFamily="18" charset="0"/>
              </a:rPr>
              <a:t> t</a:t>
            </a:r>
            <a:r>
              <a:rPr lang="en-US" sz="2400" b="1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en-US" sz="2400" b="1" dirty="0">
                <a:cs typeface="Times New Roman" pitchFamily="18" charset="0"/>
              </a:rPr>
              <a:t> </a:t>
            </a:r>
            <a:r>
              <a:rPr lang="en-US" sz="2400" b="1" kern="0" dirty="0">
                <a:cs typeface="Times New Roman" pitchFamily="18" charset="0"/>
                <a:sym typeface="Symbol"/>
              </a:rPr>
              <a:t></a:t>
            </a:r>
            <a:endParaRPr lang="en-US" sz="2400" b="1" dirty="0">
              <a:cs typeface="Times New Roman" pitchFamily="18" charset="0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1820008" y="3051342"/>
            <a:ext cx="3429000" cy="357021"/>
          </a:xfrm>
          <a:prstGeom prst="rect">
            <a:avLst/>
          </a:prstGeom>
          <a:solidFill>
            <a:srgbClr val="CCE0FF"/>
          </a:solidFill>
          <a:ln w="9525">
            <a:noFill/>
            <a:miter lim="800000"/>
            <a:headEnd/>
            <a:tailEnd/>
          </a:ln>
        </p:spPr>
        <p:txBody>
          <a:bodyPr lIns="9144" tIns="9144" rIns="9144" bIns="9144" anchor="ctr">
            <a:spAutoFit/>
          </a:bodyPr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q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r,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</a:t>
            </a:r>
            <a:r>
              <a:rPr lang="en-US" sz="2200" kern="0" dirty="0">
                <a:ea typeface="+mj-ea"/>
                <a:cs typeface="Times New Roman" pitchFamily="18" charset="0"/>
              </a:rPr>
              <a:t>r </a:t>
            </a:r>
            <a:r>
              <a:rPr lang="en-US" sz="2200" kern="0" dirty="0">
                <a:ea typeface="+mj-ea"/>
                <a:cs typeface="Times New Roman" pitchFamily="18" charset="0"/>
                <a:sym typeface="Symbol" pitchFamily="18" charset="2"/>
              </a:rPr>
              <a:t></a:t>
            </a:r>
            <a:r>
              <a:rPr lang="en-US" sz="2200" kern="0" dirty="0">
                <a:ea typeface="+mj-ea"/>
                <a:cs typeface="Times New Roman" pitchFamily="18" charset="0"/>
              </a:rPr>
              <a:t> t, </a:t>
            </a:r>
            <a:r>
              <a:rPr lang="en-US" sz="2200" kern="0" dirty="0">
                <a:solidFill>
                  <a:srgbClr val="FF0000"/>
                </a:solidFill>
                <a:ea typeface="+mj-ea"/>
                <a:cs typeface="Times New Roman" pitchFamily="18" charset="0"/>
              </a:rPr>
              <a:t>p</a:t>
            </a:r>
            <a:r>
              <a:rPr lang="en-US" sz="2200" kern="0" dirty="0">
                <a:ea typeface="+mj-ea"/>
                <a:cs typeface="Times New Roman" pitchFamily="18" charset="0"/>
              </a:rPr>
              <a:t> , </a:t>
            </a:r>
            <a:r>
              <a:rPr lang="en-US" sz="2200" kern="0" err="1">
                <a:ea typeface="+mj-ea"/>
                <a:cs typeface="Times New Roman" pitchFamily="18" charset="0"/>
              </a:rPr>
              <a:t>t</a:t>
            </a:r>
            <a:r>
              <a:rPr lang="en-US" sz="2200" kern="0">
                <a:ea typeface="+mj-ea"/>
                <a:cs typeface="Times New Roman" pitchFamily="18" charset="0"/>
                <a:sym typeface="Symbol"/>
              </a:rPr>
              <a:t></a:t>
            </a:r>
            <a:r>
              <a:rPr lang="en-US" sz="2000" b="1" kern="0">
                <a:cs typeface="Times New Roman" pitchFamily="18" charset="0"/>
                <a:sym typeface="Symbol"/>
              </a:rPr>
              <a:t> </a:t>
            </a:r>
            <a:r>
              <a:rPr lang="en-US" sz="2000" kern="0">
                <a:solidFill>
                  <a:srgbClr val="FF0000"/>
                </a:solidFill>
                <a:cs typeface="Times New Roman" pitchFamily="18" charset="0"/>
                <a:sym typeface="Symbol"/>
              </a:rPr>
              <a:t>p</a:t>
            </a:r>
            <a:endParaRPr lang="en-US" sz="2200" kern="0" dirty="0">
              <a:solidFill>
                <a:srgbClr val="FF0000"/>
              </a:solidFill>
              <a:ea typeface="+mj-ea"/>
              <a:cs typeface="Times New Roman" pitchFamily="18" charset="0"/>
            </a:endParaRPr>
          </a:p>
        </p:txBody>
      </p:sp>
      <p:cxnSp>
        <p:nvCxnSpPr>
          <p:cNvPr id="35" name="Straight Arrow Connector 34"/>
          <p:cNvCxnSpPr>
            <a:cxnSpLocks noChangeShapeType="1"/>
            <a:endCxn id="30" idx="0"/>
          </p:cNvCxnSpPr>
          <p:nvPr/>
        </p:nvCxnSpPr>
        <p:spPr bwMode="auto">
          <a:xfrm>
            <a:off x="3534508" y="2809875"/>
            <a:ext cx="0" cy="241466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9049D77-E185-F3EE-EC22-2E7E8460C59F}"/>
              </a:ext>
            </a:extLst>
          </p:cNvPr>
          <p:cNvSpPr txBox="1"/>
          <p:nvPr/>
        </p:nvSpPr>
        <p:spPr>
          <a:xfrm>
            <a:off x="8231125" y="1104319"/>
            <a:ext cx="3490058" cy="707886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vi-VN" sz="4000" dirty="0">
                <a:solidFill>
                  <a:srgbClr val="FF0000"/>
                </a:solidFill>
              </a:rPr>
              <a:t>Kết thúc buổi 5.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9" grpId="0" animBg="1"/>
      <p:bldP spid="20" grpId="0" animBg="1"/>
      <p:bldP spid="21" grpId="0" animBg="1"/>
      <p:bldP spid="34" grpId="0" animBg="1"/>
      <p:bldP spid="41" grpId="0" animBg="1"/>
      <p:bldP spid="42" grpId="0" animBg="1"/>
      <p:bldP spid="43" grpId="0" animBg="1"/>
      <p:bldP spid="44" grpId="0" animBg="1"/>
      <p:bldP spid="25" grpId="0" animBg="1"/>
      <p:bldP spid="28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B87C2-942C-77DE-B1EA-3B37513D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7" name="Rectangle 2">
            <a:extLst>
              <a:ext uri="{FF2B5EF4-FFF2-40B4-BE49-F238E27FC236}">
                <a16:creationId xmlns:a16="http://schemas.microsoft.com/office/drawing/2014/main" id="{CC23E7B8-7D85-DC4A-48BE-74587B9642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2200" y="2057400"/>
            <a:ext cx="7620000" cy="1143000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2. </a:t>
            </a:r>
            <a:r>
              <a:rPr lang="en-US" dirty="0" err="1">
                <a:solidFill>
                  <a:srgbClr val="0070C0"/>
                </a:solidFill>
              </a:rPr>
              <a:t>Suy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trong</a:t>
            </a:r>
            <a:r>
              <a:rPr lang="en-US" dirty="0">
                <a:solidFill>
                  <a:srgbClr val="0070C0"/>
                </a:solidFill>
              </a:rPr>
              <a:t> 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654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52400"/>
            <a:ext cx="8991600" cy="911225"/>
          </a:xfrm>
        </p:spPr>
        <p:txBody>
          <a:bodyPr anchor="b"/>
          <a:lstStyle/>
          <a:p>
            <a:pPr eaLnBrk="1" hangingPunct="1"/>
            <a:r>
              <a:rPr lang="en-US" dirty="0">
                <a:solidFill>
                  <a:srgbClr val="0070C0"/>
                </a:solidFill>
              </a:rPr>
              <a:t>2. </a:t>
            </a:r>
            <a:r>
              <a:rPr lang="en-US" dirty="0" err="1">
                <a:solidFill>
                  <a:srgbClr val="0070C0"/>
                </a:solidFill>
              </a:rPr>
              <a:t>Suy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trong</a:t>
            </a:r>
            <a:r>
              <a:rPr lang="en-US" dirty="0">
                <a:solidFill>
                  <a:srgbClr val="0070C0"/>
                </a:solidFill>
              </a:rPr>
              <a:t> 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345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04584"/>
            <a:ext cx="8534400" cy="4262815"/>
          </a:xfrm>
        </p:spPr>
        <p:txBody>
          <a:bodyPr>
            <a:normAutofit/>
          </a:bodyPr>
          <a:lstStyle/>
          <a:p>
            <a:pPr marL="6350" indent="6350" eaLnBrk="1" hangingPunct="1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Suy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tiến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350" indent="6350" algn="just" eaLnBrk="1" hangingPunct="1">
              <a:buNone/>
            </a:pPr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Xuất phát từ các mệnh đề đã cho ban đầu, sử dụng các luật cho đến khi đưa ra kết luận mong muốn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6350" indent="6350" algn="just" eaLnBrk="1" hangingPunct="1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Nói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vế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Bổ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sung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phần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KB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thấy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4772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2" y="1676400"/>
            <a:ext cx="2560741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1662" y="1709738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</a:rPr>
              <a:t>L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B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B97D16F-C408-DE01-916C-1C2E769988DF}"/>
              </a:ext>
            </a:extLst>
          </p:cNvPr>
          <p:cNvSpPr/>
          <p:nvPr/>
        </p:nvSpPr>
        <p:spPr>
          <a:xfrm>
            <a:off x="4191001" y="5182769"/>
            <a:ext cx="457200" cy="3893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F112A6-D16E-2D93-7704-59D4157A0488}"/>
              </a:ext>
            </a:extLst>
          </p:cNvPr>
          <p:cNvSpPr/>
          <p:nvPr/>
        </p:nvSpPr>
        <p:spPr>
          <a:xfrm>
            <a:off x="5257800" y="5182769"/>
            <a:ext cx="457200" cy="3893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87452-FB6B-E3F9-AC1A-9FD6606CD2CD}"/>
              </a:ext>
            </a:extLst>
          </p:cNvPr>
          <p:cNvSpPr txBox="1"/>
          <p:nvPr/>
        </p:nvSpPr>
        <p:spPr>
          <a:xfrm>
            <a:off x="7215692" y="1745833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</a:rPr>
              <a:t>L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5D76DF7-93AF-665E-1DFF-48451061A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7188" y="1828800"/>
            <a:ext cx="2696212" cy="390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C4B56CB0-49D5-D00D-4EB8-518E7B13D628}"/>
              </a:ext>
            </a:extLst>
          </p:cNvPr>
          <p:cNvSpPr/>
          <p:nvPr/>
        </p:nvSpPr>
        <p:spPr>
          <a:xfrm>
            <a:off x="5562600" y="31242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22184" y="200826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67111" y="1719262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</a:rPr>
              <a:t>L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  B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=&gt;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9816" y="1719262"/>
            <a:ext cx="2595785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541B8423-8FE1-3740-B120-0E755A61F4B1}"/>
              </a:ext>
            </a:extLst>
          </p:cNvPr>
          <p:cNvSpPr/>
          <p:nvPr/>
        </p:nvSpPr>
        <p:spPr>
          <a:xfrm>
            <a:off x="299507" y="32004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2B78C6C-BB74-750F-6C51-9DB04C1B09A9}"/>
              </a:ext>
            </a:extLst>
          </p:cNvPr>
          <p:cNvSpPr/>
          <p:nvPr/>
        </p:nvSpPr>
        <p:spPr>
          <a:xfrm>
            <a:off x="5943600" y="31242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1B0D9-F8B4-96AC-A4DE-C2DBDB503CEB}"/>
              </a:ext>
            </a:extLst>
          </p:cNvPr>
          <p:cNvSpPr txBox="1"/>
          <p:nvPr/>
        </p:nvSpPr>
        <p:spPr>
          <a:xfrm>
            <a:off x="7263301" y="1580108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</a:rPr>
              <a:t>L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=&gt;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0092"/>
                </a:solidFill>
                <a:latin typeface="Arial" pitchFamily="34" charset="0"/>
                <a:sym typeface="Symbol" pitchFamily="18" charset="2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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=&gt;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AE0B54-8189-94BD-E80C-A3498F3E3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1784" y="1719262"/>
            <a:ext cx="2608713" cy="3930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506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3429" y="304800"/>
            <a:ext cx="1476879" cy="3266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  <a:latin typeface="Arial" pitchFamily="34" charset="0"/>
              </a:rPr>
              <a:t>L</a:t>
            </a:r>
            <a:r>
              <a:rPr lang="en-US" sz="2000" b="1" dirty="0">
                <a:latin typeface="Arial" pitchFamily="34" charset="0"/>
              </a:rPr>
              <a:t> 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 </a:t>
            </a:r>
            <a:r>
              <a:rPr lang="en-US" sz="2000" b="1" dirty="0">
                <a:solidFill>
                  <a:srgbClr val="000092"/>
                </a:solidFill>
                <a:latin typeface="Arial" pitchFamily="34" charset="0"/>
                <a:sym typeface="Symbol" pitchFamily="18" charset="2"/>
              </a:rPr>
              <a:t>M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=&gt; </a:t>
            </a:r>
            <a:r>
              <a:rPr lang="en-US" sz="2000" b="1" dirty="0">
                <a:solidFill>
                  <a:srgbClr val="00B0F0"/>
                </a:solidFill>
                <a:latin typeface="Arial" pitchFamily="34" charset="0"/>
                <a:sym typeface="Symbol" pitchFamily="18" charset="2"/>
              </a:rPr>
              <a:t>P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 </a:t>
            </a:r>
            <a:r>
              <a:rPr lang="en-US" sz="20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=&gt; </a:t>
            </a:r>
            <a:r>
              <a:rPr lang="en-US" sz="2000" b="1" dirty="0">
                <a:solidFill>
                  <a:srgbClr val="000092"/>
                </a:solidFill>
                <a:latin typeface="Arial" pitchFamily="34" charset="0"/>
                <a:sym typeface="Symbol" pitchFamily="18" charset="2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 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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 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=&gt; </a:t>
            </a:r>
            <a:r>
              <a:rPr lang="en-US" sz="20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170" y="304800"/>
            <a:ext cx="2130393" cy="326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9B2B45D0-7B01-C045-60FB-EECB29492815}"/>
              </a:ext>
            </a:extLst>
          </p:cNvPr>
          <p:cNvSpPr/>
          <p:nvPr/>
        </p:nvSpPr>
        <p:spPr>
          <a:xfrm>
            <a:off x="59029" y="1597118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640EE3D-DE6A-B318-C961-5E3094AB51C4}"/>
              </a:ext>
            </a:extLst>
          </p:cNvPr>
          <p:cNvSpPr/>
          <p:nvPr/>
        </p:nvSpPr>
        <p:spPr>
          <a:xfrm>
            <a:off x="5791200" y="1368518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912B6-9D23-99D0-7C32-8E9779DEA3F4}"/>
              </a:ext>
            </a:extLst>
          </p:cNvPr>
          <p:cNvSpPr txBox="1"/>
          <p:nvPr/>
        </p:nvSpPr>
        <p:spPr>
          <a:xfrm>
            <a:off x="8467322" y="192258"/>
            <a:ext cx="1729778" cy="326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F0"/>
                </a:solidFill>
                <a:latin typeface="Arial" pitchFamily="34" charset="0"/>
              </a:rPr>
              <a:t>P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2000" b="1" dirty="0">
                <a:latin typeface="Arial" pitchFamily="34" charset="0"/>
              </a:rPr>
              <a:t>=&gt;</a:t>
            </a:r>
            <a:r>
              <a:rPr lang="en-US" sz="2000" b="1" dirty="0">
                <a:solidFill>
                  <a:srgbClr val="FF0000"/>
                </a:solidFill>
                <a:latin typeface="Arial" pitchFamily="34" charset="0"/>
              </a:rPr>
              <a:t> </a:t>
            </a:r>
            <a:r>
              <a:rPr lang="en-US" sz="2000" b="1" dirty="0">
                <a:solidFill>
                  <a:srgbClr val="7030A0"/>
                </a:solidFill>
                <a:latin typeface="Arial" pitchFamily="34" charset="0"/>
              </a:rPr>
              <a:t>Q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  <a:latin typeface="Arial" pitchFamily="34" charset="0"/>
              </a:rPr>
              <a:t>L</a:t>
            </a:r>
            <a:r>
              <a:rPr lang="en-US" sz="2000" b="1" dirty="0">
                <a:latin typeface="Arial" pitchFamily="34" charset="0"/>
              </a:rPr>
              <a:t> 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 </a:t>
            </a:r>
            <a:r>
              <a:rPr lang="en-US" sz="2000" b="1" dirty="0">
                <a:solidFill>
                  <a:srgbClr val="000092"/>
                </a:solidFill>
                <a:latin typeface="Arial" pitchFamily="34" charset="0"/>
                <a:sym typeface="Symbol" pitchFamily="18" charset="2"/>
              </a:rPr>
              <a:t>M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=&gt; </a:t>
            </a:r>
            <a:r>
              <a:rPr lang="en-US" sz="2000" b="1" dirty="0">
                <a:solidFill>
                  <a:srgbClr val="66CCFF"/>
                </a:solidFill>
                <a:latin typeface="Arial" pitchFamily="34" charset="0"/>
                <a:sym typeface="Symbol" pitchFamily="18" charset="2"/>
              </a:rPr>
              <a:t>P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 </a:t>
            </a:r>
            <a:r>
              <a:rPr lang="en-US" sz="20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=&gt; </a:t>
            </a:r>
            <a:r>
              <a:rPr lang="en-US" sz="2000" b="1" dirty="0">
                <a:solidFill>
                  <a:srgbClr val="000092"/>
                </a:solidFill>
                <a:latin typeface="Arial" pitchFamily="34" charset="0"/>
                <a:sym typeface="Symbol" pitchFamily="18" charset="2"/>
              </a:rPr>
              <a:t>M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 </a:t>
            </a: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 =&gt; </a:t>
            </a:r>
            <a:r>
              <a:rPr lang="en-US" sz="2000" b="1" dirty="0">
                <a:solidFill>
                  <a:srgbClr val="00B050"/>
                </a:solidFill>
                <a:latin typeface="Arial" pitchFamily="34" charset="0"/>
                <a:sym typeface="Symbol" pitchFamily="18" charset="2"/>
              </a:rPr>
              <a:t>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FF"/>
                </a:solidFill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2AC8B01-D326-0B88-5997-965D08468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7729" y="168195"/>
            <a:ext cx="2148176" cy="326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EE1AC3-B5EF-ABB0-C66A-2822CAFE445F}"/>
              </a:ext>
            </a:extLst>
          </p:cNvPr>
          <p:cNvSpPr txBox="1"/>
          <p:nvPr/>
        </p:nvSpPr>
        <p:spPr>
          <a:xfrm>
            <a:off x="5152820" y="3048000"/>
            <a:ext cx="1476879" cy="32669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</a:rPr>
              <a:t>L </a:t>
            </a:r>
            <a:r>
              <a:rPr lang="en-US" sz="2000" b="1" dirty="0"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9D96E28-8E2F-0090-AA0B-1CF437A6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368040"/>
            <a:ext cx="1729777" cy="2626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E50421BE-1FAB-9F8F-673E-B866382969FE}"/>
              </a:ext>
            </a:extLst>
          </p:cNvPr>
          <p:cNvSpPr/>
          <p:nvPr/>
        </p:nvSpPr>
        <p:spPr>
          <a:xfrm rot="8241872">
            <a:off x="8383822" y="3975007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66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0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152400"/>
            <a:ext cx="8991600" cy="9112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Suy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trong</a:t>
            </a:r>
            <a:r>
              <a:rPr lang="en-US" dirty="0">
                <a:solidFill>
                  <a:srgbClr val="0070C0"/>
                </a:solidFill>
              </a:rPr>
              <a:t> logic </a:t>
            </a:r>
            <a:r>
              <a:rPr lang="en-US" dirty="0" err="1">
                <a:solidFill>
                  <a:srgbClr val="0070C0"/>
                </a:solidFill>
              </a:rPr>
              <a:t>mệnh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đề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3450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4032" y="1447800"/>
            <a:ext cx="8217568" cy="3810000"/>
          </a:xfrm>
        </p:spPr>
        <p:txBody>
          <a:bodyPr>
            <a:normAutofit/>
          </a:bodyPr>
          <a:lstStyle/>
          <a:p>
            <a:pPr marL="6350" indent="6350" eaLnBrk="1" hangingPunct="1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Suy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lùi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6350" indent="6350" algn="just" eaLnBrk="1" hangingPunct="1">
              <a:buNone/>
            </a:pPr>
            <a:r>
              <a:rPr lang="vi-VN" dirty="0">
                <a:solidFill>
                  <a:schemeClr val="accent1">
                    <a:lumMod val="75000"/>
                  </a:schemeClr>
                </a:solidFill>
              </a:rPr>
              <a:t>Xuất phát từ các kết luận mong muốn, xem những luật có khả năng suy ra chúng, thêm các tiền đề vào d/s các KL cần CM và cứ như vậy tiếp tục đến khi d/s KL cần CM rỗng.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6350" indent="6350" eaLnBrk="1" hangingPunct="1">
              <a:buNone/>
            </a:pPr>
            <a:b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806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14400" y="1447800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</a:rPr>
              <a:t>L </a:t>
            </a:r>
            <a:r>
              <a:rPr lang="en-US" sz="2400" b="1"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774" y="1671637"/>
            <a:ext cx="2343150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D46308-76D4-BD77-CDD6-E7E2137AA4D3}"/>
              </a:ext>
            </a:extLst>
          </p:cNvPr>
          <p:cNvSpPr txBox="1"/>
          <p:nvPr/>
        </p:nvSpPr>
        <p:spPr>
          <a:xfrm>
            <a:off x="6879805" y="1431758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</a:rPr>
              <a:t>L 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B69C895-E6E5-1759-9001-E7BA0D60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339" y="1551989"/>
            <a:ext cx="2345528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9215A594-CD26-5273-1CD7-217CF8439758}"/>
              </a:ext>
            </a:extLst>
          </p:cNvPr>
          <p:cNvSpPr/>
          <p:nvPr/>
        </p:nvSpPr>
        <p:spPr>
          <a:xfrm>
            <a:off x="5562600" y="31242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490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234315" y="1332515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</a:rPr>
              <a:t>L 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749" y="1524000"/>
            <a:ext cx="2289651" cy="3510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3387A7-1210-61E7-F8A7-AD8A43BE1A17}"/>
              </a:ext>
            </a:extLst>
          </p:cNvPr>
          <p:cNvSpPr txBox="1"/>
          <p:nvPr/>
        </p:nvSpPr>
        <p:spPr>
          <a:xfrm>
            <a:off x="7364202" y="1332515"/>
            <a:ext cx="1730795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itchFamily="34" charset="0"/>
              </a:rPr>
              <a:t>P =&gt; Q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</a:rPr>
              <a:t>L </a:t>
            </a:r>
            <a:r>
              <a:rPr lang="en-US" sz="2400" b="1" dirty="0">
                <a:latin typeface="Arial" pitchFamily="34" charset="0"/>
                <a:sym typeface="Symbol" pitchFamily="18" charset="2"/>
              </a:rPr>
              <a:t> M =&gt; 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 L =&gt; 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P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  B =&gt; L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itchFamily="34" charset="0"/>
                <a:sym typeface="Symbol" pitchFamily="18" charset="2"/>
              </a:rPr>
              <a:t>B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6CAC850-7C5A-86F9-D42C-73C6E95F0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1605147"/>
            <a:ext cx="2319337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012925B2-37AD-2B90-1718-452EDE06EFA7}"/>
              </a:ext>
            </a:extLst>
          </p:cNvPr>
          <p:cNvSpPr/>
          <p:nvPr/>
        </p:nvSpPr>
        <p:spPr>
          <a:xfrm>
            <a:off x="228600" y="27432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E989C33E-ED81-D960-F3CA-67840DC01525}"/>
              </a:ext>
            </a:extLst>
          </p:cNvPr>
          <p:cNvSpPr/>
          <p:nvPr/>
        </p:nvSpPr>
        <p:spPr>
          <a:xfrm>
            <a:off x="6172200" y="2819400"/>
            <a:ext cx="914400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6287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730037-2434-452D-A4DF-6CA4381C94F7}"/>
              </a:ext>
            </a:extLst>
          </p:cNvPr>
          <p:cNvSpPr txBox="1"/>
          <p:nvPr/>
        </p:nvSpPr>
        <p:spPr>
          <a:xfrm>
            <a:off x="1143000" y="609600"/>
            <a:ext cx="9906000" cy="165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 eaLnBrk="1" hangingPunct="1">
              <a:lnSpc>
                <a:spcPct val="150000"/>
              </a:lnSpc>
              <a:buNone/>
            </a:pPr>
            <a:r>
              <a:rPr lang="en-US" sz="3600" dirty="0">
                <a:solidFill>
                  <a:srgbClr val="0070C0"/>
                </a:solidFill>
              </a:rPr>
              <a:t>3. </a:t>
            </a:r>
            <a:r>
              <a:rPr lang="en-US" sz="3600" dirty="0" err="1">
                <a:solidFill>
                  <a:srgbClr val="0070C0"/>
                </a:solidFill>
              </a:rPr>
              <a:t>Biểu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diễn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và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xử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lý</a:t>
            </a:r>
            <a:r>
              <a:rPr lang="en-US" sz="3600" dirty="0">
                <a:solidFill>
                  <a:srgbClr val="0070C0"/>
                </a:solidFill>
              </a:rPr>
              <a:t> tri </a:t>
            </a:r>
            <a:r>
              <a:rPr lang="en-US" sz="3600" dirty="0" err="1">
                <a:solidFill>
                  <a:srgbClr val="0070C0"/>
                </a:solidFill>
              </a:rPr>
              <a:t>thức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bằng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mô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hình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mạng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ngữ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nghĩa</a:t>
            </a:r>
            <a:r>
              <a:rPr lang="en-US" sz="3600" dirty="0">
                <a:solidFill>
                  <a:srgbClr val="0070C0"/>
                </a:solidFill>
              </a:rPr>
              <a:t> (Semantic network).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E6D2A6B6-DD87-3E74-2621-66446FFD0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971800"/>
            <a:ext cx="28956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76200" cmpd="tri">
            <a:solidFill>
              <a:srgbClr val="3333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dirty="0" err="1">
                <a:latin typeface="Arial" charset="0"/>
                <a:cs typeface="Arial" charset="0"/>
              </a:rPr>
              <a:t>Là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phương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pháp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biểu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diễn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dirty="0">
                <a:latin typeface="Arial" charset="0"/>
                <a:cs typeface="Arial" charset="0"/>
              </a:rPr>
              <a:t>tri </a:t>
            </a:r>
            <a:r>
              <a:rPr lang="en-US" dirty="0" err="1">
                <a:latin typeface="Arial" charset="0"/>
                <a:cs typeface="Arial" charset="0"/>
              </a:rPr>
              <a:t>thức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bằng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đồ</a:t>
            </a:r>
            <a:r>
              <a:rPr lang="en-US" dirty="0">
                <a:latin typeface="Arial" charset="0"/>
                <a:cs typeface="Arial" charset="0"/>
              </a:rPr>
              <a:t> </a:t>
            </a:r>
            <a:r>
              <a:rPr lang="en-US" dirty="0" err="1">
                <a:latin typeface="Arial" charset="0"/>
                <a:cs typeface="Arial" charset="0"/>
              </a:rPr>
              <a:t>thị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" name="Line 9">
            <a:extLst>
              <a:ext uri="{FF2B5EF4-FFF2-40B4-BE49-F238E27FC236}">
                <a16:creationId xmlns:a16="http://schemas.microsoft.com/office/drawing/2014/main" id="{556C7998-6856-E46F-A96E-61E0F4BB3E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00600" y="39624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63A5D216-DDE4-1852-89BF-4F438CCE6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962400"/>
            <a:ext cx="381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A0ECE5A4-C9B7-65F5-D1E0-550AAC554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776788"/>
            <a:ext cx="1371600" cy="685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 cmpd="thickThin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400" dirty="0">
                <a:latin typeface="Arial" charset="0"/>
                <a:cs typeface="Arial" charset="0"/>
              </a:rPr>
              <a:t>Các </a:t>
            </a:r>
            <a:r>
              <a:rPr lang="en-US" sz="1400" dirty="0" err="1">
                <a:latin typeface="Arial" charset="0"/>
                <a:cs typeface="Arial" charset="0"/>
              </a:rPr>
              <a:t>đối</a:t>
            </a:r>
            <a:r>
              <a:rPr lang="en-US" sz="1400" dirty="0">
                <a:latin typeface="Arial" charset="0"/>
                <a:cs typeface="Arial" charset="0"/>
              </a:rPr>
              <a:t> </a:t>
            </a:r>
            <a:r>
              <a:rPr lang="en-US" sz="1400" dirty="0" err="1">
                <a:latin typeface="Arial" charset="0"/>
                <a:cs typeface="Arial" charset="0"/>
              </a:rPr>
              <a:t>tượng</a:t>
            </a:r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3530E27-53B1-BA06-1941-627201948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776788"/>
            <a:ext cx="1524000" cy="685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7150" cmpd="thickThin">
            <a:solidFill>
              <a:srgbClr val="3333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1400" dirty="0">
                <a:latin typeface="Arial" charset="0"/>
                <a:cs typeface="Arial" charset="0"/>
              </a:rPr>
              <a:t>Các </a:t>
            </a:r>
            <a:r>
              <a:rPr lang="en-US" sz="1400" dirty="0" err="1">
                <a:latin typeface="Arial" charset="0"/>
                <a:cs typeface="Arial" charset="0"/>
              </a:rPr>
              <a:t>mối</a:t>
            </a:r>
            <a:r>
              <a:rPr lang="en-US" sz="1400" dirty="0">
                <a:latin typeface="Arial" charset="0"/>
                <a:cs typeface="Arial" charset="0"/>
              </a:rPr>
              <a:t> </a:t>
            </a:r>
            <a:r>
              <a:rPr lang="en-US" sz="1400" dirty="0" err="1">
                <a:latin typeface="Arial" charset="0"/>
                <a:cs typeface="Arial" charset="0"/>
              </a:rPr>
              <a:t>liên</a:t>
            </a:r>
            <a:r>
              <a:rPr lang="en-US" sz="1400" dirty="0">
                <a:latin typeface="Arial" charset="0"/>
                <a:cs typeface="Arial" charset="0"/>
              </a:rPr>
              <a:t> </a:t>
            </a:r>
            <a:r>
              <a:rPr lang="en-US" sz="1400" dirty="0" err="1">
                <a:latin typeface="Arial" charset="0"/>
                <a:cs typeface="Arial" charset="0"/>
              </a:rPr>
              <a:t>hệ</a:t>
            </a:r>
            <a:endParaRPr lang="en-US" sz="1400" dirty="0">
              <a:latin typeface="Arial" charset="0"/>
              <a:cs typeface="Arial" charset="0"/>
            </a:endParaRPr>
          </a:p>
        </p:txBody>
      </p:sp>
      <p:sp>
        <p:nvSpPr>
          <p:cNvPr id="8" name="Text Box 13">
            <a:extLst>
              <a:ext uri="{FF2B5EF4-FFF2-40B4-BE49-F238E27FC236}">
                <a16:creationId xmlns:a16="http://schemas.microsoft.com/office/drawing/2014/main" id="{A5F370B1-6778-3CDB-21F5-04D0AA79F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1" y="4179888"/>
            <a:ext cx="549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400">
                <a:latin typeface="Arial" pitchFamily="34" charset="0"/>
              </a:rPr>
              <a:t>Đỉnh</a:t>
            </a:r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9CF7FC4E-B5A6-A3F0-4215-3824A5A2C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8" y="4191000"/>
            <a:ext cx="6080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400">
                <a:latin typeface="Arial" pitchFamily="34" charset="0"/>
              </a:rPr>
              <a:t>Cung</a:t>
            </a:r>
          </a:p>
        </p:txBody>
      </p:sp>
    </p:spTree>
    <p:extLst>
      <p:ext uri="{BB962C8B-B14F-4D97-AF65-F5344CB8AC3E}">
        <p14:creationId xmlns:p14="http://schemas.microsoft.com/office/powerpoint/2010/main" val="75474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47637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Ví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dụ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về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mạng</a:t>
            </a:r>
            <a:r>
              <a:rPr lang="en-US" dirty="0">
                <a:solidFill>
                  <a:srgbClr val="0070C0"/>
                </a:solidFill>
              </a:rPr>
              <a:t> tam </a:t>
            </a:r>
            <a:r>
              <a:rPr lang="en-US" dirty="0" err="1">
                <a:solidFill>
                  <a:srgbClr val="0070C0"/>
                </a:solidFill>
              </a:rPr>
              <a:t>giác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139545"/>
            <a:ext cx="8839200" cy="1599172"/>
          </a:xfrm>
        </p:spPr>
        <p:txBody>
          <a:bodyPr>
            <a:normAutofit lnSpcReduction="10000"/>
          </a:bodyPr>
          <a:lstStyle/>
          <a:p>
            <a:pPr marL="6350" indent="6350" algn="just" eaLnBrk="1" hangingPunct="1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toán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 tam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6350" indent="6350" algn="just" eaLnBrk="1" hangingPunct="1">
              <a:buNone/>
            </a:pP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 tam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góc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A, B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c.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S?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ACB9FBF-EDDB-035F-EE3F-F73BA558C581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2895600"/>
            <a:ext cx="99822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31788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b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xây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dựng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4488" indent="-331788" fontAlgn="auto">
              <a:spcAft>
                <a:spcPts val="0"/>
              </a:spcAft>
              <a:buFontTx/>
              <a:buAutoNum type="arabicPeriod"/>
            </a:pP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endParaRPr lang="en-US" dirty="0">
              <a:solidFill>
                <a:srgbClr val="66CC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3138" lvl="1" indent="-514350" fontAlgn="auto">
              <a:spcAft>
                <a:spcPts val="0"/>
              </a:spcAft>
              <a:buFontTx/>
              <a:buAutoNum type="alphaLcPeriod"/>
            </a:pP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tròn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góc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tam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giác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8788" lvl="1" indent="0" algn="ct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VD: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Cạnh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góc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đường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diện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nửa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chu vi</a:t>
            </a:r>
            <a:endParaRPr lang="en-US" sz="32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973138" lvl="1" indent="-514350" fontAlgn="auto">
              <a:spcAft>
                <a:spcPts val="0"/>
              </a:spcAft>
              <a:buFontTx/>
              <a:buAutoNum type="alphaLcPeriod"/>
            </a:pP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sz="3200" b="1" i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3200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endParaRPr lang="en-US" sz="3200" dirty="0">
              <a:solidFill>
                <a:srgbClr val="66CCFF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8788" lvl="1" indent="0" algn="ctr" fontAlgn="auto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VD: A+B+C=180</a:t>
            </a:r>
            <a:r>
              <a:rPr lang="en-US" sz="2800" i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0; 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p=(</a:t>
            </a:r>
            <a:r>
              <a:rPr lang="en-US" sz="28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a+b+c</a:t>
            </a:r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)/2</a:t>
            </a:r>
          </a:p>
          <a:p>
            <a:pPr marL="344488" indent="-331788" fontAlgn="auto">
              <a:spcAft>
                <a:spcPts val="0"/>
              </a:spcAft>
              <a:buFontTx/>
              <a:buAutoNum type="arabicPeriod"/>
            </a:pP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Cung: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Nối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tròn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dirty="0">
                <a:solidFill>
                  <a:srgbClr val="66CCFF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1176338"/>
            <a:ext cx="10058400" cy="5029200"/>
          </a:xfrm>
        </p:spPr>
        <p:txBody>
          <a:bodyPr>
            <a:normAutofit lnSpcReduction="10000"/>
          </a:bodyPr>
          <a:lstStyle/>
          <a:p>
            <a:pPr marL="6350" indent="6350" eaLnBrk="1" hangingPunct="1">
              <a:lnSpc>
                <a:spcPct val="100000"/>
              </a:lnSpc>
              <a:buNone/>
            </a:pP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Mô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hình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: Trong tam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giác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cho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các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công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thức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A + B + C = 180</a:t>
            </a:r>
            <a:r>
              <a:rPr lang="en-US" sz="2600" baseline="300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0</a:t>
            </a: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a*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sinB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= b*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sinA</a:t>
            </a:r>
            <a:endParaRPr lang="en-US" sz="26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b *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sinC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= c *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sinB</a:t>
            </a:r>
            <a:endParaRPr lang="en-US" sz="26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p = (a + b + c)/2</a:t>
            </a: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h</a:t>
            </a:r>
            <a:r>
              <a:rPr lang="en-US" sz="2600" baseline="-250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= a*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sinB</a:t>
            </a:r>
            <a:endParaRPr lang="en-US" sz="2600" dirty="0">
              <a:solidFill>
                <a:schemeClr val="accent1">
                  <a:lumMod val="75000"/>
                </a:schemeClr>
              </a:solidFill>
              <a:cs typeface="Times New Roman" pitchFamily="18" charset="0"/>
            </a:endParaRP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S = </a:t>
            </a:r>
            <a:r>
              <a:rPr lang="en-US" sz="26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h</a:t>
            </a:r>
            <a:r>
              <a:rPr lang="en-US" sz="2600" baseline="-25000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*c/2</a:t>
            </a:r>
          </a:p>
          <a:p>
            <a:pPr marL="406400" lvl="1" indent="6350" eaLnBrk="1" hangingPunct="1">
              <a:lnSpc>
                <a:spcPct val="100000"/>
              </a:lnSpc>
              <a:buFontTx/>
              <a:buAutoNum type="arabicPeriod"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S = </a:t>
            </a:r>
          </a:p>
          <a:p>
            <a:pPr marL="6350" indent="6350" algn="just" eaLnBrk="1" hangingPunct="1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Trong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đó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: A, B, C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3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góc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trong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của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tam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giác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; a, b, c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3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cạnh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của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tam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giác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;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h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đường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cao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; S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diện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tích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; p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là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nửa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cs typeface="Times New Roman" pitchFamily="18" charset="0"/>
              </a:rPr>
              <a:t> chu vi.</a:t>
            </a:r>
          </a:p>
        </p:txBody>
      </p:sp>
      <p:graphicFrame>
        <p:nvGraphicFramePr>
          <p:cNvPr id="2975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706400"/>
              </p:ext>
            </p:extLst>
          </p:nvPr>
        </p:nvGraphicFramePr>
        <p:xfrm>
          <a:off x="2590800" y="4114800"/>
          <a:ext cx="27527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253800" progId="Equation.3">
                  <p:embed/>
                </p:oleObj>
              </mc:Choice>
              <mc:Fallback>
                <p:oleObj name="Equation" r:id="rId2" imgW="1498320" imgH="253800" progId="Equation.3">
                  <p:embed/>
                  <p:pic>
                    <p:nvPicPr>
                      <p:cNvPr id="297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14800"/>
                        <a:ext cx="27527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Rectangle 2"/>
          <p:cNvSpPr>
            <a:spLocks noChangeArrowheads="1"/>
          </p:cNvSpPr>
          <p:nvPr/>
        </p:nvSpPr>
        <p:spPr bwMode="auto">
          <a:xfrm>
            <a:off x="1981200" y="147639"/>
            <a:ext cx="82296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Ví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dụ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về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mạng</a:t>
            </a:r>
            <a:r>
              <a:rPr lang="en-US" sz="4400" b="1" dirty="0">
                <a:solidFill>
                  <a:srgbClr val="0070C0"/>
                </a:solidFill>
                <a:latin typeface="Tahoma" pitchFamily="34" charset="0"/>
              </a:rPr>
              <a:t> tam </a:t>
            </a:r>
            <a:r>
              <a:rPr lang="en-US" sz="4400" b="1" dirty="0" err="1">
                <a:solidFill>
                  <a:srgbClr val="0070C0"/>
                </a:solidFill>
                <a:latin typeface="Tahoma" pitchFamily="34" charset="0"/>
              </a:rPr>
              <a:t>giác</a:t>
            </a:r>
            <a:endParaRPr lang="en-US" sz="4400" b="1" dirty="0">
              <a:solidFill>
                <a:srgbClr val="0070C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-22361"/>
            <a:ext cx="5141259" cy="835025"/>
          </a:xfrm>
        </p:spPr>
        <p:txBody>
          <a:bodyPr anchor="b">
            <a:normAutofit/>
          </a:bodyPr>
          <a:lstStyle/>
          <a:p>
            <a:pPr eaLnBrk="1" hangingPunct="1"/>
            <a:r>
              <a:rPr lang="en-US" sz="3600" dirty="0" err="1">
                <a:solidFill>
                  <a:srgbClr val="0070C0"/>
                </a:solidFill>
              </a:rPr>
              <a:t>Xây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dựng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mô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hình</a:t>
            </a:r>
            <a:r>
              <a:rPr lang="en-US" sz="3600" dirty="0">
                <a:solidFill>
                  <a:srgbClr val="0070C0"/>
                </a:solidFill>
              </a:rPr>
              <a:t> MNN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7565" y="1095000"/>
            <a:ext cx="2312893" cy="3781799"/>
          </a:xfrm>
        </p:spPr>
        <p:txBody>
          <a:bodyPr>
            <a:normAutofit/>
          </a:bodyPr>
          <a:lstStyle/>
          <a:p>
            <a:pPr marL="6350" indent="6350" eaLnBrk="1" hangingPunct="1">
              <a:buNone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16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9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tròn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(9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7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(7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5244A00-9EC4-619E-6D29-FC6A09975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0459" y="228600"/>
            <a:ext cx="2438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 + B + C – 180=0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D0CAB0-E744-393B-6CBF-7FA4D9AB3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659" y="2362200"/>
            <a:ext cx="2286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32AD9C-C861-E620-B1B3-A5ED1B8E1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259" y="2362200"/>
            <a:ext cx="1676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457200" indent="-457200" algn="ctr">
              <a:spcBef>
                <a:spcPct val="20000"/>
              </a:spcBef>
              <a:defRPr/>
            </a:pP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4D93E8C-7ED3-9E89-BD39-03822E258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8459" y="2362200"/>
            <a:ext cx="2286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c*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BECC684-BF3F-6E6A-B29C-A5A165BE3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515" y="4482152"/>
            <a:ext cx="16002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*c/2=0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CAD8304-4808-FDA9-EFA9-0A519F920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635" y="4482152"/>
            <a:ext cx="1864056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 –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a+b+c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)/2=0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3B1383F-F4D3-E4C9-FCC3-4C897A1FF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5059" y="4419600"/>
            <a:ext cx="3352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>
              <a:spcBef>
                <a:spcPct val="20000"/>
              </a:spcBef>
              <a:defRPr/>
            </a:pPr>
            <a:r>
              <a:rPr lang="en-US" sz="2200" kern="0" dirty="0">
                <a:latin typeface="Times New Roman" pitchFamily="18" charset="0"/>
                <a:cs typeface="Times New Roman" pitchFamily="18" charset="0"/>
              </a:rPr>
              <a:t>S–                                    =0</a:t>
            </a:r>
          </a:p>
        </p:txBody>
      </p:sp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C2A12C44-090B-D30F-FF77-D6FCBDDA28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435038"/>
              </p:ext>
            </p:extLst>
          </p:nvPr>
        </p:nvGraphicFramePr>
        <p:xfrm>
          <a:off x="9214784" y="4419601"/>
          <a:ext cx="2590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253800" progId="Equation.3">
                  <p:embed/>
                </p:oleObj>
              </mc:Choice>
              <mc:Fallback>
                <p:oleObj name="Equation" r:id="rId2" imgW="1498320" imgH="253800" progId="Equation.3">
                  <p:embed/>
                  <p:pic>
                    <p:nvPicPr>
                      <p:cNvPr id="297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4784" y="4419601"/>
                        <a:ext cx="2590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E2258A13-90DD-A743-1FF4-163B38B55239}"/>
              </a:ext>
            </a:extLst>
          </p:cNvPr>
          <p:cNvSpPr/>
          <p:nvPr/>
        </p:nvSpPr>
        <p:spPr bwMode="auto">
          <a:xfrm>
            <a:off x="4074459" y="11430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27742A-2F05-8814-CE51-1DFCF02CB524}"/>
              </a:ext>
            </a:extLst>
          </p:cNvPr>
          <p:cNvSpPr/>
          <p:nvPr/>
        </p:nvSpPr>
        <p:spPr bwMode="auto">
          <a:xfrm>
            <a:off x="6893859" y="11430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7BB3C65-CFD2-E06F-C70C-B68FF9BF41C8}"/>
              </a:ext>
            </a:extLst>
          </p:cNvPr>
          <p:cNvSpPr/>
          <p:nvPr/>
        </p:nvSpPr>
        <p:spPr bwMode="auto">
          <a:xfrm>
            <a:off x="9865659" y="11430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B69B780-F62A-F5A7-8108-8CD2AD9DC105}"/>
              </a:ext>
            </a:extLst>
          </p:cNvPr>
          <p:cNvSpPr/>
          <p:nvPr/>
        </p:nvSpPr>
        <p:spPr bwMode="auto">
          <a:xfrm>
            <a:off x="4150659" y="3443050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0BDED86-2B7B-E63B-368C-14ABDD0F0F18}"/>
              </a:ext>
            </a:extLst>
          </p:cNvPr>
          <p:cNvSpPr/>
          <p:nvPr/>
        </p:nvSpPr>
        <p:spPr bwMode="auto">
          <a:xfrm>
            <a:off x="6208059" y="3443050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718196-8C0F-9679-869B-D3C9478E66EC}"/>
              </a:ext>
            </a:extLst>
          </p:cNvPr>
          <p:cNvSpPr/>
          <p:nvPr/>
        </p:nvSpPr>
        <p:spPr bwMode="auto">
          <a:xfrm>
            <a:off x="8036859" y="34290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C37C41-6EDF-4A61-90FC-13B73A844468}"/>
              </a:ext>
            </a:extLst>
          </p:cNvPr>
          <p:cNvSpPr/>
          <p:nvPr/>
        </p:nvSpPr>
        <p:spPr bwMode="auto">
          <a:xfrm>
            <a:off x="10170459" y="34290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E2AF73-2AFE-22B6-FB7E-B4749C536F1E}"/>
              </a:ext>
            </a:extLst>
          </p:cNvPr>
          <p:cNvSpPr/>
          <p:nvPr/>
        </p:nvSpPr>
        <p:spPr bwMode="auto">
          <a:xfrm>
            <a:off x="5369859" y="57912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D0CF4E-9254-5FBD-C1C2-FEB04D01858D}"/>
              </a:ext>
            </a:extLst>
          </p:cNvPr>
          <p:cNvSpPr/>
          <p:nvPr/>
        </p:nvSpPr>
        <p:spPr bwMode="auto">
          <a:xfrm>
            <a:off x="8494059" y="57912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EEEF9E-346A-772B-65FC-2767DFB3361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465109" y="-209550"/>
            <a:ext cx="457200" cy="22479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B6CEAD-F319-4D84-B217-39FC9E8EBF8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922059" y="1828800"/>
            <a:ext cx="685800" cy="381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EA4312-7E32-B2F0-CE03-6F7EA382E95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7160560" y="876301"/>
            <a:ext cx="533400" cy="31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D70B721-AA97-D704-94D3-3ED959EA514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6989109" y="2000250"/>
            <a:ext cx="685800" cy="381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4407E96-A66C-6530-05F7-EE04D3B3D97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8417859" y="685800"/>
            <a:ext cx="19812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3D4BC9-A848-CC3B-4E4F-E3E3C656C70E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9960910" y="2000251"/>
            <a:ext cx="687387" cy="365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3FA314-5AD0-F5E0-E83F-10B84085E00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473048" y="796926"/>
            <a:ext cx="776287" cy="23542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92AA0F5-D80E-17F5-1247-72499B44E8B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55859" y="1600200"/>
            <a:ext cx="2209800" cy="762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4875A0-7918-2B97-7D4A-8CEE807CD4D0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4036359" y="27813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4F8B96-F711-CC71-EBAB-19F17D7562A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4055409" y="3981450"/>
            <a:ext cx="533400" cy="4953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50BD52-0D77-0DAF-C021-61D2F61250A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760259" y="2819400"/>
            <a:ext cx="2209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36F896-F695-0A23-87B5-3A42397551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84059" y="3962400"/>
            <a:ext cx="47244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C11966-974A-BA88-865C-F35AA5DD6902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836459" y="2743200"/>
            <a:ext cx="1828800" cy="685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F0A491A-3950-9213-9861-B85B39AAD95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4455459" y="3962400"/>
            <a:ext cx="2095500" cy="533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6AFD09A-E0B9-BCA9-E600-830022B493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6741459" y="2819400"/>
            <a:ext cx="31242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DB18A51-5806-6FA0-FE2D-8857FECAC7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665259" y="3962400"/>
            <a:ext cx="33528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4909BAB-53D3-5EAB-8EA0-4BBCD7122A86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7922559" y="27813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3460798-218B-7F96-20E7-04BCCE5DC6D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941609" y="3981450"/>
            <a:ext cx="533400" cy="4953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1A41E75-ADD9-7A17-21AA-33F05432EB58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10056159" y="27813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A913A7D-A9B9-F10C-2637-8EF1C9177D6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8265459" y="3962400"/>
            <a:ext cx="2324100" cy="533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D1564F-0D2F-E034-32F1-BE2CD02BE1C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0399060" y="4191001"/>
            <a:ext cx="457200" cy="31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0CB8E10-062F-DC93-110B-424693DB455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684059" y="4876800"/>
            <a:ext cx="1066800" cy="914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D2F516-8B5A-3201-F4C9-842D24989E7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827059" y="4953000"/>
            <a:ext cx="3505200" cy="838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5D7AD9-202A-1615-1775-5AA7B7680E7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7884459" y="4876800"/>
            <a:ext cx="1066800" cy="914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D53B33-121E-609F-1BF6-4026205D9BC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9027459" y="4953000"/>
            <a:ext cx="1905000" cy="838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38DB778-F6EC-BA47-925A-E235332B3F7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5217460" y="3810000"/>
            <a:ext cx="5021263" cy="685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00"/>
                            </p:stCondLst>
                            <p:childTnLst>
                              <p:par>
                                <p:cTn id="164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192087"/>
            <a:ext cx="8229600" cy="835025"/>
          </a:xfrm>
        </p:spPr>
        <p:txBody>
          <a:bodyPr anchor="b"/>
          <a:lstStyle/>
          <a:p>
            <a:pPr eaLnBrk="1" hangingPunct="1"/>
            <a:r>
              <a:rPr lang="en-US" dirty="0" err="1">
                <a:solidFill>
                  <a:srgbClr val="0070C0"/>
                </a:solidFill>
              </a:rPr>
              <a:t>Cơ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chế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suy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diễn</a:t>
            </a:r>
            <a:r>
              <a:rPr lang="en-US" dirty="0">
                <a:solidFill>
                  <a:srgbClr val="0070C0"/>
                </a:solidFill>
              </a:rPr>
              <a:t> MNN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219200"/>
            <a:ext cx="9296400" cy="5029200"/>
          </a:xfrm>
        </p:spPr>
        <p:txBody>
          <a:bodyPr/>
          <a:lstStyle/>
          <a:p>
            <a:pPr marL="457200" indent="-444500" eaLnBrk="1" hangingPunct="1">
              <a:buFontTx/>
              <a:buAutoNum type="arabicPeriod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44500" eaLnBrk="1" hangingPunct="1">
              <a:buFontTx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truyền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44500" eaLnBrk="1" hangingPunct="1">
              <a:buFontTx/>
              <a:buAutoNum type="arabicPeriod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n – 1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44500" eaLnBrk="1" hangingPunct="1">
              <a:buFontTx/>
              <a:buAutoNum type="arabicPeriod"/>
            </a:pP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tròn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đỉnh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chữ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nhật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hệ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nó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kích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86300" y="76200"/>
            <a:ext cx="2438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 + B + C – 180=0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714500" y="2209800"/>
            <a:ext cx="2286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991100" y="2209800"/>
            <a:ext cx="1676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457200" indent="-457200" algn="ctr">
              <a:spcBef>
                <a:spcPct val="20000"/>
              </a:spcBef>
              <a:defRPr/>
            </a:pP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734300" y="2209800"/>
            <a:ext cx="2286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c*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026356" y="4329752"/>
            <a:ext cx="16002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*c/2=0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954476" y="4329752"/>
            <a:ext cx="1864056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 – 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a+b+c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)/2=0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7200900" y="4267200"/>
            <a:ext cx="3352800" cy="533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>
              <a:spcBef>
                <a:spcPct val="20000"/>
              </a:spcBef>
              <a:defRPr/>
            </a:pPr>
            <a:r>
              <a:rPr lang="en-US" sz="2200" kern="0" dirty="0">
                <a:latin typeface="Times New Roman" pitchFamily="18" charset="0"/>
                <a:cs typeface="Times New Roman" pitchFamily="18" charset="0"/>
              </a:rPr>
              <a:t>S–                                    =0</a:t>
            </a:r>
          </a:p>
        </p:txBody>
      </p:sp>
      <p:graphicFrame>
        <p:nvGraphicFramePr>
          <p:cNvPr id="29756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888922"/>
              </p:ext>
            </p:extLst>
          </p:nvPr>
        </p:nvGraphicFramePr>
        <p:xfrm>
          <a:off x="7540625" y="4267201"/>
          <a:ext cx="25908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98320" imgH="253800" progId="Equation.3">
                  <p:embed/>
                </p:oleObj>
              </mc:Choice>
              <mc:Fallback>
                <p:oleObj name="Equation" r:id="rId2" imgW="1498320" imgH="253800" progId="Equation.3">
                  <p:embed/>
                  <p:pic>
                    <p:nvPicPr>
                      <p:cNvPr id="2975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25" y="4267201"/>
                        <a:ext cx="25908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Oval 16"/>
          <p:cNvSpPr/>
          <p:nvPr/>
        </p:nvSpPr>
        <p:spPr bwMode="auto">
          <a:xfrm>
            <a:off x="2400300" y="9906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" name="Oval 17"/>
          <p:cNvSpPr/>
          <p:nvPr/>
        </p:nvSpPr>
        <p:spPr bwMode="auto">
          <a:xfrm>
            <a:off x="5219700" y="9906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9" name="Oval 18"/>
          <p:cNvSpPr/>
          <p:nvPr/>
        </p:nvSpPr>
        <p:spPr bwMode="auto">
          <a:xfrm>
            <a:off x="8191500" y="9906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2476500" y="3290650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1" name="Oval 20"/>
          <p:cNvSpPr/>
          <p:nvPr/>
        </p:nvSpPr>
        <p:spPr bwMode="auto">
          <a:xfrm>
            <a:off x="4533900" y="3290650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2" name="Oval 21"/>
          <p:cNvSpPr/>
          <p:nvPr/>
        </p:nvSpPr>
        <p:spPr bwMode="auto">
          <a:xfrm>
            <a:off x="6362700" y="32766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8496300" y="32766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/>
          <p:cNvSpPr/>
          <p:nvPr/>
        </p:nvSpPr>
        <p:spPr bwMode="auto">
          <a:xfrm>
            <a:off x="3695700" y="56388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5" name="Oval 24"/>
          <p:cNvSpPr/>
          <p:nvPr/>
        </p:nvSpPr>
        <p:spPr bwMode="auto">
          <a:xfrm>
            <a:off x="6819900" y="5638801"/>
            <a:ext cx="990600" cy="519351"/>
          </a:xfrm>
          <a:prstGeom prst="ellips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7" name="Straight Arrow Connector 26"/>
          <p:cNvCxnSpPr>
            <a:cxnSpLocks noChangeShapeType="1"/>
          </p:cNvCxnSpPr>
          <p:nvPr/>
        </p:nvCxnSpPr>
        <p:spPr bwMode="auto">
          <a:xfrm rot="5400000" flipH="1" flipV="1">
            <a:off x="3790950" y="-361950"/>
            <a:ext cx="457200" cy="22479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Arrow Connector 27"/>
          <p:cNvCxnSpPr>
            <a:cxnSpLocks noChangeShapeType="1"/>
          </p:cNvCxnSpPr>
          <p:nvPr/>
        </p:nvCxnSpPr>
        <p:spPr bwMode="auto">
          <a:xfrm rot="5400000">
            <a:off x="2247900" y="1676400"/>
            <a:ext cx="685800" cy="381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29"/>
          <p:cNvCxnSpPr>
            <a:cxnSpLocks noChangeShapeType="1"/>
          </p:cNvCxnSpPr>
          <p:nvPr/>
        </p:nvCxnSpPr>
        <p:spPr bwMode="auto">
          <a:xfrm rot="5400000" flipH="1" flipV="1">
            <a:off x="5486401" y="723901"/>
            <a:ext cx="533400" cy="31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30"/>
          <p:cNvCxnSpPr>
            <a:cxnSpLocks noChangeShapeType="1"/>
          </p:cNvCxnSpPr>
          <p:nvPr/>
        </p:nvCxnSpPr>
        <p:spPr bwMode="auto">
          <a:xfrm rot="16200000" flipH="1">
            <a:off x="5314950" y="1847850"/>
            <a:ext cx="685800" cy="381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35"/>
          <p:cNvCxnSpPr>
            <a:cxnSpLocks noChangeShapeType="1"/>
          </p:cNvCxnSpPr>
          <p:nvPr/>
        </p:nvCxnSpPr>
        <p:spPr bwMode="auto">
          <a:xfrm rot="10800000">
            <a:off x="6743700" y="533400"/>
            <a:ext cx="19812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Straight Arrow Connector 36"/>
          <p:cNvCxnSpPr>
            <a:cxnSpLocks noChangeShapeType="1"/>
          </p:cNvCxnSpPr>
          <p:nvPr/>
        </p:nvCxnSpPr>
        <p:spPr bwMode="auto">
          <a:xfrm rot="16200000" flipH="1">
            <a:off x="8286751" y="1847851"/>
            <a:ext cx="687387" cy="36512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/>
          <p:cNvCxnSpPr>
            <a:cxnSpLocks noChangeShapeType="1"/>
          </p:cNvCxnSpPr>
          <p:nvPr/>
        </p:nvCxnSpPr>
        <p:spPr bwMode="auto">
          <a:xfrm rot="5400000">
            <a:off x="3798889" y="644526"/>
            <a:ext cx="776287" cy="2354263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41"/>
          <p:cNvCxnSpPr>
            <a:cxnSpLocks noChangeShapeType="1"/>
          </p:cNvCxnSpPr>
          <p:nvPr/>
        </p:nvCxnSpPr>
        <p:spPr bwMode="auto">
          <a:xfrm>
            <a:off x="5981700" y="1447800"/>
            <a:ext cx="2209800" cy="7620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 rot="16200000" flipV="1">
            <a:off x="2362200" y="26289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Straight Arrow Connector 45"/>
          <p:cNvCxnSpPr>
            <a:cxnSpLocks noChangeShapeType="1"/>
          </p:cNvCxnSpPr>
          <p:nvPr/>
        </p:nvCxnSpPr>
        <p:spPr bwMode="auto">
          <a:xfrm rot="5400000">
            <a:off x="2381250" y="3829050"/>
            <a:ext cx="533400" cy="4953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Straight Arrow Connector 50"/>
          <p:cNvCxnSpPr>
            <a:cxnSpLocks noChangeShapeType="1"/>
          </p:cNvCxnSpPr>
          <p:nvPr/>
        </p:nvCxnSpPr>
        <p:spPr bwMode="auto">
          <a:xfrm flipV="1">
            <a:off x="3086100" y="2667000"/>
            <a:ext cx="2209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3" name="Straight Arrow Connector 52"/>
          <p:cNvCxnSpPr>
            <a:cxnSpLocks noChangeShapeType="1"/>
          </p:cNvCxnSpPr>
          <p:nvPr/>
        </p:nvCxnSpPr>
        <p:spPr bwMode="auto">
          <a:xfrm>
            <a:off x="3009900" y="3810000"/>
            <a:ext cx="47244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5" name="Straight Arrow Connector 54"/>
          <p:cNvCxnSpPr>
            <a:cxnSpLocks noChangeShapeType="1"/>
          </p:cNvCxnSpPr>
          <p:nvPr/>
        </p:nvCxnSpPr>
        <p:spPr bwMode="auto">
          <a:xfrm rot="10800000">
            <a:off x="3162300" y="2590800"/>
            <a:ext cx="1828800" cy="685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Straight Arrow Connector 55"/>
          <p:cNvCxnSpPr>
            <a:cxnSpLocks noChangeShapeType="1"/>
          </p:cNvCxnSpPr>
          <p:nvPr/>
        </p:nvCxnSpPr>
        <p:spPr bwMode="auto">
          <a:xfrm rot="10800000" flipV="1">
            <a:off x="2781300" y="3810000"/>
            <a:ext cx="2095500" cy="533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Arrow Connector 56"/>
          <p:cNvCxnSpPr>
            <a:cxnSpLocks noChangeShapeType="1"/>
          </p:cNvCxnSpPr>
          <p:nvPr/>
        </p:nvCxnSpPr>
        <p:spPr bwMode="auto">
          <a:xfrm flipV="1">
            <a:off x="5067300" y="2667000"/>
            <a:ext cx="31242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>
            <a:off x="4991100" y="3810000"/>
            <a:ext cx="3352800" cy="457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Straight Arrow Connector 62"/>
          <p:cNvCxnSpPr>
            <a:cxnSpLocks noChangeShapeType="1"/>
          </p:cNvCxnSpPr>
          <p:nvPr/>
        </p:nvCxnSpPr>
        <p:spPr bwMode="auto">
          <a:xfrm rot="16200000" flipV="1">
            <a:off x="6248400" y="26289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Straight Arrow Connector 63"/>
          <p:cNvCxnSpPr>
            <a:cxnSpLocks noChangeShapeType="1"/>
          </p:cNvCxnSpPr>
          <p:nvPr/>
        </p:nvCxnSpPr>
        <p:spPr bwMode="auto">
          <a:xfrm rot="5400000">
            <a:off x="6267450" y="3829050"/>
            <a:ext cx="533400" cy="4953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Straight Arrow Connector 64"/>
          <p:cNvCxnSpPr>
            <a:cxnSpLocks noChangeShapeType="1"/>
          </p:cNvCxnSpPr>
          <p:nvPr/>
        </p:nvCxnSpPr>
        <p:spPr bwMode="auto">
          <a:xfrm rot="16200000" flipV="1">
            <a:off x="8382000" y="2628900"/>
            <a:ext cx="685800" cy="609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Straight Arrow Connector 65"/>
          <p:cNvCxnSpPr>
            <a:cxnSpLocks noChangeShapeType="1"/>
          </p:cNvCxnSpPr>
          <p:nvPr/>
        </p:nvCxnSpPr>
        <p:spPr bwMode="auto">
          <a:xfrm rot="10800000" flipV="1">
            <a:off x="6591300" y="3810000"/>
            <a:ext cx="2324100" cy="533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Straight Arrow Connector 67"/>
          <p:cNvCxnSpPr>
            <a:cxnSpLocks noChangeShapeType="1"/>
          </p:cNvCxnSpPr>
          <p:nvPr/>
        </p:nvCxnSpPr>
        <p:spPr bwMode="auto">
          <a:xfrm rot="5400000">
            <a:off x="8724901" y="4038601"/>
            <a:ext cx="457200" cy="31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Straight Arrow Connector 69"/>
          <p:cNvCxnSpPr>
            <a:cxnSpLocks noChangeShapeType="1"/>
          </p:cNvCxnSpPr>
          <p:nvPr/>
        </p:nvCxnSpPr>
        <p:spPr bwMode="auto">
          <a:xfrm rot="10800000">
            <a:off x="3009900" y="4724400"/>
            <a:ext cx="1066800" cy="914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Straight Arrow Connector 70"/>
          <p:cNvCxnSpPr>
            <a:cxnSpLocks noChangeShapeType="1"/>
          </p:cNvCxnSpPr>
          <p:nvPr/>
        </p:nvCxnSpPr>
        <p:spPr bwMode="auto">
          <a:xfrm flipV="1">
            <a:off x="4152900" y="4800600"/>
            <a:ext cx="3505200" cy="838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Straight Arrow Connector 74"/>
          <p:cNvCxnSpPr>
            <a:cxnSpLocks noChangeShapeType="1"/>
          </p:cNvCxnSpPr>
          <p:nvPr/>
        </p:nvCxnSpPr>
        <p:spPr bwMode="auto">
          <a:xfrm rot="10800000">
            <a:off x="6210300" y="4724400"/>
            <a:ext cx="1066800" cy="9144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Straight Arrow Connector 75"/>
          <p:cNvCxnSpPr>
            <a:cxnSpLocks noChangeShapeType="1"/>
          </p:cNvCxnSpPr>
          <p:nvPr/>
        </p:nvCxnSpPr>
        <p:spPr bwMode="auto">
          <a:xfrm flipV="1">
            <a:off x="7353300" y="4800600"/>
            <a:ext cx="1905000" cy="8382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Straight Arrow Connector 80"/>
          <p:cNvCxnSpPr>
            <a:cxnSpLocks noChangeShapeType="1"/>
          </p:cNvCxnSpPr>
          <p:nvPr/>
        </p:nvCxnSpPr>
        <p:spPr bwMode="auto">
          <a:xfrm rot="10800000" flipV="1">
            <a:off x="3543301" y="3657600"/>
            <a:ext cx="5021263" cy="685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Oval 47"/>
          <p:cNvSpPr/>
          <p:nvPr/>
        </p:nvSpPr>
        <p:spPr bwMode="auto">
          <a:xfrm>
            <a:off x="2400300" y="990601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47" name="Straight Arrow Connector 46"/>
          <p:cNvCxnSpPr>
            <a:cxnSpLocks noChangeShapeType="1"/>
          </p:cNvCxnSpPr>
          <p:nvPr/>
        </p:nvCxnSpPr>
        <p:spPr bwMode="auto">
          <a:xfrm rot="5400000" flipH="1" flipV="1">
            <a:off x="3805238" y="-361950"/>
            <a:ext cx="457200" cy="22479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 rot="5400000">
            <a:off x="2262188" y="1676400"/>
            <a:ext cx="685800" cy="3810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Oval 49"/>
          <p:cNvSpPr/>
          <p:nvPr/>
        </p:nvSpPr>
        <p:spPr bwMode="auto">
          <a:xfrm>
            <a:off x="5219700" y="990601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2" name="Straight Arrow Connector 51"/>
          <p:cNvCxnSpPr>
            <a:cxnSpLocks noChangeShapeType="1"/>
          </p:cNvCxnSpPr>
          <p:nvPr/>
        </p:nvCxnSpPr>
        <p:spPr bwMode="auto">
          <a:xfrm rot="5400000" flipH="1" flipV="1">
            <a:off x="5486401" y="722313"/>
            <a:ext cx="533400" cy="317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Arrow Connector 53"/>
          <p:cNvCxnSpPr>
            <a:cxnSpLocks noChangeShapeType="1"/>
          </p:cNvCxnSpPr>
          <p:nvPr/>
        </p:nvCxnSpPr>
        <p:spPr bwMode="auto">
          <a:xfrm rot="16200000" flipH="1">
            <a:off x="5314950" y="1846263"/>
            <a:ext cx="685800" cy="381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Straight Arrow Connector 58"/>
          <p:cNvCxnSpPr>
            <a:cxnSpLocks noChangeShapeType="1"/>
          </p:cNvCxnSpPr>
          <p:nvPr/>
        </p:nvCxnSpPr>
        <p:spPr bwMode="auto">
          <a:xfrm rot="5400000">
            <a:off x="3798888" y="642938"/>
            <a:ext cx="776288" cy="235426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0" name="Straight Arrow Connector 59"/>
          <p:cNvCxnSpPr>
            <a:cxnSpLocks noChangeShapeType="1"/>
          </p:cNvCxnSpPr>
          <p:nvPr/>
        </p:nvCxnSpPr>
        <p:spPr bwMode="auto">
          <a:xfrm>
            <a:off x="5981700" y="1446213"/>
            <a:ext cx="2209800" cy="7620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Oval 68"/>
          <p:cNvSpPr/>
          <p:nvPr/>
        </p:nvSpPr>
        <p:spPr bwMode="auto">
          <a:xfrm>
            <a:off x="8482652" y="3276601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2" name="Straight Arrow Connector 71"/>
          <p:cNvCxnSpPr>
            <a:cxnSpLocks noChangeShapeType="1"/>
          </p:cNvCxnSpPr>
          <p:nvPr/>
        </p:nvCxnSpPr>
        <p:spPr bwMode="auto">
          <a:xfrm rot="16200000" flipV="1">
            <a:off x="8382000" y="2628900"/>
            <a:ext cx="685800" cy="6096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3" name="Straight Arrow Connector 72"/>
          <p:cNvCxnSpPr>
            <a:cxnSpLocks noChangeShapeType="1"/>
          </p:cNvCxnSpPr>
          <p:nvPr/>
        </p:nvCxnSpPr>
        <p:spPr bwMode="auto">
          <a:xfrm rot="10800000" flipV="1">
            <a:off x="6591300" y="3810000"/>
            <a:ext cx="2324100" cy="5334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Straight Arrow Connector 73"/>
          <p:cNvCxnSpPr>
            <a:cxnSpLocks noChangeShapeType="1"/>
          </p:cNvCxnSpPr>
          <p:nvPr/>
        </p:nvCxnSpPr>
        <p:spPr bwMode="auto">
          <a:xfrm rot="5400000">
            <a:off x="8739188" y="4052888"/>
            <a:ext cx="457200" cy="317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Straight Arrow Connector 76"/>
          <p:cNvCxnSpPr>
            <a:cxnSpLocks noChangeShapeType="1"/>
          </p:cNvCxnSpPr>
          <p:nvPr/>
        </p:nvCxnSpPr>
        <p:spPr bwMode="auto">
          <a:xfrm rot="10800000" flipV="1">
            <a:off x="3543301" y="3657600"/>
            <a:ext cx="5021263" cy="6858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8" name="Rectangle 3"/>
          <p:cNvSpPr txBox="1">
            <a:spLocks noChangeArrowheads="1"/>
          </p:cNvSpPr>
          <p:nvPr/>
        </p:nvSpPr>
        <p:spPr bwMode="auto">
          <a:xfrm>
            <a:off x="4686300" y="76200"/>
            <a:ext cx="2438400" cy="457200"/>
          </a:xfrm>
          <a:prstGeom prst="rect">
            <a:avLst/>
          </a:prstGeom>
          <a:solidFill>
            <a:srgbClr val="FFD7F5"/>
          </a:solidFill>
          <a:ln w="9525">
            <a:solidFill>
              <a:srgbClr val="FFD7F5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200" kern="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A + B + C – 180=0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9" name="Straight Arrow Connector 78"/>
          <p:cNvCxnSpPr>
            <a:cxnSpLocks noChangeShapeType="1"/>
          </p:cNvCxnSpPr>
          <p:nvPr/>
        </p:nvCxnSpPr>
        <p:spPr bwMode="auto">
          <a:xfrm>
            <a:off x="6743700" y="533400"/>
            <a:ext cx="1943100" cy="4572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Oval 82"/>
          <p:cNvSpPr/>
          <p:nvPr/>
        </p:nvSpPr>
        <p:spPr bwMode="auto">
          <a:xfrm>
            <a:off x="8177852" y="976953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4" name="Straight Arrow Connector 83"/>
          <p:cNvCxnSpPr>
            <a:cxnSpLocks noChangeShapeType="1"/>
          </p:cNvCxnSpPr>
          <p:nvPr/>
        </p:nvCxnSpPr>
        <p:spPr bwMode="auto">
          <a:xfrm rot="16200000" flipH="1">
            <a:off x="8286751" y="1866901"/>
            <a:ext cx="687387" cy="36512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Rectangle 3"/>
          <p:cNvSpPr txBox="1">
            <a:spLocks noChangeArrowheads="1"/>
          </p:cNvSpPr>
          <p:nvPr/>
        </p:nvSpPr>
        <p:spPr bwMode="auto">
          <a:xfrm>
            <a:off x="7734300" y="2209800"/>
            <a:ext cx="2286000" cy="457200"/>
          </a:xfrm>
          <a:prstGeom prst="rect">
            <a:avLst/>
          </a:prstGeom>
          <a:solidFill>
            <a:srgbClr val="FFD7F5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c*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8" name="Straight Arrow Connector 87"/>
          <p:cNvCxnSpPr>
            <a:cxnSpLocks noChangeShapeType="1"/>
          </p:cNvCxnSpPr>
          <p:nvPr/>
        </p:nvCxnSpPr>
        <p:spPr bwMode="auto">
          <a:xfrm rot="10800000" flipV="1">
            <a:off x="5029200" y="2667000"/>
            <a:ext cx="3314700" cy="623888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Oval 91"/>
          <p:cNvSpPr/>
          <p:nvPr/>
        </p:nvSpPr>
        <p:spPr bwMode="auto">
          <a:xfrm>
            <a:off x="4533900" y="3276601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3" name="Straight Arrow Connector 92"/>
          <p:cNvCxnSpPr>
            <a:cxnSpLocks noChangeShapeType="1"/>
          </p:cNvCxnSpPr>
          <p:nvPr/>
        </p:nvCxnSpPr>
        <p:spPr bwMode="auto">
          <a:xfrm rot="10800000" flipV="1">
            <a:off x="2781300" y="3810000"/>
            <a:ext cx="2171700" cy="5334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6" name="Straight Arrow Connector 95"/>
          <p:cNvCxnSpPr>
            <a:cxnSpLocks noChangeShapeType="1"/>
          </p:cNvCxnSpPr>
          <p:nvPr/>
        </p:nvCxnSpPr>
        <p:spPr bwMode="auto">
          <a:xfrm rot="10800000">
            <a:off x="3162300" y="2590800"/>
            <a:ext cx="1790700" cy="6858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" name="Rectangle 3"/>
          <p:cNvSpPr txBox="1">
            <a:spLocks noChangeArrowheads="1"/>
          </p:cNvSpPr>
          <p:nvPr/>
        </p:nvSpPr>
        <p:spPr bwMode="auto">
          <a:xfrm>
            <a:off x="1714500" y="2209800"/>
            <a:ext cx="2286000" cy="457200"/>
          </a:xfrm>
          <a:prstGeom prst="rect">
            <a:avLst/>
          </a:prstGeom>
          <a:solidFill>
            <a:srgbClr val="FFD7F5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b*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9" name="Straight Arrow Connector 98"/>
          <p:cNvCxnSpPr>
            <a:cxnSpLocks noChangeShapeType="1"/>
          </p:cNvCxnSpPr>
          <p:nvPr/>
        </p:nvCxnSpPr>
        <p:spPr bwMode="auto">
          <a:xfrm rot="16200000" flipH="1">
            <a:off x="2448719" y="2694782"/>
            <a:ext cx="623888" cy="5683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Oval 100"/>
          <p:cNvSpPr/>
          <p:nvPr/>
        </p:nvSpPr>
        <p:spPr bwMode="auto">
          <a:xfrm>
            <a:off x="2476500" y="3276601"/>
            <a:ext cx="990600" cy="519351"/>
          </a:xfrm>
          <a:prstGeom prst="ellipse">
            <a:avLst/>
          </a:prstGeom>
          <a:solidFill>
            <a:srgbClr val="FFD3F3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1002">
            <a:schemeClr val="lt1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02" name="Straight Arrow Connector 101"/>
          <p:cNvCxnSpPr>
            <a:cxnSpLocks noChangeShapeType="1"/>
          </p:cNvCxnSpPr>
          <p:nvPr/>
        </p:nvCxnSpPr>
        <p:spPr bwMode="auto">
          <a:xfrm rot="5400000">
            <a:off x="2395538" y="3829050"/>
            <a:ext cx="533400" cy="4953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3" name="Straight Arrow Connector 102"/>
          <p:cNvCxnSpPr>
            <a:cxnSpLocks noChangeShapeType="1"/>
          </p:cNvCxnSpPr>
          <p:nvPr/>
        </p:nvCxnSpPr>
        <p:spPr bwMode="auto">
          <a:xfrm flipV="1">
            <a:off x="3100388" y="2667000"/>
            <a:ext cx="2209800" cy="6096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Straight Arrow Connector 103"/>
          <p:cNvCxnSpPr>
            <a:cxnSpLocks noChangeShapeType="1"/>
          </p:cNvCxnSpPr>
          <p:nvPr/>
        </p:nvCxnSpPr>
        <p:spPr bwMode="auto">
          <a:xfrm>
            <a:off x="3024188" y="3810000"/>
            <a:ext cx="4724400" cy="4572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5" name="Rectangle 3"/>
          <p:cNvSpPr txBox="1">
            <a:spLocks noChangeArrowheads="1"/>
          </p:cNvSpPr>
          <p:nvPr/>
        </p:nvSpPr>
        <p:spPr bwMode="auto">
          <a:xfrm>
            <a:off x="4991100" y="2209800"/>
            <a:ext cx="1676400" cy="457200"/>
          </a:xfrm>
          <a:prstGeom prst="rect">
            <a:avLst/>
          </a:prstGeom>
          <a:solidFill>
            <a:srgbClr val="FFD7F5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– a*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sinB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=0</a:t>
            </a:r>
          </a:p>
          <a:p>
            <a:pPr marL="457200" indent="-457200" algn="ctr">
              <a:spcBef>
                <a:spcPct val="20000"/>
              </a:spcBef>
              <a:defRPr/>
            </a:pP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6" name="Straight Arrow Connector 105"/>
          <p:cNvCxnSpPr>
            <a:cxnSpLocks noChangeShapeType="1"/>
          </p:cNvCxnSpPr>
          <p:nvPr/>
        </p:nvCxnSpPr>
        <p:spPr bwMode="auto">
          <a:xfrm rot="16200000" flipH="1">
            <a:off x="6324600" y="2705100"/>
            <a:ext cx="609600" cy="5334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" name="Oval 107"/>
          <p:cNvSpPr/>
          <p:nvPr/>
        </p:nvSpPr>
        <p:spPr bwMode="auto">
          <a:xfrm>
            <a:off x="6362700" y="3276601"/>
            <a:ext cx="990600" cy="519351"/>
          </a:xfrm>
          <a:prstGeom prst="ellipse">
            <a:avLst/>
          </a:prstGeom>
          <a:solidFill>
            <a:srgbClr val="FFD7F5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 err="1">
                <a:solidFill>
                  <a:schemeClr val="tx1"/>
                </a:solidFill>
              </a:rPr>
              <a:t>h</a:t>
            </a:r>
            <a:r>
              <a:rPr lang="en-US" baseline="-25000" dirty="0" err="1">
                <a:solidFill>
                  <a:schemeClr val="tx1"/>
                </a:solidFill>
              </a:rPr>
              <a:t>c</a:t>
            </a:r>
            <a:endParaRPr 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09" name="Straight Arrow Connector 108"/>
          <p:cNvCxnSpPr>
            <a:cxnSpLocks noChangeShapeType="1"/>
          </p:cNvCxnSpPr>
          <p:nvPr/>
        </p:nvCxnSpPr>
        <p:spPr bwMode="auto">
          <a:xfrm rot="5400000">
            <a:off x="6267450" y="3843338"/>
            <a:ext cx="533400" cy="4953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0" name="Rectangle 3"/>
          <p:cNvSpPr txBox="1">
            <a:spLocks noChangeArrowheads="1"/>
          </p:cNvSpPr>
          <p:nvPr/>
        </p:nvSpPr>
        <p:spPr bwMode="auto">
          <a:xfrm>
            <a:off x="5067300" y="4343400"/>
            <a:ext cx="1600200" cy="457200"/>
          </a:xfrm>
          <a:prstGeom prst="rect">
            <a:avLst/>
          </a:prstGeom>
          <a:solidFill>
            <a:srgbClr val="FFD7F5"/>
          </a:solidFill>
          <a:ln w="9525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marL="457200" indent="-457200" algn="ctr">
              <a:spcBef>
                <a:spcPct val="20000"/>
              </a:spcBef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 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*c/2=0</a:t>
            </a:r>
            <a:endParaRPr lang="en-US" sz="2200" kern="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1" name="Straight Arrow Connector 110"/>
          <p:cNvCxnSpPr>
            <a:cxnSpLocks noChangeShapeType="1"/>
          </p:cNvCxnSpPr>
          <p:nvPr/>
        </p:nvCxnSpPr>
        <p:spPr bwMode="auto">
          <a:xfrm>
            <a:off x="6286500" y="4800600"/>
            <a:ext cx="1028700" cy="8382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" name="Oval 112"/>
          <p:cNvSpPr/>
          <p:nvPr/>
        </p:nvSpPr>
        <p:spPr bwMode="auto">
          <a:xfrm>
            <a:off x="6819900" y="5652850"/>
            <a:ext cx="990600" cy="519351"/>
          </a:xfrm>
          <a:prstGeom prst="ellipse">
            <a:avLst/>
          </a:prstGeom>
          <a:solidFill>
            <a:srgbClr val="FFD7F5"/>
          </a:solidFill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14" name="Straight Arrow Connector 113"/>
          <p:cNvCxnSpPr>
            <a:cxnSpLocks noChangeShapeType="1"/>
          </p:cNvCxnSpPr>
          <p:nvPr/>
        </p:nvCxnSpPr>
        <p:spPr bwMode="auto">
          <a:xfrm>
            <a:off x="5005388" y="3810000"/>
            <a:ext cx="3352800" cy="4572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8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TRÍ TUỆ NHÂN TẠO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Cách đánh giá&amp;quot;&quot;/&gt;&lt;property id=&quot;20307&quot; value=&quot;352&quot;/&gt;&lt;/object&gt;&lt;object type=&quot;3&quot; unique_id=&quot;10006&quot;&gt;&lt;property id=&quot;20148&quot; value=&quot;5&quot;/&gt;&lt;property id=&quot;20300&quot; value=&quot;Slide 3 - &amp;quot;Tài liệu tham khảo&amp;quot;&quot;/&gt;&lt;property id=&quot;20307&quot; value=&quot;663&quot;/&gt;&lt;/object&gt;&lt;object type=&quot;3&quot; unique_id=&quot;10007&quot;&gt;&lt;property id=&quot;20148&quot; value=&quot;5&quot;/&gt;&lt;property id=&quot;20300&quot; value=&quot;Slide 4 - &amp;quot;NỘI DUNG&amp;quot;&quot;/&gt;&lt;property id=&quot;20307&quot; value=&quot;355&quot;/&gt;&lt;/object&gt;&lt;object type=&quot;3&quot; unique_id=&quot;10008&quot;&gt;&lt;property id=&quot;20148&quot; value=&quot;5&quot;/&gt;&lt;property id=&quot;20300&quot; value=&quot;Slide 5 - &amp;quot;CÁC THUẬT GIẢI TÔ MÀU ĐỒ THỊ&amp;quot;&quot;/&gt;&lt;property id=&quot;20307&quot; value=&quot;354&quot;/&gt;&lt;/object&gt;&lt;object type=&quot;3&quot; unique_id=&quot;10009&quot;&gt;&lt;property id=&quot;20148&quot; value=&quot;5&quot;/&gt;&lt;property id=&quot;20300&quot; value=&quot;Slide 6 - &amp;quot;Bài toán&amp;quot;&quot;/&gt;&lt;property id=&quot;20307&quot; value=&quot;357&quot;/&gt;&lt;/object&gt;&lt;object type=&quot;3&quot; unique_id=&quot;10010&quot;&gt;&lt;property id=&quot;20148&quot; value=&quot;5&quot;/&gt;&lt;property id=&quot;20300&quot; value=&quot;Slide 7&quot;/&gt;&lt;property id=&quot;20307&quot; value=&quot;358&quot;/&gt;&lt;/object&gt;&lt;object type=&quot;3&quot; unique_id=&quot;10011&quot;&gt;&lt;property id=&quot;20148&quot; value=&quot;5&quot;/&gt;&lt;property id=&quot;20300&quot; value=&quot;Slide 8 - &amp;quot;Thuật giải tô màu “Tối ưu”&amp;quot;&quot;/&gt;&lt;property id=&quot;20307&quot; value=&quot;359&quot;/&gt;&lt;/object&gt;&lt;object type=&quot;3&quot; unique_id=&quot;10012&quot;&gt;&lt;property id=&quot;20148&quot; value=&quot;5&quot;/&gt;&lt;property id=&quot;20300&quot; value=&quot;Slide 9 - &amp;quot;Minh họa&amp;quot;&quot;/&gt;&lt;property id=&quot;20307&quot; value=&quot;360&quot;/&gt;&lt;/object&gt;&lt;object type=&quot;3&quot; unique_id=&quot;10013&quot;&gt;&lt;property id=&quot;20148&quot; value=&quot;5&quot;/&gt;&lt;property id=&quot;20300&quot; value=&quot;Slide 10&quot;/&gt;&lt;property id=&quot;20307&quot; value=&quot;361&quot;/&gt;&lt;/object&gt;&lt;object type=&quot;3&quot; unique_id=&quot;10014&quot;&gt;&lt;property id=&quot;20148&quot; value=&quot;5&quot;/&gt;&lt;property id=&quot;20300&quot; value=&quot;Slide 11 - &amp;quot;Giải quyết&amp;quot;&quot;/&gt;&lt;property id=&quot;20307&quot; value=&quot;362&quot;/&gt;&lt;/object&gt;&lt;object type=&quot;3&quot; unique_id=&quot;10015&quot;&gt;&lt;property id=&quot;20148&quot; value=&quot;5&quot;/&gt;&lt;property id=&quot;20300&quot; value=&quot;Slide 12 - &amp;quot;Giải quyết&amp;quot;&quot;/&gt;&lt;property id=&quot;20307&quot; value=&quot;664&quot;/&gt;&lt;/object&gt;&lt;object type=&quot;3&quot; unique_id=&quot;10016&quot;&gt;&lt;property id=&quot;20148&quot; value=&quot;5&quot;/&gt;&lt;property id=&quot;20300&quot; value=&quot;Slide 13&quot;/&gt;&lt;property id=&quot;20307&quot; value=&quot;363&quot;/&gt;&lt;/object&gt;&lt;object type=&quot;3&quot; unique_id=&quot;10017&quot;&gt;&lt;property id=&quot;20148&quot; value=&quot;5&quot;/&gt;&lt;property id=&quot;20300&quot; value=&quot;Slide 14 - &amp;quot;Ví dụ&amp;quot;&quot;/&gt;&lt;property id=&quot;20307&quot; value=&quot;364&quot;/&gt;&lt;/object&gt;&lt;object type=&quot;3&quot; unique_id=&quot;10018&quot;&gt;&lt;property id=&quot;20148&quot; value=&quot;5&quot;/&gt;&lt;property id=&quot;20300&quot; value=&quot;Slide 15 - &amp;quot;Giải quyết&amp;quot;&quot;/&gt;&lt;property id=&quot;20307&quot; value=&quot;365&quot;/&gt;&lt;/object&gt;&lt;object type=&quot;3&quot; unique_id=&quot;10019&quot;&gt;&lt;property id=&quot;20148&quot; value=&quot;5&quot;/&gt;&lt;property id=&quot;20300&quot; value=&quot;Slide 16 - &amp;quot;Giải quyết&amp;quot;&quot;/&gt;&lt;property id=&quot;20307&quot; value=&quot;586&quot;/&gt;&lt;/object&gt;&lt;object type=&quot;3&quot; unique_id=&quot;10020&quot;&gt;&lt;property id=&quot;20148&quot; value=&quot;5&quot;/&gt;&lt;property id=&quot;20300&quot; value=&quot;Slide 17 - &amp;quot;Giải quyết&amp;quot;&quot;/&gt;&lt;property id=&quot;20307&quot; value=&quot;366&quot;/&gt;&lt;/object&gt;&lt;object type=&quot;3&quot; unique_id=&quot;10021&quot;&gt;&lt;property id=&quot;20148&quot; value=&quot;5&quot;/&gt;&lt;property id=&quot;20300&quot; value=&quot;Slide 18 - &amp;quot;Thuật giải tham lam (Greedy)&amp;quot;&quot;/&gt;&lt;property id=&quot;20307&quot; value=&quot;367&quot;/&gt;&lt;/object&gt;&lt;object type=&quot;3&quot; unique_id=&quot;10022&quot;&gt;&lt;property id=&quot;20148&quot; value=&quot;5&quot;/&gt;&lt;property id=&quot;20300&quot; value=&quot;Slide 19 - &amp;quot;Ví dụ&amp;quot;&quot;/&gt;&lt;property id=&quot;20307&quot; value=&quot;368&quot;/&gt;&lt;/object&gt;&lt;object type=&quot;3&quot; unique_id=&quot;10023&quot;&gt;&lt;property id=&quot;20148&quot; value=&quot;5&quot;/&gt;&lt;property id=&quot;20300&quot; value=&quot;Slide 20 - &amp;quot;Thuật giải sắp thứ tự + &amp;#x0D;&amp;#x0A;tham lam&amp;quot;&quot;/&gt;&lt;property id=&quot;20307&quot; value=&quot;369&quot;/&gt;&lt;/object&gt;&lt;object type=&quot;3&quot; unique_id=&quot;10024&quot;&gt;&lt;property id=&quot;20148&quot; value=&quot;5&quot;/&gt;&lt;property id=&quot;20300&quot; value=&quot;Slide 21 - &amp;quot;Ví dụ&amp;quot;&quot;/&gt;&lt;property id=&quot;20307&quot; value=&quot;370&quot;/&gt;&lt;/object&gt;&lt;object type=&quot;3&quot; unique_id=&quot;10025&quot;&gt;&lt;property id=&quot;20148&quot; value=&quot;5&quot;/&gt;&lt;property id=&quot;20300&quot; value=&quot;Slide 22 - &amp;quot;Ví dụ&amp;quot;&quot;/&gt;&lt;property id=&quot;20307&quot; value=&quot;371&quot;/&gt;&lt;/object&gt;&lt;object type=&quot;3&quot; unique_id=&quot;10026&quot;&gt;&lt;property id=&quot;20148&quot; value=&quot;5&quot;/&gt;&lt;property id=&quot;20300&quot; value=&quot;Slide 23 - &amp;quot;Giải quyết&amp;quot;&quot;/&gt;&lt;property id=&quot;20307&quot; value=&quot;372&quot;/&gt;&lt;/object&gt;&lt;object type=&quot;3&quot; unique_id=&quot;10027&quot;&gt;&lt;property id=&quot;20148&quot; value=&quot;5&quot;/&gt;&lt;property id=&quot;20300&quot; value=&quot;Slide 24&quot;/&gt;&lt;property id=&quot;20307&quot; value=&quot;587&quot;/&gt;&lt;/object&gt;&lt;object type=&quot;3&quot; unique_id=&quot;10028&quot;&gt;&lt;property id=&quot;20148&quot; value=&quot;5&quot;/&gt;&lt;property id=&quot;20300&quot; value=&quot;Slide 25 - &amp;quot;Ví dụ&amp;quot;&quot;/&gt;&lt;property id=&quot;20307&quot; value=&quot;622&quot;/&gt;&lt;/object&gt;&lt;object type=&quot;3&quot; unique_id=&quot;10029&quot;&gt;&lt;property id=&quot;20148&quot; value=&quot;5&quot;/&gt;&lt;property id=&quot;20300&quot; value=&quot;Slide 26 - &amp;quot;Giải quyết&amp;quot;&quot;/&gt;&lt;property id=&quot;20307&quot; value=&quot;623&quot;/&gt;&lt;/object&gt;&lt;object type=&quot;3&quot; unique_id=&quot;10030&quot;&gt;&lt;property id=&quot;20148&quot; value=&quot;5&quot;/&gt;&lt;property id=&quot;20300&quot; value=&quot;Slide 27&quot;/&gt;&lt;property id=&quot;20307&quot; value=&quot;625&quot;/&gt;&lt;/object&gt;&lt;object type=&quot;3&quot; unique_id=&quot;10031&quot;&gt;&lt;property id=&quot;20148&quot; value=&quot;5&quot;/&gt;&lt;property id=&quot;20300&quot; value=&quot;Slide 28 - &amp;quot;Ví dụ&amp;quot;&quot;/&gt;&lt;property id=&quot;20307&quot; value=&quot;373&quot;/&gt;&lt;/object&gt;&lt;object type=&quot;3&quot; unique_id=&quot;10032&quot;&gt;&lt;property id=&quot;20148&quot; value=&quot;5&quot;/&gt;&lt;property id=&quot;20300&quot; value=&quot;Slide 29 - &amp;quot;Giải quyết &amp;quot;&quot;/&gt;&lt;property id=&quot;20307&quot; value=&quot;374&quot;/&gt;&lt;/object&gt;&lt;object type=&quot;3&quot; unique_id=&quot;10033&quot;&gt;&lt;property id=&quot;20148&quot; value=&quot;5&quot;/&gt;&lt;property id=&quot;20300&quot; value=&quot;Slide 30 - &amp;quot;Giải quyết &amp;quot;&quot;/&gt;&lt;property id=&quot;20307&quot; value=&quot;588&quot;/&gt;&lt;/object&gt;&lt;object type=&quot;3&quot; unique_id=&quot;10034&quot;&gt;&lt;property id=&quot;20148&quot; value=&quot;5&quot;/&gt;&lt;property id=&quot;20300&quot; value=&quot;Slide 31 - &amp;quot;Giải quyết&amp;quot;&quot;/&gt;&lt;property id=&quot;20307&quot; value=&quot;627&quot;/&gt;&lt;/object&gt;&lt;object type=&quot;3&quot; unique_id=&quot;10035&quot;&gt;&lt;property id=&quot;20148&quot; value=&quot;5&quot;/&gt;&lt;property id=&quot;20300&quot; value=&quot;Slide 32 - &amp;quot;CÁC THUẬT TOÁN TÌM KIẾM LỜI GIẢI&amp;quot;&quot;/&gt;&lt;property id=&quot;20307&quot; value=&quot;589&quot;/&gt;&lt;/object&gt;&lt;object type=&quot;3&quot; unique_id=&quot;10036&quot;&gt;&lt;property id=&quot;20148&quot; value=&quot;5&quot;/&gt;&lt;property id=&quot;20300&quot; value=&quot;Slide 33 - &amp;quot;Nội dung&amp;quot;&quot;/&gt;&lt;property id=&quot;20307&quot; value=&quot;377&quot;/&gt;&lt;/object&gt;&lt;object type=&quot;3&quot; unique_id=&quot;10037&quot;&gt;&lt;property id=&quot;20148&quot; value=&quot;5&quot;/&gt;&lt;property id=&quot;20300&quot; value=&quot;Slide 34 - &amp;quot;Bài toán tìm kiếm&amp;quot;&quot;/&gt;&lt;property id=&quot;20307&quot; value=&quot;378&quot;/&gt;&lt;/object&gt;&lt;object type=&quot;3&quot; unique_id=&quot;10038&quot;&gt;&lt;property id=&quot;20148&quot; value=&quot;5&quot;/&gt;&lt;property id=&quot;20300&quot; value=&quot;Slide 35 - &amp;quot;Bài toán tìm kiếm&amp;quot;&quot;/&gt;&lt;property id=&quot;20307&quot; value=&quot;379&quot;/&gt;&lt;/object&gt;&lt;object type=&quot;3&quot; unique_id=&quot;10039&quot;&gt;&lt;property id=&quot;20148&quot; value=&quot;5&quot;/&gt;&lt;property id=&quot;20300&quot; value=&quot;Slide 36 - &amp;quot;Bài toán tìm kiếm&amp;quot;&quot;/&gt;&lt;property id=&quot;20307&quot; value=&quot;590&quot;/&gt;&lt;/object&gt;&lt;object type=&quot;3&quot; unique_id=&quot;10040&quot;&gt;&lt;property id=&quot;20148&quot; value=&quot;5&quot;/&gt;&lt;property id=&quot;20300&quot; value=&quot;Slide 37&quot;/&gt;&lt;property id=&quot;20307&quot; value=&quot;380&quot;/&gt;&lt;/object&gt;&lt;object type=&quot;3&quot; unique_id=&quot;10041&quot;&gt;&lt;property id=&quot;20148&quot; value=&quot;5&quot;/&gt;&lt;property id=&quot;20300&quot; value=&quot;Slide 38&quot;/&gt;&lt;property id=&quot;20307&quot; value=&quot;381&quot;/&gt;&lt;/object&gt;&lt;object type=&quot;3&quot; unique_id=&quot;10042&quot;&gt;&lt;property id=&quot;20148&quot; value=&quot;5&quot;/&gt;&lt;property id=&quot;20300&quot; value=&quot;Slide 39 - &amp;quot;Các bài toán tìm kiếm&amp;quot;&quot;/&gt;&lt;property id=&quot;20307&quot; value=&quot;382&quot;/&gt;&lt;/object&gt;&lt;object type=&quot;3&quot; unique_id=&quot;10043&quot;&gt;&lt;property id=&quot;20148&quot; value=&quot;5&quot;/&gt;&lt;property id=&quot;20300&quot; value=&quot;Slide 40 - &amp;quot;Các bài toán tìm kiếm&amp;quot;&quot;/&gt;&lt;property id=&quot;20307&quot; value=&quot;383&quot;/&gt;&lt;/object&gt;&lt;object type=&quot;3&quot; unique_id=&quot;10044&quot;&gt;&lt;property id=&quot;20148&quot; value=&quot;5&quot;/&gt;&lt;property id=&quot;20300&quot; value=&quot;Slide 41 - &amp;quot;Tìm kiếm theo chiều rộng&amp;#x0D;&amp;#x0A;(BFS – Breadth First Search)&amp;quot;&quot;/&gt;&lt;property id=&quot;20307&quot; value=&quot;384&quot;/&gt;&lt;/object&gt;&lt;object type=&quot;3&quot; unique_id=&quot;10045&quot;&gt;&lt;property id=&quot;20148&quot; value=&quot;5&quot;/&gt;&lt;property id=&quot;20300&quot; value=&quot;Slide 42 - &amp;quot;Tìm kiếm theo chiều rộng&amp;#x0D;&amp;#x0A;(BFS – Breadth First Search)&amp;quot;&quot;/&gt;&lt;property id=&quot;20307&quot; value=&quot;591&quot;/&gt;&lt;/object&gt;&lt;object type=&quot;3&quot; unique_id=&quot;10046&quot;&gt;&lt;property id=&quot;20148&quot; value=&quot;5&quot;/&gt;&lt;property id=&quot;20300&quot; value=&quot;Slide 43 - &amp;quot;Tìm kiếm theo chiều rộng&amp;#x0D;&amp;#x0A;(BFS – Breadth First Search)&amp;quot;&quot;/&gt;&lt;property id=&quot;20307&quot; value=&quot;592&quot;/&gt;&lt;/object&gt;&lt;object type=&quot;3&quot; unique_id=&quot;10047&quot;&gt;&lt;property id=&quot;20148&quot; value=&quot;5&quot;/&gt;&lt;property id=&quot;20300&quot; value=&quot;Slide 44 - &amp;quot;Tìm kiếm theo chiều rộng&amp;quot;&quot;/&gt;&lt;property id=&quot;20307&quot; value=&quot;385&quot;/&gt;&lt;/object&gt;&lt;object type=&quot;3&quot; unique_id=&quot;10048&quot;&gt;&lt;property id=&quot;20148&quot; value=&quot;5&quot;/&gt;&lt;property id=&quot;20300&quot; value=&quot;Slide 45&quot;/&gt;&lt;property id=&quot;20307&quot; value=&quot;386&quot;/&gt;&lt;/object&gt;&lt;object type=&quot;3&quot; unique_id=&quot;10049&quot;&gt;&lt;property id=&quot;20148&quot; value=&quot;5&quot;/&gt;&lt;property id=&quot;20300&quot; value=&quot;Slide 46&quot;/&gt;&lt;property id=&quot;20307&quot; value=&quot;387&quot;/&gt;&lt;/object&gt;&lt;object type=&quot;3&quot; unique_id=&quot;10050&quot;&gt;&lt;property id=&quot;20148&quot; value=&quot;5&quot;/&gt;&lt;property id=&quot;20300&quot; value=&quot;Slide 47&quot;/&gt;&lt;property id=&quot;20307&quot; value=&quot;388&quot;/&gt;&lt;/object&gt;&lt;object type=&quot;3&quot; unique_id=&quot;10051&quot;&gt;&lt;property id=&quot;20148&quot; value=&quot;5&quot;/&gt;&lt;property id=&quot;20300&quot; value=&quot;Slide 48&quot;/&gt;&lt;property id=&quot;20307&quot; value=&quot;389&quot;/&gt;&lt;/object&gt;&lt;object type=&quot;3&quot; unique_id=&quot;10052&quot;&gt;&lt;property id=&quot;20148&quot; value=&quot;5&quot;/&gt;&lt;property id=&quot;20300&quot; value=&quot;Slide 49 - &amp;quot;Ghi nhớ đường đi!&amp;quot;&quot;/&gt;&lt;property id=&quot;20307&quot; value=&quot;593&quot;/&gt;&lt;/object&gt;&lt;object type=&quot;3&quot; unique_id=&quot;10053&quot;&gt;&lt;property id=&quot;20148&quot; value=&quot;5&quot;/&gt;&lt;property id=&quot;20300&quot; value=&quot;Slide 50 - &amp;quot;Ghi nhớ đường đi!&amp;quot;&quot;/&gt;&lt;property id=&quot;20307&quot; value=&quot;390&quot;/&gt;&lt;/object&gt;&lt;object type=&quot;3&quot; unique_id=&quot;10054&quot;&gt;&lt;property id=&quot;20148&quot; value=&quot;5&quot;/&gt;&lt;property id=&quot;20300&quot; value=&quot;Slide 51 - &amp;quot;Con trỏ quay lui&amp;quot;&quot;/&gt;&lt;property id=&quot;20307&quot; value=&quot;391&quot;/&gt;&lt;/object&gt;&lt;object type=&quot;3&quot; unique_id=&quot;10055&quot;&gt;&lt;property id=&quot;20148&quot; value=&quot;5&quot;/&gt;&lt;property id=&quot;20300&quot; value=&quot;Slide 52&quot;/&gt;&lt;property id=&quot;20307&quot; value=&quot;392&quot;/&gt;&lt;/object&gt;&lt;object type=&quot;3&quot; unique_id=&quot;10056&quot;&gt;&lt;property id=&quot;20148&quot; value=&quot;5&quot;/&gt;&lt;property id=&quot;20300&quot; value=&quot;Slide 53 - &amp;quot;Tìm kiếm theo chiều rộng&amp;quot;&quot;/&gt;&lt;property id=&quot;20307&quot; value=&quot;393&quot;/&gt;&lt;/object&gt;&lt;object type=&quot;3&quot; unique_id=&quot;10057&quot;&gt;&lt;property id=&quot;20148&quot; value=&quot;5&quot;/&gt;&lt;property id=&quot;20300&quot; value=&quot;Slide 54&quot;/&gt;&lt;property id=&quot;20307&quot; value=&quot;394&quot;/&gt;&lt;/object&gt;&lt;object type=&quot;3&quot; unique_id=&quot;10058&quot;&gt;&lt;property id=&quot;20148&quot; value=&quot;5&quot;/&gt;&lt;property id=&quot;20300&quot; value=&quot;Slide 55&quot;/&gt;&lt;property id=&quot;20307&quot; value=&quot;395&quot;/&gt;&lt;/object&gt;&lt;object type=&quot;3&quot; unique_id=&quot;10059&quot;&gt;&lt;property id=&quot;20148&quot; value=&quot;5&quot;/&gt;&lt;property id=&quot;20300&quot; value=&quot;Slide 56 - &amp;quot;BFS&amp;quot;&quot;/&gt;&lt;property id=&quot;20307&quot; value=&quot;396&quot;/&gt;&lt;/object&gt;&lt;object type=&quot;3&quot; unique_id=&quot;10060&quot;&gt;&lt;property id=&quot;20148&quot; value=&quot;5&quot;/&gt;&lt;property id=&quot;20300&quot; value=&quot;Slide 57&quot;/&gt;&lt;property id=&quot;20307&quot; value=&quot;397&quot;/&gt;&lt;/object&gt;&lt;object type=&quot;3&quot; unique_id=&quot;10061&quot;&gt;&lt;property id=&quot;20148&quot; value=&quot;5&quot;/&gt;&lt;property id=&quot;20300&quot; value=&quot;Slide 58&quot;/&gt;&lt;property id=&quot;20307&quot; value=&quot;398&quot;/&gt;&lt;/object&gt;&lt;object type=&quot;3&quot; unique_id=&quot;10062&quot;&gt;&lt;property id=&quot;20148&quot; value=&quot;5&quot;/&gt;&lt;property id=&quot;20300&quot; value=&quot;Slide 59&quot;/&gt;&lt;property id=&quot;20307&quot; value=&quot;399&quot;/&gt;&lt;/object&gt;&lt;object type=&quot;3&quot; unique_id=&quot;10063&quot;&gt;&lt;property id=&quot;20148&quot; value=&quot;5&quot;/&gt;&lt;property id=&quot;20300&quot; value=&quot;Slide 60&quot;/&gt;&lt;property id=&quot;20307&quot; value=&quot;400&quot;/&gt;&lt;/object&gt;&lt;object type=&quot;3&quot; unique_id=&quot;10064&quot;&gt;&lt;property id=&quot;20148&quot; value=&quot;5&quot;/&gt;&lt;property id=&quot;20300&quot; value=&quot;Slide 61&quot;/&gt;&lt;property id=&quot;20307&quot; value=&quot;401&quot;/&gt;&lt;/object&gt;&lt;object type=&quot;3&quot; unique_id=&quot;10065&quot;&gt;&lt;property id=&quot;20148&quot; value=&quot;5&quot;/&gt;&lt;property id=&quot;20300&quot; value=&quot;Slide 62 - &amp;quot;Chi phí chuyển đổi&amp;quot;&quot;/&gt;&lt;property id=&quot;20307&quot; value=&quot;402&quot;/&gt;&lt;/object&gt;&lt;object type=&quot;3&quot; unique_id=&quot;10066&quot;&gt;&lt;property id=&quot;20148&quot; value=&quot;5&quot;/&gt;&lt;property id=&quot;20300&quot; value=&quot;Slide 63&quot;/&gt;&lt;property id=&quot;20307&quot; value=&quot;403&quot;/&gt;&lt;/object&gt;&lt;object type=&quot;3&quot; unique_id=&quot;10067&quot;&gt;&lt;property id=&quot;20148&quot; value=&quot;5&quot;/&gt;&lt;property id=&quot;20300&quot; value=&quot;Slide 64 - &amp;quot;BFS với chi phí thấp nhất&amp;quot;&quot;/&gt;&lt;property id=&quot;20307&quot; value=&quot;404&quot;/&gt;&lt;/object&gt;&lt;object type=&quot;3&quot; unique_id=&quot;10096&quot;&gt;&lt;property id=&quot;20148&quot; value=&quot;5&quot;/&gt;&lt;property id=&quot;20300&quot; value=&quot;Slide 72 - &amp;quot;Duyệt cây tìm kiếm DFS&amp;quot;&quot;/&gt;&lt;property id=&quot;20307&quot; value=&quot;433&quot;/&gt;&lt;/object&gt;&lt;object type=&quot;3&quot; unique_id=&quot;10097&quot;&gt;&lt;property id=&quot;20148&quot; value=&quot;5&quot;/&gt;&lt;property id=&quot;20300&quot; value=&quot;Slide 73 - &amp;quot;Bài tập&amp;quot;&quot;/&gt;&lt;property id=&quot;20307&quot; value=&quot;434&quot;/&gt;&lt;/object&gt;&lt;object type=&quot;3&quot; unique_id=&quot;10098&quot;&gt;&lt;property id=&quot;20148&quot; value=&quot;5&quot;/&gt;&lt;property id=&quot;20300&quot; value=&quot;Slide 74 - &amp;quot;CÁC THUẬT TOÁN  &amp;#x0D;&amp;#x0A;TÌM KIẾM LỜI GIẢI&amp;quot;&quot;/&gt;&lt;property id=&quot;20307&quot; value=&quot;594&quot;/&gt;&lt;/object&gt;&lt;object type=&quot;3&quot; unique_id=&quot;10099&quot;&gt;&lt;property id=&quot;20148&quot; value=&quot;5&quot;/&gt;&lt;property id=&quot;20300&quot; value=&quot;Slide 75 - &amp;quot;Nội dung&amp;quot;&quot;/&gt;&lt;property id=&quot;20307&quot; value=&quot;436&quot;/&gt;&lt;/object&gt;&lt;object type=&quot;3&quot; unique_id=&quot;10100&quot;&gt;&lt;property id=&quot;20148&quot; value=&quot;5&quot;/&gt;&lt;property id=&quot;20300&quot; value=&quot;Slide 76 - &amp;quot;Các thuật toán tìm kiếm lời giải trên đồ thị có chi phí&amp;quot;&quot;/&gt;&lt;property id=&quot;20307&quot; value=&quot;635&quot;/&gt;&lt;/object&gt;&lt;object type=&quot;3&quot; unique_id=&quot;10101&quot;&gt;&lt;property id=&quot;20148&quot; value=&quot;5&quot;/&gt;&lt;property id=&quot;20300&quot; value=&quot;Slide 77 - &amp;quot;AT (Algorithm for Tree Search)&amp;quot;&quot;/&gt;&lt;property id=&quot;20307&quot; value=&quot;626&quot;/&gt;&lt;/object&gt;&lt;object type=&quot;3&quot; unique_id=&quot;10102&quot;&gt;&lt;property id=&quot;20148&quot; value=&quot;5&quot;/&gt;&lt;property id=&quot;20300&quot; value=&quot;Slide 78 - &amp;quot;AT (Algorithm for Tree Search)&amp;quot;&quot;/&gt;&lt;property id=&quot;20307&quot; value=&quot;628&quot;/&gt;&lt;/object&gt;&lt;object type=&quot;3&quot; unique_id=&quot;10103&quot;&gt;&lt;property id=&quot;20148&quot; value=&quot;5&quot;/&gt;&lt;property id=&quot;20300&quot; value=&quot;Slide 79 - &amp;quot;AT (Algorithm for Tree Search)&amp;quot;&quot;/&gt;&lt;property id=&quot;20307&quot; value=&quot;629&quot;/&gt;&lt;/object&gt;&lt;object type=&quot;3&quot; unique_id=&quot;10104&quot;&gt;&lt;property id=&quot;20148&quot; value=&quot;5&quot;/&gt;&lt;property id=&quot;20300&quot; value=&quot;Slide 80 - &amp;quot;Ví dụ&amp;quot;&quot;/&gt;&lt;property id=&quot;20307&quot; value=&quot;631&quot;/&gt;&lt;/object&gt;&lt;object type=&quot;3&quot; unique_id=&quot;10105&quot;&gt;&lt;property id=&quot;20148&quot; value=&quot;5&quot;/&gt;&lt;property id=&quot;20300&quot; value=&quot;Slide 81 - &amp;quot;Ví dụ&amp;quot;&quot;/&gt;&lt;property id=&quot;20307&quot; value=&quot;632&quot;/&gt;&lt;/object&gt;&lt;object type=&quot;3&quot; unique_id=&quot;10106&quot;&gt;&lt;property id=&quot;20148&quot; value=&quot;5&quot;/&gt;&lt;property id=&quot;20300&quot; value=&quot;Slide 82 - &amp;quot;Ví dụ&amp;quot;&quot;/&gt;&lt;property id=&quot;20307&quot; value=&quot;633&quot;/&gt;&lt;/object&gt;&lt;object type=&quot;3&quot; unique_id=&quot;10107&quot;&gt;&lt;property id=&quot;20148&quot; value=&quot;5&quot;/&gt;&lt;property id=&quot;20300&quot; value=&quot;Slide 83 - &amp;quot;Ví dụ&amp;quot;&quot;/&gt;&lt;property id=&quot;20307&quot; value=&quot;634&quot;/&gt;&lt;/object&gt;&lt;object type=&quot;3&quot; unique_id=&quot;10108&quot;&gt;&lt;property id=&quot;20148&quot; value=&quot;5&quot;/&gt;&lt;property id=&quot;20300&quot; value=&quot;Slide 105 - &amp;quot;Thuật giải AKT&amp;quot;&quot;/&gt;&lt;property id=&quot;20307&quot; value=&quot;648&quot;/&gt;&lt;/object&gt;&lt;object type=&quot;3&quot; unique_id=&quot;10109&quot;&gt;&lt;property id=&quot;20148&quot; value=&quot;5&quot;/&gt;&lt;property id=&quot;20300&quot; value=&quot;Slide 106 - &amp;quot;Thuật giải AKT&amp;quot;&quot;/&gt;&lt;property id=&quot;20307&quot; value=&quot;649&quot;/&gt;&lt;/object&gt;&lt;object type=&quot;3&quot; unique_id=&quot;10110&quot;&gt;&lt;property id=&quot;20148&quot; value=&quot;5&quot;/&gt;&lt;property id=&quot;20300&quot; value=&quot;Slide 107 - &amp;quot;Thuật giải AKT&amp;quot;&quot;/&gt;&lt;property id=&quot;20307&quot; value=&quot;650&quot;/&gt;&lt;/object&gt;&lt;object type=&quot;3&quot; unique_id=&quot;10111&quot;&gt;&lt;property id=&quot;20148&quot; value=&quot;5&quot;/&gt;&lt;property id=&quot;20300&quot; value=&quot;Slide 108 - &amp;quot;Thuật giải AKT&amp;quot;&quot;/&gt;&lt;property id=&quot;20307&quot; value=&quot;651&quot;/&gt;&lt;/object&gt;&lt;object type=&quot;3&quot; unique_id=&quot;10112&quot;&gt;&lt;property id=&quot;20148&quot; value=&quot;5&quot;/&gt;&lt;property id=&quot;20300&quot; value=&quot;Slide 109 - &amp;quot;Ví dụ minh họa&amp;quot;&quot;/&gt;&lt;property id=&quot;20307&quot; value=&quot;652&quot;/&gt;&lt;/object&gt;&lt;object type=&quot;3&quot; unique_id=&quot;10113&quot;&gt;&lt;property id=&quot;20148&quot; value=&quot;5&quot;/&gt;&lt;property id=&quot;20300&quot; value=&quot;Slide 110 - &amp;quot;Tháp hà nội&amp;quot;&quot;/&gt;&lt;property id=&quot;20307&quot; value=&quot;653&quot;/&gt;&lt;/object&gt;&lt;object type=&quot;3&quot; unique_id=&quot;10114&quot;&gt;&lt;property id=&quot;20148&quot; value=&quot;5&quot;/&gt;&lt;property id=&quot;20300&quot; value=&quot;Slide 111 - &amp;quot;Với N = 3&amp;quot;&quot;/&gt;&lt;property id=&quot;20307&quot; value=&quot;654&quot;/&gt;&lt;/object&gt;&lt;object type=&quot;3&quot; unique_id=&quot;10115&quot;&gt;&lt;property id=&quot;20148&quot; value=&quot;5&quot;/&gt;&lt;property id=&quot;20300&quot; value=&quot;Slide 112&quot;/&gt;&lt;property id=&quot;20307&quot; value=&quot;655&quot;/&gt;&lt;/object&gt;&lt;object type=&quot;3&quot; unique_id=&quot;10116&quot;&gt;&lt;property id=&quot;20148&quot; value=&quot;5&quot;/&gt;&lt;property id=&quot;20300&quot; value=&quot;Slide 113&quot;/&gt;&lt;property id=&quot;20307&quot; value=&quot;656&quot;/&gt;&lt;/object&gt;&lt;object type=&quot;3&quot; unique_id=&quot;10123&quot;&gt;&lt;property id=&quot;20148&quot; value=&quot;5&quot;/&gt;&lt;property id=&quot;20300&quot; value=&quot;Slide 114 - &amp;quot;Với N = 3&amp;quot;&quot;/&gt;&lt;property id=&quot;20307&quot; value=&quot;439&quot;/&gt;&lt;/object&gt;&lt;object type=&quot;3&quot; unique_id=&quot;10124&quot;&gt;&lt;property id=&quot;20148&quot; value=&quot;5&quot;/&gt;&lt;property id=&quot;20300&quot; value=&quot;Slide 115&quot;/&gt;&lt;property id=&quot;20307&quot; value=&quot;440&quot;/&gt;&lt;/object&gt;&lt;object type=&quot;3&quot; unique_id=&quot;10125&quot;&gt;&lt;property id=&quot;20148&quot; value=&quot;5&quot;/&gt;&lt;property id=&quot;20300&quot; value=&quot;Slide 116&quot;/&gt;&lt;property id=&quot;20307&quot; value=&quot;441&quot;/&gt;&lt;/object&gt;&lt;object type=&quot;3&quot; unique_id=&quot;10126&quot;&gt;&lt;property id=&quot;20148&quot; value=&quot;5&quot;/&gt;&lt;property id=&quot;20300&quot; value=&quot;Slide 117 - &amp;quot;Bài toán taci&amp;quot;&quot;/&gt;&lt;property id=&quot;20307&quot; value=&quot;442&quot;/&gt;&lt;/object&gt;&lt;object type=&quot;3&quot; unique_id=&quot;10127&quot;&gt;&lt;property id=&quot;20148&quot; value=&quot;5&quot;/&gt;&lt;property id=&quot;20300&quot; value=&quot;Slide 118 - &amp;quot;Bài toán taci&amp;quot;&quot;/&gt;&lt;property id=&quot;20307&quot; value=&quot;595&quot;/&gt;&lt;/object&gt;&lt;object type=&quot;3&quot; unique_id=&quot;10128&quot;&gt;&lt;property id=&quot;20148&quot; value=&quot;5&quot;/&gt;&lt;property id=&quot;20300&quot; value=&quot;Slide 119 - &amp;quot;Sử dụng H1&amp;quot;&quot;/&gt;&lt;property id=&quot;20307&quot; value=&quot;443&quot;/&gt;&lt;/object&gt;&lt;object type=&quot;3&quot; unique_id=&quot;10129&quot;&gt;&lt;property id=&quot;20148&quot; value=&quot;5&quot;/&gt;&lt;property id=&quot;20300&quot; value=&quot;Slide 120&quot;/&gt;&lt;property id=&quot;20307&quot; value=&quot;444&quot;/&gt;&lt;/object&gt;&lt;object type=&quot;3&quot; unique_id=&quot;10130&quot;&gt;&lt;property id=&quot;20148&quot; value=&quot;5&quot;/&gt;&lt;property id=&quot;20300&quot; value=&quot;Slide 121&quot;/&gt;&lt;property id=&quot;20307&quot; value=&quot;445&quot;/&gt;&lt;/object&gt;&lt;object type=&quot;3&quot; unique_id=&quot;10131&quot;&gt;&lt;property id=&quot;20148&quot; value=&quot;5&quot;/&gt;&lt;property id=&quot;20300&quot; value=&quot;Slide 122&quot;/&gt;&lt;property id=&quot;20307&quot; value=&quot;446&quot;/&gt;&lt;/object&gt;&lt;object type=&quot;3&quot; unique_id=&quot;10132&quot;&gt;&lt;property id=&quot;20148&quot; value=&quot;5&quot;/&gt;&lt;property id=&quot;20300&quot; value=&quot;Slide 123&quot;/&gt;&lt;property id=&quot;20307&quot; value=&quot;447&quot;/&gt;&lt;/object&gt;&lt;object type=&quot;3&quot; unique_id=&quot;10133&quot;&gt;&lt;property id=&quot;20148&quot; value=&quot;5&quot;/&gt;&lt;property id=&quot;20300&quot; value=&quot;Slide 124&quot;/&gt;&lt;property id=&quot;20307&quot; value=&quot;448&quot;/&gt;&lt;/object&gt;&lt;object type=&quot;3&quot; unique_id=&quot;10134&quot;&gt;&lt;property id=&quot;20148&quot; value=&quot;5&quot;/&gt;&lt;property id=&quot;20300&quot; value=&quot;Slide 125 - &amp;quot;Bài toán đong sữa&amp;quot;&quot;/&gt;&lt;property id=&quot;20307&quot; value=&quot;449&quot;/&gt;&lt;/object&gt;&lt;object type=&quot;3&quot; unique_id=&quot;10135&quot;&gt;&lt;property id=&quot;20148&quot; value=&quot;5&quot;/&gt;&lt;property id=&quot;20300&quot; value=&quot;Slide 126 - &amp;quot;Bài toán đong sữa&amp;quot;&quot;/&gt;&lt;property id=&quot;20307&quot; value=&quot;450&quot;/&gt;&lt;/object&gt;&lt;object type=&quot;3&quot; unique_id=&quot;10136&quot;&gt;&lt;property id=&quot;20148&quot; value=&quot;5&quot;/&gt;&lt;property id=&quot;20300&quot; value=&quot;Slide 127 - &amp;quot;Bài toán đong sữa&amp;quot;&quot;/&gt;&lt;property id=&quot;20307&quot; value=&quot;451&quot;/&gt;&lt;/object&gt;&lt;object type=&quot;3&quot; unique_id=&quot;10137&quot;&gt;&lt;property id=&quot;20148&quot; value=&quot;5&quot;/&gt;&lt;property id=&quot;20300&quot; value=&quot;Slide 128 - &amp;quot;Thuật giải hướng đích cho bài toán tháp hà nội&amp;quot;&quot;/&gt;&lt;property id=&quot;20307&quot; value=&quot;452&quot;/&gt;&lt;/object&gt;&lt;object type=&quot;3&quot; unique_id=&quot;10138&quot;&gt;&lt;property id=&quot;20148&quot; value=&quot;5&quot;/&gt;&lt;property id=&quot;20300&quot; value=&quot;Slide 129 - &amp;quot;Thuật giải hướng đích&amp;quot;&quot;/&gt;&lt;property id=&quot;20307&quot; value=&quot;596&quot;/&gt;&lt;/object&gt;&lt;object type=&quot;3&quot; unique_id=&quot;10139&quot;&gt;&lt;property id=&quot;20148&quot; value=&quot;5&quot;/&gt;&lt;property id=&quot;20300&quot; value=&quot;Slide 130 - &amp;quot;Minh họa với N=4&amp;quot;&quot;/&gt;&lt;property id=&quot;20307&quot; value=&quot;453&quot;/&gt;&lt;/object&gt;&lt;object type=&quot;3&quot; unique_id=&quot;10140&quot;&gt;&lt;property id=&quot;20148&quot; value=&quot;5&quot;/&gt;&lt;property id=&quot;20300&quot; value=&quot;Slide 137 - &amp;quot;Bài toán người bán hàng (TSP)&amp;quot;&quot;/&gt;&lt;property id=&quot;20307&quot; value=&quot;454&quot;/&gt;&lt;/object&gt;&lt;object type=&quot;3&quot; unique_id=&quot;10141&quot;&gt;&lt;property id=&quot;20148&quot; value=&quot;5&quot;/&gt;&lt;property id=&quot;20300&quot; value=&quot;Slide 138 - &amp;quot;Bài toán người bán hàng (TSP)&amp;quot;&quot;/&gt;&lt;property id=&quot;20307&quot; value=&quot;597&quot;/&gt;&lt;/object&gt;&lt;object type=&quot;3&quot; unique_id=&quot;10142&quot;&gt;&lt;property id=&quot;20148&quot; value=&quot;5&quot;/&gt;&lt;property id=&quot;20300&quot; value=&quot;Slide 139 - &amp;quot;Thuật giải GTS1&amp;quot;&quot;/&gt;&lt;property id=&quot;20307&quot; value=&quot;455&quot;/&gt;&lt;/object&gt;&lt;object type=&quot;3&quot; unique_id=&quot;10143&quot;&gt;&lt;property id=&quot;20148&quot; value=&quot;5&quot;/&gt;&lt;property id=&quot;20300&quot; value=&quot;Slide 140 - &amp;quot;Thuật giải GTS1&amp;quot;&quot;/&gt;&lt;property id=&quot;20307&quot; value=&quot;598&quot;/&gt;&lt;/object&gt;&lt;object type=&quot;3&quot; unique_id=&quot;10144&quot;&gt;&lt;property id=&quot;20148&quot; value=&quot;5&quot;/&gt;&lt;property id=&quot;20300&quot; value=&quot;Slide 141 - &amp;quot;Ví dụ&amp;quot;&quot;/&gt;&lt;property id=&quot;20307&quot; value=&quot;456&quot;/&gt;&lt;/object&gt;&lt;object type=&quot;3&quot; unique_id=&quot;10145&quot;&gt;&lt;property id=&quot;20148&quot; value=&quot;5&quot;/&gt;&lt;property id=&quot;20300&quot; value=&quot;Slide 142 - &amp;quot;Ví dụ&amp;quot;&quot;/&gt;&lt;property id=&quot;20307&quot; value=&quot;457&quot;/&gt;&lt;/object&gt;&lt;object type=&quot;3&quot; unique_id=&quot;10146&quot;&gt;&lt;property id=&quot;20148&quot; value=&quot;5&quot;/&gt;&lt;property id=&quot;20300&quot; value=&quot;Slide 143&quot;/&gt;&lt;property id=&quot;20307&quot; value=&quot;458&quot;/&gt;&lt;/object&gt;&lt;object type=&quot;3&quot; unique_id=&quot;10147&quot;&gt;&lt;property id=&quot;20148&quot; value=&quot;5&quot;/&gt;&lt;property id=&quot;20300&quot; value=&quot;Slide 144&quot;/&gt;&lt;property id=&quot;20307&quot; value=&quot;459&quot;/&gt;&lt;/object&gt;&lt;object type=&quot;3&quot; unique_id=&quot;10148&quot;&gt;&lt;property id=&quot;20148&quot; value=&quot;5&quot;/&gt;&lt;property id=&quot;20300&quot; value=&quot;Slide 145&quot;/&gt;&lt;property id=&quot;20307&quot; value=&quot;460&quot;/&gt;&lt;/object&gt;&lt;object type=&quot;3&quot; unique_id=&quot;10149&quot;&gt;&lt;property id=&quot;20148&quot; value=&quot;5&quot;/&gt;&lt;property id=&quot;20300&quot; value=&quot;Slide 146&quot;/&gt;&lt;property id=&quot;20307&quot; value=&quot;461&quot;/&gt;&lt;/object&gt;&lt;object type=&quot;3&quot; unique_id=&quot;10150&quot;&gt;&lt;property id=&quot;20148&quot; value=&quot;5&quot;/&gt;&lt;property id=&quot;20300&quot; value=&quot;Slide 147&quot;/&gt;&lt;property id=&quot;20307&quot; value=&quot;636&quot;/&gt;&lt;/object&gt;&lt;object type=&quot;3&quot; unique_id=&quot;10151&quot;&gt;&lt;property id=&quot;20148&quot; value=&quot;5&quot;/&gt;&lt;property id=&quot;20300&quot; value=&quot;Slide 148 - &amp;quot;Ví dụ&amp;quot;&quot;/&gt;&lt;property id=&quot;20307&quot; value=&quot;637&quot;/&gt;&lt;/object&gt;&lt;object type=&quot;3&quot; unique_id=&quot;10152&quot;&gt;&lt;property id=&quot;20148&quot; value=&quot;5&quot;/&gt;&lt;property id=&quot;20300&quot; value=&quot;Slide 149 - &amp;quot;Ví dụ&amp;quot;&quot;/&gt;&lt;property id=&quot;20307&quot; value=&quot;638&quot;/&gt;&lt;/object&gt;&lt;object type=&quot;3&quot; unique_id=&quot;10153&quot;&gt;&lt;property id=&quot;20148&quot; value=&quot;5&quot;/&gt;&lt;property id=&quot;20300&quot; value=&quot;Slide 150 - &amp;quot;Ví dụ&amp;quot;&quot;/&gt;&lt;property id=&quot;20307&quot; value=&quot;639&quot;/&gt;&lt;/object&gt;&lt;object type=&quot;3&quot; unique_id=&quot;10154&quot;&gt;&lt;property id=&quot;20148&quot; value=&quot;5&quot;/&gt;&lt;property id=&quot;20300&quot; value=&quot;Slide 151 - &amp;quot;Ví dụ&amp;quot;&quot;/&gt;&lt;property id=&quot;20307&quot; value=&quot;640&quot;/&gt;&lt;/object&gt;&lt;object type=&quot;3&quot; unique_id=&quot;10155&quot;&gt;&lt;property id=&quot;20148&quot; value=&quot;5&quot;/&gt;&lt;property id=&quot;20300&quot; value=&quot;Slide 152 - &amp;quot;Thuật giải MIN – MAX&amp;quot;&quot;/&gt;&lt;property id=&quot;20307&quot; value=&quot;462&quot;/&gt;&lt;/object&gt;&lt;object type=&quot;3&quot; unique_id=&quot;10156&quot;&gt;&lt;property id=&quot;20148&quot; value=&quot;5&quot;/&gt;&lt;property id=&quot;20300&quot; value=&quot;Slide 153 - &amp;quot;Bài toán mã đi tuần&amp;quot;&quot;/&gt;&lt;property id=&quot;20307&quot; value=&quot;463&quot;/&gt;&lt;/object&gt;&lt;object type=&quot;3&quot; unique_id=&quot;10157&quot;&gt;&lt;property id=&quot;20148&quot; value=&quot;5&quot;/&gt;&lt;property id=&quot;20300&quot; value=&quot;Slide 154&quot;/&gt;&lt;property id=&quot;20307&quot; value=&quot;464&quot;/&gt;&lt;/object&gt;&lt;object type=&quot;3&quot; unique_id=&quot;10158&quot;&gt;&lt;property id=&quot;20148&quot; value=&quot;5&quot;/&gt;&lt;property id=&quot;20300&quot; value=&quot;Slide 155&quot;/&gt;&lt;property id=&quot;20307&quot; value=&quot;465&quot;/&gt;&lt;/object&gt;&lt;object type=&quot;3&quot; unique_id=&quot;10159&quot;&gt;&lt;property id=&quot;20148&quot; value=&quot;5&quot;/&gt;&lt;property id=&quot;20300&quot; value=&quot;Slide 156&quot;/&gt;&lt;property id=&quot;20307&quot; value=&quot;466&quot;/&gt;&lt;/object&gt;&lt;object type=&quot;3&quot; unique_id=&quot;10160&quot;&gt;&lt;property id=&quot;20148&quot; value=&quot;5&quot;/&gt;&lt;property id=&quot;20300&quot; value=&quot;Slide 157 - &amp;quot;Bài toán tám quân hậu&amp;quot;&quot;/&gt;&lt;property id=&quot;20307&quot; value=&quot;467&quot;/&gt;&lt;/object&gt;&lt;object type=&quot;3&quot; unique_id=&quot;10161&quot;&gt;&lt;property id=&quot;20148&quot; value=&quot;5&quot;/&gt;&lt;property id=&quot;20300&quot; value=&quot;Slide 158&quot;/&gt;&lt;property id=&quot;20307&quot; value=&quot;468&quot;/&gt;&lt;/object&gt;&lt;object type=&quot;3&quot; unique_id=&quot;10162&quot;&gt;&lt;property id=&quot;20148&quot; value=&quot;5&quot;/&gt;&lt;property id=&quot;20300&quot; value=&quot;Slide 159&quot;/&gt;&lt;property id=&quot;20307&quot; value=&quot;469&quot;/&gt;&lt;/object&gt;&lt;object type=&quot;3&quot; unique_id=&quot;10163&quot;&gt;&lt;property id=&quot;20148&quot; value=&quot;5&quot;/&gt;&lt;property id=&quot;20300&quot; value=&quot;Slide 160&quot;/&gt;&lt;property id=&quot;20307&quot; value=&quot;470&quot;/&gt;&lt;/object&gt;&lt;object type=&quot;3&quot; unique_id=&quot;10164&quot;&gt;&lt;property id=&quot;20148&quot; value=&quot;5&quot;/&gt;&lt;property id=&quot;20300&quot; value=&quot;Slide 161&quot;/&gt;&lt;property id=&quot;20307&quot; value=&quot;471&quot;/&gt;&lt;/object&gt;&lt;object type=&quot;3&quot; unique_id=&quot;10165&quot;&gt;&lt;property id=&quot;20148&quot; value=&quot;5&quot;/&gt;&lt;property id=&quot;20300&quot; value=&quot;Slide 162&quot;/&gt;&lt;property id=&quot;20307&quot; value=&quot;472&quot;/&gt;&lt;/object&gt;&lt;object type=&quot;3&quot; unique_id=&quot;10166&quot;&gt;&lt;property id=&quot;20148&quot; value=&quot;5&quot;/&gt;&lt;property id=&quot;20300&quot; value=&quot;Slide 163&quot;/&gt;&lt;property id=&quot;20307&quot; value=&quot;473&quot;/&gt;&lt;/object&gt;&lt;object type=&quot;3&quot; unique_id=&quot;10167&quot;&gt;&lt;property id=&quot;20148&quot; value=&quot;5&quot;/&gt;&lt;property id=&quot;20300&quot; value=&quot;Slide 164&quot;/&gt;&lt;property id=&quot;20307&quot; value=&quot;474&quot;/&gt;&lt;/object&gt;&lt;object type=&quot;3&quot; unique_id=&quot;10168&quot;&gt;&lt;property id=&quot;20148&quot; value=&quot;5&quot;/&gt;&lt;property id=&quot;20300&quot; value=&quot;Slide 165&quot;/&gt;&lt;property id=&quot;20307&quot; value=&quot;475&quot;/&gt;&lt;/object&gt;&lt;object type=&quot;3&quot; unique_id=&quot;10169&quot;&gt;&lt;property id=&quot;20148&quot; value=&quot;5&quot;/&gt;&lt;property id=&quot;20300&quot; value=&quot;Slide 166&quot;/&gt;&lt;property id=&quot;20307&quot; value=&quot;476&quot;/&gt;&lt;/object&gt;&lt;object type=&quot;3&quot; unique_id=&quot;10170&quot;&gt;&lt;property id=&quot;20148&quot; value=&quot;5&quot;/&gt;&lt;property id=&quot;20300&quot; value=&quot;Slide 167&quot;/&gt;&lt;property id=&quot;20307&quot; value=&quot;477&quot;/&gt;&lt;/object&gt;&lt;object type=&quot;3&quot; unique_id=&quot;10171&quot;&gt;&lt;property id=&quot;20148&quot; value=&quot;5&quot;/&gt;&lt;property id=&quot;20300&quot; value=&quot;Slide 169 - &amp;quot;Phân công công việc&amp;quot;&quot;/&gt;&lt;property id=&quot;20307&quot; value=&quot;478&quot;/&gt;&lt;/object&gt;&lt;object type=&quot;3&quot; unique_id=&quot;10172&quot;&gt;&lt;property id=&quot;20148&quot; value=&quot;5&quot;/&gt;&lt;property id=&quot;20300&quot; value=&quot;Slide 170 - &amp;quot;Giải quyết&amp;quot;&quot;/&gt;&lt;property id=&quot;20307&quot; value=&quot;479&quot;/&gt;&lt;/object&gt;&lt;object type=&quot;3&quot; unique_id=&quot;10173&quot;&gt;&lt;property id=&quot;20148&quot; value=&quot;5&quot;/&gt;&lt;property id=&quot;20300&quot; value=&quot;Slide 171&quot;/&gt;&lt;property id=&quot;20307&quot; value=&quot;599&quot;/&gt;&lt;/object&gt;&lt;object type=&quot;3&quot; unique_id=&quot;10174&quot;&gt;&lt;property id=&quot;20148&quot; value=&quot;5&quot;/&gt;&lt;property id=&quot;20300&quot; value=&quot;Slide 172&quot;/&gt;&lt;property id=&quot;20307&quot; value=&quot;480&quot;/&gt;&lt;/object&gt;&lt;object type=&quot;3&quot; unique_id=&quot;10175&quot;&gt;&lt;property id=&quot;20148&quot; value=&quot;5&quot;/&gt;&lt;property id=&quot;20300&quot; value=&quot;Slide 173&quot;/&gt;&lt;property id=&quot;20307&quot; value=&quot;481&quot;/&gt;&lt;/object&gt;&lt;object type=&quot;3&quot; unique_id=&quot;10176&quot;&gt;&lt;property id=&quot;20148&quot; value=&quot;5&quot;/&gt;&lt;property id=&quot;20300&quot; value=&quot;Slide 174&quot;/&gt;&lt;property id=&quot;20307&quot; value=&quot;482&quot;/&gt;&lt;/object&gt;&lt;object type=&quot;3&quot; unique_id=&quot;10177&quot;&gt;&lt;property id=&quot;20148&quot; value=&quot;5&quot;/&gt;&lt;property id=&quot;20300&quot; value=&quot;Slide 175&quot;/&gt;&lt;property id=&quot;20307&quot; value=&quot;483&quot;/&gt;&lt;/object&gt;&lt;object type=&quot;3&quot; unique_id=&quot;10178&quot;&gt;&lt;property id=&quot;20148&quot; value=&quot;5&quot;/&gt;&lt;property id=&quot;20300&quot; value=&quot;Slide 176&quot;/&gt;&lt;property id=&quot;20307&quot; value=&quot;484&quot;/&gt;&lt;/object&gt;&lt;object type=&quot;3&quot; unique_id=&quot;10179&quot;&gt;&lt;property id=&quot;20148&quot; value=&quot;5&quot;/&gt;&lt;property id=&quot;20300&quot; value=&quot;Slide 177 - &amp;quot;BIỂU DIỄN &amp;amp; XỬ LÝ TRI THỨC&amp;quot;&quot;/&gt;&lt;property id=&quot;20307&quot; value=&quot;600&quot;/&gt;&lt;/object&gt;&lt;object type=&quot;3&quot; unique_id=&quot;10180&quot;&gt;&lt;property id=&quot;20148&quot; value=&quot;5&quot;/&gt;&lt;property id=&quot;20300&quot; value=&quot;Slide 178 - &amp;quot;Nội dung&amp;quot;&quot;/&gt;&lt;property id=&quot;20307&quot; value=&quot;486&quot;/&gt;&lt;/object&gt;&lt;object type=&quot;3&quot; unique_id=&quot;10181&quot;&gt;&lt;property id=&quot;20148&quot; value=&quot;5&quot;/&gt;&lt;property id=&quot;20300&quot; value=&quot;Slide 179 - &amp;quot;Logic mệnh đề&amp;quot;&quot;/&gt;&lt;property id=&quot;20307&quot; value=&quot;487&quot;/&gt;&lt;/object&gt;&lt;object type=&quot;3&quot; unique_id=&quot;10182&quot;&gt;&lt;property id=&quot;20148&quot; value=&quot;5&quot;/&gt;&lt;property id=&quot;20300&quot; value=&quot;Slide 180 - &amp;quot;Bảng chân trị của các phép toán mệnh đề&amp;quot;&quot;/&gt;&lt;property id=&quot;20307&quot; value=&quot;488&quot;/&gt;&lt;/object&gt;&lt;object type=&quot;3&quot; unique_id=&quot;10183&quot;&gt;&lt;property id=&quot;20148&quot; value=&quot;5&quot;/&gt;&lt;property id=&quot;20300&quot; value=&quot;Slide 181 - &amp;quot;Các qui luật logic cơ bản&amp;quot;&quot;/&gt;&lt;property id=&quot;20307&quot; value=&quot;489&quot;/&gt;&lt;/object&gt;&lt;object type=&quot;3&quot; unique_id=&quot;10184&quot;&gt;&lt;property id=&quot;20148&quot; value=&quot;5&quot;/&gt;&lt;property id=&quot;20300&quot; value=&quot;Slide 182 - &amp;quot;Các tương đương logic&amp;quot;&quot;/&gt;&lt;property id=&quot;20307&quot; value=&quot;490&quot;/&gt;&lt;/object&gt;&lt;object type=&quot;3&quot; unique_id=&quot;10185&quot;&gt;&lt;property id=&quot;20148&quot; value=&quot;5&quot;/&gt;&lt;property id=&quot;20300&quot; value=&quot;Slide 183 - &amp;quot;Hợp giải&amp;quot;&quot;/&gt;&lt;property id=&quot;20307&quot; value=&quot;491&quot;/&gt;&lt;/object&gt;&lt;object type=&quot;3&quot; unique_id=&quot;10186&quot;&gt;&lt;property id=&quot;20148&quot; value=&quot;5&quot;/&gt;&lt;property id=&quot;20300&quot; value=&quot;Slide 184 - &amp;quot;Hợp giải – Khái niệm&amp;quot;&quot;/&gt;&lt;property id=&quot;20307&quot; value=&quot;492&quot;/&gt;&lt;/object&gt;&lt;object type=&quot;3&quot; unique_id=&quot;10187&quot;&gt;&lt;property id=&quot;20148&quot; value=&quot;5&quot;/&gt;&lt;property id=&quot;20300&quot; value=&quot;Slide 185 - &amp;quot;Hợp giải – Khái niệm&amp;quot;&quot;/&gt;&lt;property id=&quot;20307&quot; value=&quot;602&quot;/&gt;&lt;/object&gt;&lt;object type=&quot;3&quot; unique_id=&quot;10188&quot;&gt;&lt;property id=&quot;20148&quot; value=&quot;5&quot;/&gt;&lt;property id=&quot;20300&quot; value=&quot;Slide 186 - &amp;quot;Qui trình INDO&amp;quot;&quot;/&gt;&lt;property id=&quot;20307&quot; value=&quot;601&quot;/&gt;&lt;/object&gt;&lt;object type=&quot;3&quot; unique_id=&quot;10189&quot;&gt;&lt;property id=&quot;20148&quot; value=&quot;5&quot;/&gt;&lt;property id=&quot;20300&quot; value=&quot;Slide 187 - &amp;quot;Qui trình INDO&amp;quot;&quot;/&gt;&lt;property id=&quot;20307&quot; value=&quot;493&quot;/&gt;&lt;/object&gt;&lt;object type=&quot;3&quot; unique_id=&quot;10190&quot;&gt;&lt;property id=&quot;20148&quot; value=&quot;5&quot;/&gt;&lt;property id=&quot;20300&quot; value=&quot;Slide 188 - &amp;quot;Ví dụ về qui trình INDO&amp;quot;&quot;/&gt;&lt;property id=&quot;20307&quot; value=&quot;494&quot;/&gt;&lt;/object&gt;&lt;object type=&quot;3&quot; unique_id=&quot;10191&quot;&gt;&lt;property id=&quot;20148&quot; value=&quot;5&quot;/&gt;&lt;property id=&quot;20300&quot; value=&quot;Slide 189&quot;/&gt;&lt;property id=&quot;20307&quot; value=&quot;495&quot;/&gt;&lt;/object&gt;&lt;object type=&quot;3&quot; unique_id=&quot;10192&quot;&gt;&lt;property id=&quot;20148&quot; value=&quot;5&quot;/&gt;&lt;property id=&quot;20300&quot; value=&quot;Slide 190 - &amp;quot;Hợp giải – Qui tắc&amp;quot;&quot;/&gt;&lt;property id=&quot;20307&quot; value=&quot;496&quot;/&gt;&lt;/object&gt;&lt;object type=&quot;3&quot; unique_id=&quot;10193&quot;&gt;&lt;property id=&quot;20148&quot; value=&quot;5&quot;/&gt;&lt;property id=&quot;20300&quot; value=&quot;Slide 191 - &amp;quot;Hợp giải – Thuật toán&amp;quot;&quot;/&gt;&lt;property id=&quot;20307&quot; value=&quot;497&quot;/&gt;&lt;/object&gt;&lt;object type=&quot;3&quot; unique_id=&quot;10194&quot;&gt;&lt;property id=&quot;20148&quot; value=&quot;5&quot;/&gt;&lt;property id=&quot;20300&quot; value=&quot;Slide 192 - &amp;quot;Thuật toán – Ví dụ 1&amp;quot;&quot;/&gt;&lt;property id=&quot;20307&quot; value=&quot;603&quot;/&gt;&lt;/object&gt;&lt;object type=&quot;3&quot; unique_id=&quot;10195&quot;&gt;&lt;property id=&quot;20148&quot; value=&quot;5&quot;/&gt;&lt;property id=&quot;20300&quot; value=&quot;Slide 193 - &amp;quot;Thuật toán – Ví dụ 1&amp;quot;&quot;/&gt;&lt;property id=&quot;20307&quot; value=&quot;498&quot;/&gt;&lt;/object&gt;&lt;object type=&quot;3&quot; unique_id=&quot;10196&quot;&gt;&lt;property id=&quot;20148&quot; value=&quot;5&quot;/&gt;&lt;property id=&quot;20300&quot; value=&quot;Slide 194 - &amp;quot;Ví dụ 2&amp;quot;&quot;/&gt;&lt;property id=&quot;20307&quot; value=&quot;499&quot;/&gt;&lt;/object&gt;&lt;object type=&quot;3&quot; unique_id=&quot;10197&quot;&gt;&lt;property id=&quot;20148&quot; value=&quot;5&quot;/&gt;&lt;property id=&quot;20300&quot; value=&quot;Slide 195 - &amp;quot;Cây hợp giải&amp;quot;&quot;/&gt;&lt;property id=&quot;20307&quot; value=&quot;500&quot;/&gt;&lt;/object&gt;&lt;object type=&quot;3&quot; unique_id=&quot;10198&quot;&gt;&lt;property id=&quot;20148&quot; value=&quot;5&quot;/&gt;&lt;property id=&quot;20300&quot; value=&quot;Slide 196 - &amp;quot;Bài tập&amp;quot;&quot;/&gt;&lt;property id=&quot;20307&quot; value=&quot;501&quot;/&gt;&lt;/object&gt;&lt;object type=&quot;3&quot; unique_id=&quot;10199&quot;&gt;&lt;property id=&quot;20148&quot; value=&quot;5&quot;/&gt;&lt;property id=&quot;20300&quot; value=&quot;Slide 197 - &amp;quot;Bài tập&amp;quot;&quot;/&gt;&lt;property id=&quot;20307&quot; value=&quot;604&quot;/&gt;&lt;/object&gt;&lt;object type=&quot;3&quot; unique_id=&quot;10200&quot;&gt;&lt;property id=&quot;20148&quot; value=&quot;5&quot;/&gt;&lt;property id=&quot;20300&quot; value=&quot;Slide 198 - &amp;quot;Bài tập&amp;quot;&quot;/&gt;&lt;property id=&quot;20307&quot; value=&quot;502&quot;/&gt;&lt;/object&gt;&lt;object type=&quot;3&quot; unique_id=&quot;10201&quot;&gt;&lt;property id=&quot;20148&quot; value=&quot;5&quot;/&gt;&lt;property id=&quot;20300&quot; value=&quot;Slide 199 - &amp;quot;Hợp giải – Nhận xét&amp;quot;&quot;/&gt;&lt;property id=&quot;20307&quot; value=&quot;503&quot;/&gt;&lt;/object&gt;&lt;object type=&quot;3&quot; unique_id=&quot;10202&quot;&gt;&lt;property id=&quot;20148&quot; value=&quot;5&quot;/&gt;&lt;property id=&quot;20300&quot; value=&quot;Slide 200 - &amp;quot;Hợp giải tuyến tính&amp;quot;&quot;/&gt;&lt;property id=&quot;20307&quot; value=&quot;504&quot;/&gt;&lt;/object&gt;&lt;object type=&quot;3&quot; unique_id=&quot;10203&quot;&gt;&lt;property id=&quot;20148&quot; value=&quot;5&quot;/&gt;&lt;property id=&quot;20300&quot; value=&quot;Slide 201 - &amp;quot;Hợp giải tuyến tính&amp;quot;&quot;/&gt;&lt;property id=&quot;20307&quot; value=&quot;505&quot;/&gt;&lt;/object&gt;&lt;object type=&quot;3&quot; unique_id=&quot;10204&quot;&gt;&lt;property id=&quot;20148&quot; value=&quot;5&quot;/&gt;&lt;property id=&quot;20300&quot; value=&quot;Slide 202 - &amp;quot;HGTT – Ví dụ 1&amp;quot;&quot;/&gt;&lt;property id=&quot;20307&quot; value=&quot;506&quot;/&gt;&lt;/object&gt;&lt;object type=&quot;3&quot; unique_id=&quot;10205&quot;&gt;&lt;property id=&quot;20148&quot; value=&quot;5&quot;/&gt;&lt;property id=&quot;20300&quot; value=&quot;Slide 203 - &amp;quot;HGTT – Ví dụ 2&amp;quot;&quot;/&gt;&lt;property id=&quot;20307&quot; value=&quot;507&quot;/&gt;&lt;/object&gt;&lt;object type=&quot;3&quot; unique_id=&quot;10206&quot;&gt;&lt;property id=&quot;20148&quot; value=&quot;5&quot;/&gt;&lt;property id=&quot;20300&quot; value=&quot;Slide 204 - &amp;quot;HGTT – Ví dụ 2&amp;quot;&quot;/&gt;&lt;property id=&quot;20307&quot; value=&quot;508&quot;/&gt;&lt;/object&gt;&lt;object type=&quot;3&quot; unique_id=&quot;10207&quot;&gt;&lt;property id=&quot;20148&quot; value=&quot;5&quot;/&gt;&lt;property id=&quot;20300&quot; value=&quot;Slide 205 - &amp;quot;Robinson – Heuristic&amp;quot;&quot;/&gt;&lt;property id=&quot;20307&quot; value=&quot;509&quot;/&gt;&lt;/object&gt;&lt;object type=&quot;3&quot; unique_id=&quot;10208&quot;&gt;&lt;property id=&quot;20148&quot; value=&quot;5&quot;/&gt;&lt;property id=&quot;20300&quot; value=&quot;Slide 206 - &amp;quot;Thuật giải Robinson&amp;quot;&quot;/&gt;&lt;property id=&quot;20307&quot; value=&quot;642&quot;/&gt;&lt;/object&gt;&lt;object type=&quot;3&quot; unique_id=&quot;10209&quot;&gt;&lt;property id=&quot;20148&quot; value=&quot;5&quot;/&gt;&lt;property id=&quot;20300&quot; value=&quot;Slide 207 - &amp;quot;Thuật giải Robinson&amp;quot;&quot;/&gt;&lt;property id=&quot;20307&quot; value=&quot;643&quot;/&gt;&lt;/object&gt;&lt;object type=&quot;3&quot; unique_id=&quot;10210&quot;&gt;&lt;property id=&quot;20148&quot; value=&quot;5&quot;/&gt;&lt;property id=&quot;20300&quot; value=&quot;Slide 208 - &amp;quot;Thuật giải Robinson&amp;quot;&quot;/&gt;&lt;property id=&quot;20307&quot; value=&quot;644&quot;/&gt;&lt;/object&gt;&lt;object type=&quot;3&quot; unique_id=&quot;10211&quot;&gt;&lt;property id=&quot;20148&quot; value=&quot;5&quot;/&gt;&lt;property id=&quot;20300&quot; value=&quot;Slide 209 - &amp;quot;Ví dụ&amp;quot;&quot;/&gt;&lt;property id=&quot;20307&quot; value=&quot;510&quot;/&gt;&lt;/object&gt;&lt;object type=&quot;3&quot; unique_id=&quot;10212&quot;&gt;&lt;property id=&quot;20148&quot; value=&quot;5&quot;/&gt;&lt;property id=&quot;20300&quot; value=&quot;Slide 210 - &amp;quot;Bài tập&amp;quot;&quot;/&gt;&lt;property id=&quot;20307&quot; value=&quot;645&quot;/&gt;&lt;/object&gt;&lt;object type=&quot;3&quot; unique_id=&quot;10213&quot;&gt;&lt;property id=&quot;20148&quot; value=&quot;5&quot;/&gt;&lt;property id=&quot;20300&quot; value=&quot;Slide 211 - &amp;quot;Heuristic -  nhược điểm&amp;quot;&quot;/&gt;&lt;property id=&quot;20307&quot; value=&quot;511&quot;/&gt;&lt;/object&gt;&lt;object type=&quot;3&quot; unique_id=&quot;10214&quot;&gt;&lt;property id=&quot;20148&quot; value=&quot;5&quot;/&gt;&lt;property id=&quot;20300&quot; value=&quot;Slide 212 - &amp;quot;Heuristic -  nhược điểm&amp;quot;&quot;/&gt;&lt;property id=&quot;20307&quot; value=&quot;646&quot;/&gt;&lt;/object&gt;&lt;object type=&quot;3&quot; unique_id=&quot;10215&quot;&gt;&lt;property id=&quot;20148&quot; value=&quot;5&quot;/&gt;&lt;property id=&quot;20300&quot; value=&quot;Slide 213 - &amp;quot;Robinson – Heuristic&amp;#x0D;&amp;#x0A;Một số cải tiến&amp;quot;&quot;/&gt;&lt;property id=&quot;20307&quot; value=&quot;513&quot;/&gt;&lt;/object&gt;&lt;object type=&quot;3&quot; unique_id=&quot;10216&quot;&gt;&lt;property id=&quot;20148&quot; value=&quot;5&quot;/&gt;&lt;property id=&quot;20300&quot; value=&quot;Slide 214 - &amp;quot;Thuật giải Vương Hạo (1960)&amp;quot;&quot;/&gt;&lt;property id=&quot;20307&quot; value=&quot;514&quot;/&gt;&lt;/object&gt;&lt;object type=&quot;3&quot; unique_id=&quot;10217&quot;&gt;&lt;property id=&quot;20148&quot; value=&quot;5&quot;/&gt;&lt;property id=&quot;20300&quot; value=&quot;Slide 215 - &amp;quot;Vương Hạo – Phát biểu&amp;quot;&quot;/&gt;&lt;property id=&quot;20307&quot; value=&quot;515&quot;/&gt;&lt;/object&gt;&lt;object type=&quot;3&quot; unique_id=&quot;10218&quot;&gt;&lt;property id=&quot;20148&quot; value=&quot;5&quot;/&gt;&lt;property id=&quot;20300&quot; value=&quot;Slide 216 - &amp;quot;Vương Hạo – Phát biểu&amp;quot;&quot;/&gt;&lt;property id=&quot;20307&quot; value=&quot;641&quot;/&gt;&lt;/object&gt;&lt;object type=&quot;3&quot; unique_id=&quot;10219&quot;&gt;&lt;property id=&quot;20148&quot; value=&quot;5&quot;/&gt;&lt;property id=&quot;20300&quot; value=&quot;Slide 217 - &amp;quot;Vương Hạo – Ví dụ 1&amp;quot;&quot;/&gt;&lt;property id=&quot;20307&quot; value=&quot;516&quot;/&gt;&lt;/object&gt;&lt;object type=&quot;3&quot; unique_id=&quot;10220&quot;&gt;&lt;property id=&quot;20148&quot; value=&quot;5&quot;/&gt;&lt;property id=&quot;20300&quot; value=&quot;Slide 218&quot;/&gt;&lt;property id=&quot;20307&quot; value=&quot;517&quot;/&gt;&lt;/object&gt;&lt;object type=&quot;3&quot; unique_id=&quot;10221&quot;&gt;&lt;property id=&quot;20148&quot; value=&quot;5&quot;/&gt;&lt;property id=&quot;20300&quot; value=&quot;Slide 219 - &amp;quot;Vương Hạo – Nhận xét&amp;quot;&quot;/&gt;&lt;property id=&quot;20307&quot; value=&quot;518&quot;/&gt;&lt;/object&gt;&lt;object type=&quot;3&quot; unique_id=&quot;10222&quot;&gt;&lt;property id=&quot;20148&quot; value=&quot;5&quot;/&gt;&lt;property id=&quot;20300&quot; value=&quot;Slide 220 - &amp;quot;Suy diễn trong logic mệnh đề&amp;quot;&quot;/&gt;&lt;property id=&quot;20307&quot; value=&quot;519&quot;/&gt;&lt;/object&gt;&lt;object type=&quot;3&quot; unique_id=&quot;10223&quot;&gt;&lt;property id=&quot;20148&quot; value=&quot;5&quot;/&gt;&lt;property id=&quot;20300&quot; value=&quot;Slide 221 - &amp;quot;Ví dụ&amp;quot;&quot;/&gt;&lt;property id=&quot;20307&quot; value=&quot;520&quot;/&gt;&lt;/object&gt;&lt;object type=&quot;3&quot; unique_id=&quot;10224&quot;&gt;&lt;property id=&quot;20148&quot; value=&quot;5&quot;/&gt;&lt;property id=&quot;20300&quot; value=&quot;Slide 222&quot;/&gt;&lt;property id=&quot;20307&quot; value=&quot;521&quot;/&gt;&lt;/object&gt;&lt;object type=&quot;3&quot; unique_id=&quot;10225&quot;&gt;&lt;property id=&quot;20148&quot; value=&quot;5&quot;/&gt;&lt;property id=&quot;20300&quot; value=&quot;Slide 223&quot;/&gt;&lt;property id=&quot;20307&quot; value=&quot;522&quot;/&gt;&lt;/object&gt;&lt;object type=&quot;3&quot; unique_id=&quot;10226&quot;&gt;&lt;property id=&quot;20148&quot; value=&quot;5&quot;/&gt;&lt;property id=&quot;20300&quot; value=&quot;Slide 224&quot;/&gt;&lt;property id=&quot;20307&quot; value=&quot;523&quot;/&gt;&lt;/object&gt;&lt;object type=&quot;3&quot; unique_id=&quot;10227&quot;&gt;&lt;property id=&quot;20148&quot; value=&quot;5&quot;/&gt;&lt;property id=&quot;20300&quot; value=&quot;Slide 225&quot;/&gt;&lt;property id=&quot;20307&quot; value=&quot;524&quot;/&gt;&lt;/object&gt;&lt;object type=&quot;3&quot; unique_id=&quot;10228&quot;&gt;&lt;property id=&quot;20148&quot; value=&quot;5&quot;/&gt;&lt;property id=&quot;20300&quot; value=&quot;Slide 226&quot;/&gt;&lt;property id=&quot;20307&quot; value=&quot;525&quot;/&gt;&lt;/object&gt;&lt;object type=&quot;3&quot; unique_id=&quot;10229&quot;&gt;&lt;property id=&quot;20148&quot; value=&quot;5&quot;/&gt;&lt;property id=&quot;20300&quot; value=&quot;Slide 227&quot;/&gt;&lt;property id=&quot;20307&quot; value=&quot;526&quot;/&gt;&lt;/object&gt;&lt;object type=&quot;3&quot; unique_id=&quot;10230&quot;&gt;&lt;property id=&quot;20148&quot; value=&quot;5&quot;/&gt;&lt;property id=&quot;20300&quot; value=&quot;Slide 228 - &amp;quot;Mạng ngữ nghĩa&amp;quot;&quot;/&gt;&lt;property id=&quot;20307&quot; value=&quot;527&quot;/&gt;&lt;/object&gt;&lt;object type=&quot;3&quot; unique_id=&quot;10231&quot;&gt;&lt;property id=&quot;20148&quot; value=&quot;5&quot;/&gt;&lt;property id=&quot;20300&quot; value=&quot;Slide 229 - &amp;quot;Ví dụ về mạng tam giác&amp;quot;&quot;/&gt;&lt;property id=&quot;20307&quot; value=&quot;528&quot;/&gt;&lt;/object&gt;&lt;object type=&quot;3&quot; unique_id=&quot;10232&quot;&gt;&lt;property id=&quot;20148&quot; value=&quot;5&quot;/&gt;&lt;property id=&quot;20300&quot; value=&quot;Slide 230&quot;/&gt;&lt;property id=&quot;20307&quot; value=&quot;529&quot;/&gt;&lt;/object&gt;&lt;object type=&quot;3&quot; unique_id=&quot;10233&quot;&gt;&lt;property id=&quot;20148&quot; value=&quot;5&quot;/&gt;&lt;property id=&quot;20300&quot; value=&quot;Slide 231&quot;/&gt;&lt;property id=&quot;20307&quot; value=&quot;530&quot;/&gt;&lt;/object&gt;&lt;object type=&quot;3&quot; unique_id=&quot;10234&quot;&gt;&lt;property id=&quot;20148&quot; value=&quot;5&quot;/&gt;&lt;property id=&quot;20300&quot; value=&quot;Slide 232 - &amp;quot;Xây dựng mô hình MNN&amp;quot;&quot;/&gt;&lt;property id=&quot;20307&quot; value=&quot;531&quot;/&gt;&lt;/object&gt;&lt;object type=&quot;3&quot; unique_id=&quot;10235&quot;&gt;&lt;property id=&quot;20148&quot; value=&quot;5&quot;/&gt;&lt;property id=&quot;20300&quot; value=&quot;Slide 233&quot;/&gt;&lt;property id=&quot;20307&quot; value=&quot;532&quot;/&gt;&lt;/object&gt;&lt;object type=&quot;3&quot; unique_id=&quot;10236&quot;&gt;&lt;property id=&quot;20148&quot; value=&quot;5&quot;/&gt;&lt;property id=&quot;20300&quot; value=&quot;Slide 234 - &amp;quot;Cơ chế suy diễn MNN&amp;quot;&quot;/&gt;&lt;property id=&quot;20307&quot; value=&quot;533&quot;/&gt;&lt;/object&gt;&lt;object type=&quot;3&quot; unique_id=&quot;10237&quot;&gt;&lt;property id=&quot;20148&quot; value=&quot;5&quot;/&gt;&lt;property id=&quot;20300&quot; value=&quot;Slide 235&quot;/&gt;&lt;property id=&quot;20307&quot; value=&quot;534&quot;/&gt;&lt;/object&gt;&lt;object type=&quot;3&quot; unique_id=&quot;10238&quot;&gt;&lt;property id=&quot;20148&quot; value=&quot;5&quot;/&gt;&lt;property id=&quot;20300&quot; value=&quot;Slide 236 - &amp;quot;MNN – Một số câu hỏi&amp;quot;&quot;/&gt;&lt;property id=&quot;20307&quot; value=&quot;535&quot;/&gt;&lt;/object&gt;&lt;object type=&quot;3&quot; unique_id=&quot;10239&quot;&gt;&lt;property id=&quot;20148&quot; value=&quot;5&quot;/&gt;&lt;property id=&quot;20300&quot; value=&quot;Slide 237 - &amp;quot;PHÂN LỚP VÀ DỰ ĐOÁN&amp;quot;&quot;/&gt;&lt;property id=&quot;20307&quot; value=&quot;605&quot;/&gt;&lt;/object&gt;&lt;object type=&quot;3&quot; unique_id=&quot;10240&quot;&gt;&lt;property id=&quot;20148&quot; value=&quot;5&quot;/&gt;&lt;property id=&quot;20300&quot; value=&quot;Slide 238 - &amp;quot;NỘI DUNG&amp;quot;&quot;/&gt;&lt;property id=&quot;20307&quot; value=&quot;537&quot;/&gt;&lt;/object&gt;&lt;object type=&quot;3&quot; unique_id=&quot;10241&quot;&gt;&lt;property id=&quot;20148&quot; value=&quot;5&quot;/&gt;&lt;property id=&quot;20300&quot; value=&quot;Slide 239 - &amp;quot;Phân lớp là gì?Dự đoán là gì?&amp;quot;&quot;/&gt;&lt;property id=&quot;20307&quot; value=&quot;538&quot;/&gt;&lt;/object&gt;&lt;object type=&quot;3&quot; unique_id=&quot;10242&quot;&gt;&lt;property id=&quot;20148&quot; value=&quot;5&quot;/&gt;&lt;property id=&quot;20300&quot; value=&quot;Slide 240&quot;/&gt;&lt;property id=&quot;20307&quot; value=&quot;539&quot;/&gt;&lt;/object&gt;&lt;object type=&quot;3&quot; unique_id=&quot;10243&quot;&gt;&lt;property id=&quot;20148&quot; value=&quot;5&quot;/&gt;&lt;property id=&quot;20300&quot; value=&quot;Slide 241&quot;/&gt;&lt;property id=&quot;20307&quot; value=&quot;606&quot;/&gt;&lt;/object&gt;&lt;object type=&quot;3&quot; unique_id=&quot;10244&quot;&gt;&lt;property id=&quot;20148&quot; value=&quot;5&quot;/&gt;&lt;property id=&quot;20300&quot; value=&quot;Slide 242&quot;/&gt;&lt;property id=&quot;20307&quot; value=&quot;540&quot;/&gt;&lt;/object&gt;&lt;object type=&quot;3&quot; unique_id=&quot;10245&quot;&gt;&lt;property id=&quot;20148&quot; value=&quot;5&quot;/&gt;&lt;property id=&quot;20300&quot; value=&quot;Slide 243 - &amp;quot;Chuẩn bị dữ liệu&amp;quot;&quot;/&gt;&lt;property id=&quot;20307&quot; value=&quot;541&quot;/&gt;&lt;/object&gt;&lt;object type=&quot;3&quot; unique_id=&quot;10246&quot;&gt;&lt;property id=&quot;20148&quot; value=&quot;5&quot;/&gt;&lt;property id=&quot;20300&quot; value=&quot;Slide 244 - &amp;quot;So sánh các phương pháp phân lớp &amp;quot;&quot;/&gt;&lt;property id=&quot;20307&quot; value=&quot;542&quot;/&gt;&lt;/object&gt;&lt;object type=&quot;3&quot; unique_id=&quot;10247&quot;&gt;&lt;property id=&quot;20148&quot; value=&quot;5&quot;/&gt;&lt;property id=&quot;20300&quot; value=&quot;Slide 245 - &amp;quot;CÂY QUYẾT ĐỊNH&amp;quot;&quot;/&gt;&lt;property id=&quot;20307&quot; value=&quot;543&quot;/&gt;&lt;/object&gt;&lt;object type=&quot;3&quot; unique_id=&quot;10248&quot;&gt;&lt;property id=&quot;20148&quot; value=&quot;5&quot;/&gt;&lt;property id=&quot;20300&quot; value=&quot;Slide 246 - &amp;quot;Cây quyết định&amp;quot;&quot;/&gt;&lt;property id=&quot;20307&quot; value=&quot;544&quot;/&gt;&lt;/object&gt;&lt;object type=&quot;3&quot; unique_id=&quot;10249&quot;&gt;&lt;property id=&quot;20148&quot; value=&quot;5&quot;/&gt;&lt;property id=&quot;20300&quot; value=&quot;Slide 247 - &amp;quot;Ví dụ&amp;quot;&quot;/&gt;&lt;property id=&quot;20307&quot; value=&quot;545&quot;/&gt;&lt;/object&gt;&lt;object type=&quot;3&quot; unique_id=&quot;10250&quot;&gt;&lt;property id=&quot;20148&quot; value=&quot;5&quot;/&gt;&lt;property id=&quot;20300&quot; value=&quot;Slide 248&quot;/&gt;&lt;property id=&quot;20307&quot; value=&quot;608&quot;/&gt;&lt;/object&gt;&lt;object type=&quot;3&quot; unique_id=&quot;10251&quot;&gt;&lt;property id=&quot;20148&quot; value=&quot;5&quot;/&gt;&lt;property id=&quot;20300&quot; value=&quot;Slide 249&quot;/&gt;&lt;property id=&quot;20307&quot; value=&quot;546&quot;/&gt;&lt;/object&gt;&lt;object type=&quot;3&quot; unique_id=&quot;10252&quot;&gt;&lt;property id=&quot;20148&quot; value=&quot;5&quot;/&gt;&lt;property id=&quot;20300&quot; value=&quot;Slide 250 - &amp;quot;Chiến lược cơ bản&amp;quot;&quot;/&gt;&lt;property id=&quot;20307&quot; value=&quot;547&quot;/&gt;&lt;/object&gt;&lt;object type=&quot;3&quot; unique_id=&quot;10253&quot;&gt;&lt;property id=&quot;20148&quot; value=&quot;5&quot;/&gt;&lt;property id=&quot;20300&quot; value=&quot;Slide 251&quot;/&gt;&lt;property id=&quot;20307&quot; value=&quot;548&quot;/&gt;&lt;/object&gt;&lt;object type=&quot;3&quot; unique_id=&quot;10254&quot;&gt;&lt;property id=&quot;20148&quot; value=&quot;5&quot;/&gt;&lt;property id=&quot;20300&quot; value=&quot;Slide 252 - &amp;quot;Bảng dữ liệu huấn luyện&amp;quot;&quot;/&gt;&lt;property id=&quot;20307&quot; value=&quot;549&quot;/&gt;&lt;/object&gt;&lt;object type=&quot;3&quot; unique_id=&quot;10255&quot;&gt;&lt;property id=&quot;20148&quot; value=&quot;5&quot;/&gt;&lt;property id=&quot;20300&quot; value=&quot;Slide 253 - &amp;quot;Cây quyết định chơi Tennis&amp;quot;&quot;/&gt;&lt;property id=&quot;20307&quot; value=&quot;550&quot;/&gt;&lt;/object&gt;&lt;object type=&quot;3&quot; unique_id=&quot;10256&quot;&gt;&lt;property id=&quot;20148&quot; value=&quot;5&quot;/&gt;&lt;property id=&quot;20300&quot; value=&quot;Slide 254 - &amp;quot;Cây quyết định đơn giản&amp;quot;&quot;/&gt;&lt;property id=&quot;20307&quot; value=&quot;551&quot;/&gt;&lt;/object&gt;&lt;object type=&quot;3&quot; unique_id=&quot;10257&quot;&gt;&lt;property id=&quot;20148&quot; value=&quot;5&quot;/&gt;&lt;property id=&quot;20300&quot; value=&quot;Slide 255 - &amp;quot;Thuộc tính nào là tốt nhất &amp;quot;&quot;/&gt;&lt;property id=&quot;20307&quot; value=&quot;552&quot;/&gt;&lt;/object&gt;&lt;object type=&quot;3&quot; unique_id=&quot;10258&quot;&gt;&lt;property id=&quot;20148&quot; value=&quot;5&quot;/&gt;&lt;property id=&quot;20300&quot; value=&quot;Slide 256 - &amp;quot;Độ đo V(Quinlan)&amp;quot;&quot;/&gt;&lt;property id=&quot;20307&quot; value=&quot;609&quot;/&gt;&lt;/object&gt;&lt;object type=&quot;3&quot; unique_id=&quot;10259&quot;&gt;&lt;property id=&quot;20148&quot; value=&quot;5&quot;/&gt;&lt;property id=&quot;20300&quot; value=&quot;Slide 257&quot;/&gt;&lt;property id=&quot;20307&quot; value=&quot;553&quot;/&gt;&lt;/object&gt;&lt;object type=&quot;3&quot; unique_id=&quot;10260&quot;&gt;&lt;property id=&quot;20148&quot; value=&quot;5&quot;/&gt;&lt;property id=&quot;20300&quot; value=&quot;Slide 258 - &amp;quot;Độ đo V&amp;quot;&quot;/&gt;&lt;property id=&quot;20307&quot; value=&quot;554&quot;/&gt;&lt;/object&gt;&lt;object type=&quot;3&quot; unique_id=&quot;10261&quot;&gt;&lt;property id=&quot;20148&quot; value=&quot;5&quot;/&gt;&lt;property id=&quot;20300&quot; value=&quot;Slide 259 - &amp;quot;Cây quyết định cuối cùng&amp;quot;&quot;/&gt;&lt;property id=&quot;20307&quot; value=&quot;555&quot;/&gt;&lt;/object&gt;&lt;object type=&quot;3&quot; unique_id=&quot;10262&quot;&gt;&lt;property id=&quot;20148&quot; value=&quot;5&quot;/&gt;&lt;property id=&quot;20300&quot; value=&quot;Slide 260 - &amp;quot;Entropy&amp;quot;&quot;/&gt;&lt;property id=&quot;20307&quot; value=&quot;556&quot;/&gt;&lt;/object&gt;&lt;object type=&quot;3&quot; unique_id=&quot;10263&quot;&gt;&lt;property id=&quot;20148&quot; value=&quot;5&quot;/&gt;&lt;property id=&quot;20300&quot; value=&quot;Slide 261 - &amp;quot;Ví dụ&amp;quot;&quot;/&gt;&lt;property id=&quot;20307&quot; value=&quot;557&quot;/&gt;&lt;/object&gt;&lt;object type=&quot;3&quot; unique_id=&quot;10264&quot;&gt;&lt;property id=&quot;20148&quot; value=&quot;5&quot;/&gt;&lt;property id=&quot;20300&quot; value=&quot;Slide 262 - &amp;quot;Ví dụ&amp;quot;&quot;/&gt;&lt;property id=&quot;20307&quot; value=&quot;558&quot;/&gt;&lt;/object&gt;&lt;object type=&quot;3&quot; unique_id=&quot;10265&quot;&gt;&lt;property id=&quot;20148&quot; value=&quot;5&quot;/&gt;&lt;property id=&quot;20300&quot; value=&quot;Slide 263 - &amp;quot;INFORMATION GAIN &amp;#x0D;&amp;#x0A;(CÂY ĐỊNH DANH)&amp;quot;&quot;/&gt;&lt;property id=&quot;20307&quot; value=&quot;610&quot;/&gt;&lt;/object&gt;&lt;object type=&quot;3&quot; unique_id=&quot;10266&quot;&gt;&lt;property id=&quot;20148&quot; value=&quot;5&quot;/&gt;&lt;property id=&quot;20300&quot; value=&quot;Slide 264 - &amp;quot;Information Gain &amp;quot;&quot;/&gt;&lt;property id=&quot;20307&quot; value=&quot;559&quot;/&gt;&lt;/object&gt;&lt;object type=&quot;3&quot; unique_id=&quot;10267&quot;&gt;&lt;property id=&quot;20148&quot; value=&quot;5&quot;/&gt;&lt;property id=&quot;20300&quot; value=&quot;Slide 265&quot;/&gt;&lt;property id=&quot;20307&quot; value=&quot;560&quot;/&gt;&lt;/object&gt;&lt;object type=&quot;3&quot; unique_id=&quot;10268&quot;&gt;&lt;property id=&quot;20148&quot; value=&quot;5&quot;/&gt;&lt;property id=&quot;20300&quot; value=&quot;Slide 266&quot;/&gt;&lt;property id=&quot;20307&quot; value=&quot;561&quot;/&gt;&lt;/object&gt;&lt;object type=&quot;3&quot; unique_id=&quot;10269&quot;&gt;&lt;property id=&quot;20148&quot; value=&quot;5&quot;/&gt;&lt;property id=&quot;20300&quot; value=&quot;Slide 267 - &amp;quot;Information Gain của tất cả các thuộc tính &amp;quot;&quot;/&gt;&lt;property id=&quot;20307&quot; value=&quot;562&quot;/&gt;&lt;/object&gt;&lt;object type=&quot;3&quot; unique_id=&quot;10270&quot;&gt;&lt;property id=&quot;20148&quot; value=&quot;5&quot;/&gt;&lt;property id=&quot;20300&quot; value=&quot;Slide 268&quot;/&gt;&lt;property id=&quot;20307&quot; value=&quot;563&quot;/&gt;&lt;/object&gt;&lt;object type=&quot;3&quot; unique_id=&quot;10271&quot;&gt;&lt;property id=&quot;20148&quot; value=&quot;5&quot;/&gt;&lt;property id=&quot;20300&quot; value=&quot;Slide 269&quot;/&gt;&lt;property id=&quot;20307&quot; value=&quot;611&quot;/&gt;&lt;/object&gt;&lt;object type=&quot;3&quot; unique_id=&quot;10272&quot;&gt;&lt;property id=&quot;20148&quot; value=&quot;5&quot;/&gt;&lt;property id=&quot;20300&quot; value=&quot;Slide 270 - &amp;quot;Điều kiện dừng  &amp;quot;&quot;/&gt;&lt;property id=&quot;20307&quot; value=&quot;564&quot;/&gt;&lt;/object&gt;&lt;object type=&quot;3&quot; unique_id=&quot;10273&quot;&gt;&lt;property id=&quot;20148&quot; value=&quot;5&quot;/&gt;&lt;property id=&quot;20300&quot; value=&quot;Slide 271 - &amp;quot;Thuật giải Học Quy nạp &amp;#x0D;&amp;#x0A;(ILA: Inductive Learning Algorithm)&amp;quot;&quot;/&gt;&lt;property id=&quot;20307&quot; value=&quot;613&quot;/&gt;&lt;/object&gt;&lt;object type=&quot;3&quot; unique_id=&quot;10274&quot;&gt;&lt;property id=&quot;20148&quot; value=&quot;5&quot;/&gt;&lt;property id=&quot;20300&quot; value=&quot;Slide 272 - &amp;quot;ILA&amp;quot;&quot;/&gt;&lt;property id=&quot;20307&quot; value=&quot;614&quot;/&gt;&lt;/object&gt;&lt;object type=&quot;3&quot; unique_id=&quot;10275&quot;&gt;&lt;property id=&quot;20148&quot; value=&quot;5&quot;/&gt;&lt;property id=&quot;20300&quot; value=&quot;Slide 273 - &amp;quot;ILA&amp;quot;&quot;/&gt;&lt;property id=&quot;20307&quot; value=&quot;615&quot;/&gt;&lt;/object&gt;&lt;object type=&quot;3&quot; unique_id=&quot;10276&quot;&gt;&lt;property id=&quot;20148&quot; value=&quot;5&quot;/&gt;&lt;property id=&quot;20300&quot; value=&quot;Slide 274 - &amp;quot;ILA&amp;quot;&quot;/&gt;&lt;property id=&quot;20307&quot; value=&quot;616&quot;/&gt;&lt;/object&gt;&lt;object type=&quot;3&quot; unique_id=&quot;10277&quot;&gt;&lt;property id=&quot;20148&quot; value=&quot;5&quot;/&gt;&lt;property id=&quot;20300&quot; value=&quot;Slide 275 - &amp;quot;ILA&amp;quot;&quot;/&gt;&lt;property id=&quot;20307&quot; value=&quot;617&quot;/&gt;&lt;/object&gt;&lt;object type=&quot;3&quot; unique_id=&quot;10278&quot;&gt;&lt;property id=&quot;20148&quot; value=&quot;5&quot;/&gt;&lt;property id=&quot;20300&quot; value=&quot;Slide 276 - &amp;quot;ILA&amp;quot;&quot;/&gt;&lt;property id=&quot;20307&quot; value=&quot;618&quot;/&gt;&lt;/object&gt;&lt;object type=&quot;3&quot; unique_id=&quot;10279&quot;&gt;&lt;property id=&quot;20148&quot; value=&quot;5&quot;/&gt;&lt;property id=&quot;20300&quot; value=&quot;Slide 277 - &amp;quot;ILA&amp;quot;&quot;/&gt;&lt;property id=&quot;20307&quot; value=&quot;619&quot;/&gt;&lt;/object&gt;&lt;object type=&quot;3&quot; unique_id=&quot;10280&quot;&gt;&lt;property id=&quot;20148&quot; value=&quot;5&quot;/&gt;&lt;property id=&quot;20300&quot; value=&quot;Slide 278&quot;/&gt;&lt;property id=&quot;20307&quot; value=&quot;620&quot;/&gt;&lt;/object&gt;&lt;object type=&quot;3&quot; unique_id=&quot;10281&quot;&gt;&lt;property id=&quot;20148&quot; value=&quot;5&quot;/&gt;&lt;property id=&quot;20300&quot; value=&quot;Slide 279&quot;/&gt;&lt;property id=&quot;20307&quot; value=&quot;621&quot;/&gt;&lt;/object&gt;&lt;object type=&quot;3&quot; unique_id=&quot;10282&quot;&gt;&lt;property id=&quot;20148&quot; value=&quot;5&quot;/&gt;&lt;property id=&quot;20300&quot; value=&quot;Slide 280 - &amp;quot;Xét bảng con 1&amp;quot;&quot;/&gt;&lt;property id=&quot;20307&quot; value=&quot;570&quot;/&gt;&lt;/object&gt;&lt;object type=&quot;3&quot; unique_id=&quot;10283&quot;&gt;&lt;property id=&quot;20148&quot; value=&quot;5&quot;/&gt;&lt;property id=&quot;20300&quot; value=&quot;Slide 281&quot;/&gt;&lt;property id=&quot;20307&quot; value=&quot;571&quot;/&gt;&lt;/object&gt;&lt;object type=&quot;3&quot; unique_id=&quot;10284&quot;&gt;&lt;property id=&quot;20148&quot; value=&quot;5&quot;/&gt;&lt;property id=&quot;20300&quot; value=&quot;Slide 282&quot;/&gt;&lt;property id=&quot;20307&quot; value=&quot;572&quot;/&gt;&lt;/object&gt;&lt;object type=&quot;3&quot; unique_id=&quot;10285&quot;&gt;&lt;property id=&quot;20148&quot; value=&quot;5&quot;/&gt;&lt;property id=&quot;20300&quot; value=&quot;Slide 283&quot;/&gt;&lt;property id=&quot;20307&quot; value=&quot;573&quot;/&gt;&lt;/object&gt;&lt;object type=&quot;3&quot; unique_id=&quot;10286&quot;&gt;&lt;property id=&quot;20148&quot; value=&quot;5&quot;/&gt;&lt;property id=&quot;20300&quot; value=&quot;Slide 284&quot;/&gt;&lt;property id=&quot;20307&quot; value=&quot;574&quot;/&gt;&lt;/object&gt;&lt;object type=&quot;3&quot; unique_id=&quot;10287&quot;&gt;&lt;property id=&quot;20148&quot; value=&quot;5&quot;/&gt;&lt;property id=&quot;20300&quot; value=&quot;Slide 285&quot;/&gt;&lt;property id=&quot;20307&quot; value=&quot;575&quot;/&gt;&lt;/object&gt;&lt;object type=&quot;3&quot; unique_id=&quot;19726&quot;&gt;&lt;property id=&quot;20148&quot; value=&quot;5&quot;/&gt;&lt;property id=&quot;20300&quot; value=&quot;Slide 84 - &amp;quot;Tìm kiếm với chi phí đồng nhất&amp;#x0D;&amp;#x0A;(UCS – Uniform Cost Search)&amp;quot;&quot;/&gt;&lt;property id=&quot;20307&quot; value=&quot;673&quot;/&gt;&lt;/object&gt;&lt;object type=&quot;3&quot; unique_id=&quot;19727&quot;&gt;&lt;property id=&quot;20148&quot; value=&quot;5&quot;/&gt;&lt;property id=&quot;20300&quot; value=&quot;Slide 85 - &amp;quot;Hàng đợi ưu tiên&amp;quot;&quot;/&gt;&lt;property id=&quot;20307&quot; value=&quot;674&quot;/&gt;&lt;/object&gt;&lt;object type=&quot;3&quot; unique_id=&quot;19728&quot;&gt;&lt;property id=&quot;20148&quot; value=&quot;5&quot;/&gt;&lt;property id=&quot;20300&quot; value=&quot;Slide 86 - &amp;quot;UCS &amp;quot;&quot;/&gt;&lt;property id=&quot;20307&quot; value=&quot;675&quot;/&gt;&lt;/object&gt;&lt;object type=&quot;3&quot; unique_id=&quot;19729&quot;&gt;&lt;property id=&quot;20148&quot; value=&quot;5&quot;/&gt;&lt;property id=&quot;20300&quot; value=&quot;Slide 87 - &amp;quot;Bắt đầu UCS&amp;quot;&quot;/&gt;&lt;property id=&quot;20307&quot; value=&quot;676&quot;/&gt;&lt;/object&gt;&lt;object type=&quot;3&quot; unique_id=&quot;19730&quot;&gt;&lt;property id=&quot;20148&quot; value=&quot;5&quot;/&gt;&lt;property id=&quot;20300&quot; value=&quot;Slide 88&quot;/&gt;&lt;property id=&quot;20307&quot; value=&quot;677&quot;/&gt;&lt;/object&gt;&lt;object type=&quot;3&quot; unique_id=&quot;19731&quot;&gt;&lt;property id=&quot;20148&quot; value=&quot;5&quot;/&gt;&lt;property id=&quot;20300&quot; value=&quot;Slide 89&quot;/&gt;&lt;property id=&quot;20307&quot; value=&quot;678&quot;/&gt;&lt;/object&gt;&lt;object type=&quot;3&quot; unique_id=&quot;19732&quot;&gt;&lt;property id=&quot;20148&quot; value=&quot;5&quot;/&gt;&lt;property id=&quot;20300&quot; value=&quot;Slide 90&quot;/&gt;&lt;property id=&quot;20307&quot; value=&quot;679&quot;/&gt;&lt;/object&gt;&lt;object type=&quot;3&quot; unique_id=&quot;19733&quot;&gt;&lt;property id=&quot;20148&quot; value=&quot;5&quot;/&gt;&lt;property id=&quot;20300&quot; value=&quot;Slide 91&quot;/&gt;&lt;property id=&quot;20307&quot; value=&quot;680&quot;/&gt;&lt;/object&gt;&lt;object type=&quot;3&quot; unique_id=&quot;19734&quot;&gt;&lt;property id=&quot;20148&quot; value=&quot;5&quot;/&gt;&lt;property id=&quot;20300&quot; value=&quot;Slide 92&quot;/&gt;&lt;property id=&quot;20307&quot; value=&quot;681&quot;/&gt;&lt;/object&gt;&lt;object type=&quot;3&quot; unique_id=&quot;19735&quot;&gt;&lt;property id=&quot;20148&quot; value=&quot;5&quot;/&gt;&lt;property id=&quot;20300&quot; value=&quot;Slide 93&quot;/&gt;&lt;property id=&quot;20307&quot; value=&quot;682&quot;/&gt;&lt;/object&gt;&lt;object type=&quot;3&quot; unique_id=&quot;19736&quot;&gt;&lt;property id=&quot;20148&quot; value=&quot;5&quot;/&gt;&lt;property id=&quot;20300&quot; value=&quot;Slide 94&quot;/&gt;&lt;property id=&quot;20307&quot; value=&quot;683&quot;/&gt;&lt;/object&gt;&lt;object type=&quot;3&quot; unique_id=&quot;19737&quot;&gt;&lt;property id=&quot;20148&quot; value=&quot;5&quot;/&gt;&lt;property id=&quot;20300&quot; value=&quot;Slide 95&quot;/&gt;&lt;property id=&quot;20307&quot; value=&quot;684&quot;/&gt;&lt;/object&gt;&lt;object type=&quot;3&quot; unique_id=&quot;19738&quot;&gt;&lt;property id=&quot;20148&quot; value=&quot;5&quot;/&gt;&lt;property id=&quot;20300&quot; value=&quot;Slide 96&quot;/&gt;&lt;property id=&quot;20307&quot; value=&quot;685&quot;/&gt;&lt;/object&gt;&lt;object type=&quot;3&quot; unique_id=&quot;19739&quot;&gt;&lt;property id=&quot;20148&quot; value=&quot;5&quot;/&gt;&lt;property id=&quot;20300&quot; value=&quot;Slide 97&quot;/&gt;&lt;property id=&quot;20307&quot; value=&quot;686&quot;/&gt;&lt;/object&gt;&lt;object type=&quot;3&quot; unique_id=&quot;19740&quot;&gt;&lt;property id=&quot;20148&quot; value=&quot;5&quot;/&gt;&lt;property id=&quot;20300&quot; value=&quot;Slide 98&quot;/&gt;&lt;property id=&quot;20307&quot; value=&quot;687&quot;/&gt;&lt;/object&gt;&lt;object type=&quot;3&quot; unique_id=&quot;19741&quot;&gt;&lt;property id=&quot;20148&quot; value=&quot;5&quot;/&gt;&lt;property id=&quot;20300&quot; value=&quot;Slide 99&quot;/&gt;&lt;property id=&quot;20307&quot; value=&quot;688&quot;/&gt;&lt;/object&gt;&lt;object type=&quot;3&quot; unique_id=&quot;19742&quot;&gt;&lt;property id=&quot;20148&quot; value=&quot;5&quot;/&gt;&lt;property id=&quot;20300&quot; value=&quot;Slide 100&quot;/&gt;&lt;property id=&quot;20307&quot; value=&quot;689&quot;/&gt;&lt;/object&gt;&lt;object type=&quot;3&quot; unique_id=&quot;19743&quot;&gt;&lt;property id=&quot;20148&quot; value=&quot;5&quot;/&gt;&lt;property id=&quot;20300&quot; value=&quot;Slide 101&quot;/&gt;&lt;property id=&quot;20307&quot; value=&quot;690&quot;/&gt;&lt;/object&gt;&lt;object type=&quot;3&quot; unique_id=&quot;19744&quot;&gt;&lt;property id=&quot;20148&quot; value=&quot;5&quot;/&gt;&lt;property id=&quot;20300&quot; value=&quot;Slide 102&quot;/&gt;&lt;property id=&quot;20307&quot; value=&quot;691&quot;/&gt;&lt;/object&gt;&lt;object type=&quot;3&quot; unique_id=&quot;19745&quot;&gt;&lt;property id=&quot;20148&quot; value=&quot;5&quot;/&gt;&lt;property id=&quot;20300&quot; value=&quot;Slide 103&quot;/&gt;&lt;property id=&quot;20307&quot; value=&quot;692&quot;/&gt;&lt;/object&gt;&lt;object type=&quot;3&quot; unique_id=&quot;19746&quot;&gt;&lt;property id=&quot;20148&quot; value=&quot;5&quot;/&gt;&lt;property id=&quot;20300&quot; value=&quot;Slide 104&quot;/&gt;&lt;property id=&quot;20307&quot; value=&quot;665&quot;/&gt;&lt;/object&gt;&lt;object type=&quot;3&quot; unique_id=&quot;19754&quot;&gt;&lt;property id=&quot;20148&quot; value=&quot;5&quot;/&gt;&lt;property id=&quot;20300&quot; value=&quot;Slide 65 - &amp;quot;Biểu diễn cây tìm kiếm&amp;quot;&quot;/&gt;&lt;property id=&quot;20307&quot; value=&quot;693&quot;/&gt;&lt;/object&gt;&lt;object type=&quot;3&quot; unique_id=&quot;19755&quot;&gt;&lt;property id=&quot;20148&quot; value=&quot;5&quot;/&gt;&lt;property id=&quot;20300&quot; value=&quot;Slide 66&quot;/&gt;&lt;property id=&quot;20307&quot; value=&quot;694&quot;/&gt;&lt;/object&gt;&lt;object type=&quot;3&quot; unique_id=&quot;19756&quot;&gt;&lt;property id=&quot;20148&quot; value=&quot;5&quot;/&gt;&lt;property id=&quot;20300&quot; value=&quot;Slide 67&quot;/&gt;&lt;property id=&quot;20307&quot; value=&quot;695&quot;/&gt;&lt;/object&gt;&lt;object type=&quot;3&quot; unique_id=&quot;19757&quot;&gt;&lt;property id=&quot;20148&quot; value=&quot;5&quot;/&gt;&lt;property id=&quot;20300&quot; value=&quot;Slide 68&quot;/&gt;&lt;property id=&quot;20307&quot; value=&quot;696&quot;/&gt;&lt;/object&gt;&lt;object type=&quot;3&quot; unique_id=&quot;19758&quot;&gt;&lt;property id=&quot;20148&quot; value=&quot;5&quot;/&gt;&lt;property id=&quot;20300&quot; value=&quot;Slide 69&quot;/&gt;&lt;property id=&quot;20307&quot; value=&quot;697&quot;/&gt;&lt;/object&gt;&lt;object type=&quot;3&quot; unique_id=&quot;19759&quot;&gt;&lt;property id=&quot;20148&quot; value=&quot;5&quot;/&gt;&lt;property id=&quot;20300&quot; value=&quot;Slide 70 - &amp;quot;Tìm kiếm theo chiều sâu&amp;quot;&quot;/&gt;&lt;property id=&quot;20307&quot; value=&quot;698&quot;/&gt;&lt;/object&gt;&lt;object type=&quot;3&quot; unique_id=&quot;19760&quot;&gt;&lt;property id=&quot;20148&quot; value=&quot;5&quot;/&gt;&lt;property id=&quot;20300&quot; value=&quot;Slide 71 - &amp;quot;DFS trên thực tế&amp;quot;&quot;/&gt;&lt;property id=&quot;20307&quot; value=&quot;699&quot;/&gt;&lt;/object&gt;&lt;object type=&quot;3&quot; unique_id=&quot;24051&quot;&gt;&lt;property id=&quot;20148&quot; value=&quot;5&quot;/&gt;&lt;property id=&quot;20300&quot; value=&quot;Slide 131 - &amp;quot;Thuật giải A*&amp;quot;&quot;/&gt;&lt;property id=&quot;20307&quot; value=&quot;700&quot;/&gt;&lt;/object&gt;&lt;object type=&quot;3&quot; unique_id=&quot;24052&quot;&gt;&lt;property id=&quot;20148&quot; value=&quot;5&quot;/&gt;&lt;property id=&quot;20300&quot; value=&quot;Slide 132 - &amp;quot;Thuật giải A*&amp;quot;&quot;/&gt;&lt;property id=&quot;20307&quot; value=&quot;701&quot;/&gt;&lt;/object&gt;&lt;object type=&quot;3&quot; unique_id=&quot;24053&quot;&gt;&lt;property id=&quot;20148&quot; value=&quot;5&quot;/&gt;&lt;property id=&quot;20300&quot; value=&quot;Slide 133 - &amp;quot;Thuật giải A*&amp;quot;&quot;/&gt;&lt;property id=&quot;20307&quot; value=&quot;702&quot;/&gt;&lt;/object&gt;&lt;object type=&quot;3&quot; unique_id=&quot;24054&quot;&gt;&lt;property id=&quot;20148&quot; value=&quot;5&quot;/&gt;&lt;property id=&quot;20300&quot; value=&quot;Slide 134 - &amp;quot;Thuật giải A*&amp;quot;&quot;/&gt;&lt;property id=&quot;20307&quot; value=&quot;703&quot;/&gt;&lt;/object&gt;&lt;object type=&quot;3&quot; unique_id=&quot;24055&quot;&gt;&lt;property id=&quot;20148&quot; value=&quot;5&quot;/&gt;&lt;property id=&quot;20300&quot; value=&quot;Slide 135 - &amp;quot;Thuật giải A*&amp;quot;&quot;/&gt;&lt;property id=&quot;20307&quot; value=&quot;704&quot;/&gt;&lt;/object&gt;&lt;object type=&quot;3&quot; unique_id=&quot;24056&quot;&gt;&lt;property id=&quot;20148&quot; value=&quot;5&quot;/&gt;&lt;property id=&quot;20300&quot; value=&quot;Slide 136 - &amp;quot;Thuật giải A*&amp;quot;&quot;/&gt;&lt;property id=&quot;20307&quot; value=&quot;705&quot;/&gt;&lt;/object&gt;&lt;object type=&quot;3&quot; unique_id=&quot;24057&quot;&gt;&lt;property id=&quot;20148&quot; value=&quot;5&quot;/&gt;&lt;property id=&quot;20300&quot; value=&quot;Slide 168 - &amp;quot;Thuật giải MIN – MAX (tt)&amp;quot;&quot;/&gt;&lt;property id=&quot;20307&quot; value=&quot;70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Tahoma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F7EE367E-EAD9-4D02-9200-47A605D584E1}" vid="{898C7E29-52B7-49F4-AD0A-A91050A53545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11086</TotalTime>
  <Words>6440</Words>
  <Application>Microsoft Macintosh PowerPoint</Application>
  <PresentationFormat>Widescreen</PresentationFormat>
  <Paragraphs>609</Paragraphs>
  <Slides>52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MS Mincho</vt:lpstr>
      <vt:lpstr>MS PGothic</vt:lpstr>
      <vt:lpstr>Arial</vt:lpstr>
      <vt:lpstr>Courier New</vt:lpstr>
      <vt:lpstr>Garamond</vt:lpstr>
      <vt:lpstr>Symbol</vt:lpstr>
      <vt:lpstr>Tahoma</vt:lpstr>
      <vt:lpstr>Times New Roman</vt:lpstr>
      <vt:lpstr>Wingdings</vt:lpstr>
      <vt:lpstr>Custom Design</vt:lpstr>
      <vt:lpstr>Theme1</vt:lpstr>
      <vt:lpstr>Equation</vt:lpstr>
      <vt:lpstr>PowerPoint Presentation</vt:lpstr>
      <vt:lpstr>NỘI DUNG</vt:lpstr>
      <vt:lpstr>BIỂU DIỄN &amp; XỬ LÝ TRI THỨC</vt:lpstr>
      <vt:lpstr>Nội dung</vt:lpstr>
      <vt:lpstr>1. Logic mệnh đề</vt:lpstr>
      <vt:lpstr>Các ký hiệu</vt:lpstr>
      <vt:lpstr>Bảng chân trị của các phép toán mệnh đề</vt:lpstr>
      <vt:lpstr>Các qui luật logic cơ bản</vt:lpstr>
      <vt:lpstr>Các tương đương logic</vt:lpstr>
      <vt:lpstr>PowerPoint Presentation</vt:lpstr>
      <vt:lpstr>PowerPoint Presentation</vt:lpstr>
      <vt:lpstr>Hợp giải – Khái niệm</vt:lpstr>
      <vt:lpstr>Qui trình INDO</vt:lpstr>
      <vt:lpstr>Ví dụ về qui trình INDO</vt:lpstr>
      <vt:lpstr>PowerPoint Presentation</vt:lpstr>
      <vt:lpstr>Hợp giải – Qui tắc</vt:lpstr>
      <vt:lpstr>Hợp giải – Thuật toán</vt:lpstr>
      <vt:lpstr>Hợp giải – Ví dụ 1</vt:lpstr>
      <vt:lpstr>Hợp giải – Ví dụ 1 (2)</vt:lpstr>
      <vt:lpstr>Hợp giải – Ví dụ 1 (3)</vt:lpstr>
      <vt:lpstr>Hợp giải - Ví dụ 2</vt:lpstr>
      <vt:lpstr>Hợp giải - Ví dụ 2 (2)</vt:lpstr>
      <vt:lpstr>Bài tập</vt:lpstr>
      <vt:lpstr>PowerPoint Presentation</vt:lpstr>
      <vt:lpstr>PowerPoint Presentation</vt:lpstr>
      <vt:lpstr>Cây hợp giải</vt:lpstr>
      <vt:lpstr>Bài tập: Cây hợp giải</vt:lpstr>
      <vt:lpstr>Hợp giải tuyến tính</vt:lpstr>
      <vt:lpstr>HGTT – Ví dụ 1</vt:lpstr>
      <vt:lpstr>HGTT – Ví dụ 1</vt:lpstr>
      <vt:lpstr>HGTT – Ví dụ 2</vt:lpstr>
      <vt:lpstr>Thuật giải Robinson – Heuristic</vt:lpstr>
      <vt:lpstr>Ví dụ 1</vt:lpstr>
      <vt:lpstr>Ví dụ 2</vt:lpstr>
      <vt:lpstr>Nhược điểm của Robinson–Heuristic</vt:lpstr>
      <vt:lpstr>Thuật giải Vương Hạo (1960)</vt:lpstr>
      <vt:lpstr>Vương Hạo – Ví dụ 1</vt:lpstr>
      <vt:lpstr>PowerPoint Presentation</vt:lpstr>
      <vt:lpstr>2. Suy diễn trong logic mệnh đề</vt:lpstr>
      <vt:lpstr>2. Suy diễn trong logic mệnh đề</vt:lpstr>
      <vt:lpstr>Ví dụ</vt:lpstr>
      <vt:lpstr>Ví dụ</vt:lpstr>
      <vt:lpstr>PowerPoint Presentation</vt:lpstr>
      <vt:lpstr>Suy diễn trong logic mệnh đề</vt:lpstr>
      <vt:lpstr>Ví dụ</vt:lpstr>
      <vt:lpstr>Ví dụ</vt:lpstr>
      <vt:lpstr>PowerPoint Presentation</vt:lpstr>
      <vt:lpstr>Ví dụ về mạng tam giác</vt:lpstr>
      <vt:lpstr>PowerPoint Presentation</vt:lpstr>
      <vt:lpstr>Xây dựng mô hình MNN</vt:lpstr>
      <vt:lpstr>Cơ chế suy diễn MNN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Bay</dc:creator>
  <cp:lastModifiedBy>Tuong Le</cp:lastModifiedBy>
  <cp:revision>854</cp:revision>
  <cp:lastPrinted>2020-12-30T08:29:53Z</cp:lastPrinted>
  <dcterms:created xsi:type="dcterms:W3CDTF">2010-08-06T07:03:24Z</dcterms:created>
  <dcterms:modified xsi:type="dcterms:W3CDTF">2024-12-07T11:48:45Z</dcterms:modified>
</cp:coreProperties>
</file>